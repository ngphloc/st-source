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313" r:id="rId3"/>
    <p:sldId id="314" r:id="rId4"/>
    <p:sldId id="366" r:id="rId5"/>
    <p:sldId id="371" r:id="rId6"/>
    <p:sldId id="372" r:id="rId7"/>
    <p:sldId id="373" r:id="rId8"/>
    <p:sldId id="374" r:id="rId9"/>
    <p:sldId id="375" r:id="rId10"/>
    <p:sldId id="376" r:id="rId11"/>
    <p:sldId id="377" r:id="rId12"/>
    <p:sldId id="378" r:id="rId13"/>
    <p:sldId id="379" r:id="rId14"/>
    <p:sldId id="367" r:id="rId15"/>
    <p:sldId id="380" r:id="rId16"/>
    <p:sldId id="381" r:id="rId17"/>
    <p:sldId id="382" r:id="rId18"/>
    <p:sldId id="383" r:id="rId19"/>
    <p:sldId id="369" r:id="rId20"/>
    <p:sldId id="370" r:id="rId21"/>
    <p:sldId id="31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533" autoAdjust="0"/>
  </p:normalViewPr>
  <p:slideViewPr>
    <p:cSldViewPr snapToGrid="0">
      <p:cViewPr varScale="1">
        <p:scale>
          <a:sx n="68" d="100"/>
          <a:sy n="68" d="100"/>
        </p:scale>
        <p:origin x="816"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A3D5FF-0CEC-49D8-BF8A-0B00BB6525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ADA447-B21B-4FBA-A3C9-575D56E9B3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6B30CB-839A-47A6-9532-260122BEAE9C}" type="datetimeFigureOut">
              <a:rPr lang="en-US" smtClean="0"/>
              <a:t>15/12/2022</a:t>
            </a:fld>
            <a:endParaRPr lang="en-US"/>
          </a:p>
        </p:txBody>
      </p:sp>
      <p:sp>
        <p:nvSpPr>
          <p:cNvPr id="4" name="Footer Placeholder 3">
            <a:extLst>
              <a:ext uri="{FF2B5EF4-FFF2-40B4-BE49-F238E27FC236}">
                <a16:creationId xmlns:a16="http://schemas.microsoft.com/office/drawing/2014/main" id="{003E0C6A-F00E-45DE-9607-30984D6402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8D0529-25A5-4112-9369-21C35E3F78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4DF5EF-899D-4A93-BF6E-10CBE4B2D858}" type="slidenum">
              <a:rPr lang="en-US" smtClean="0"/>
              <a:t>‹#›</a:t>
            </a:fld>
            <a:endParaRPr lang="en-US"/>
          </a:p>
        </p:txBody>
      </p:sp>
    </p:spTree>
    <p:extLst>
      <p:ext uri="{BB962C8B-B14F-4D97-AF65-F5344CB8AC3E}">
        <p14:creationId xmlns:p14="http://schemas.microsoft.com/office/powerpoint/2010/main" val="1489358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6BD8EF-833A-4756-9DE8-262172883D9B}" type="datetimeFigureOut">
              <a:rPr lang="en-US" smtClean="0"/>
              <a:t>15/12/2022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153D4-6007-4D70-A0D5-F421EBC11E1D}" type="slidenum">
              <a:rPr lang="en-US" smtClean="0"/>
              <a:t>‹#›</a:t>
            </a:fld>
            <a:endParaRPr lang="en-US"/>
          </a:p>
        </p:txBody>
      </p:sp>
    </p:spTree>
    <p:extLst>
      <p:ext uri="{BB962C8B-B14F-4D97-AF65-F5344CB8AC3E}">
        <p14:creationId xmlns:p14="http://schemas.microsoft.com/office/powerpoint/2010/main" val="1119136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2pPr>
    <a:lvl3pPr marL="9144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3pPr>
    <a:lvl4pPr marL="13716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4pPr>
    <a:lvl5pPr marL="1828800" algn="l" defTabSz="914400" rtl="0" eaLnBrk="1" latinLnBrk="0" hangingPunct="1">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153D4-6007-4D70-A0D5-F421EBC11E1D}" type="slidenum">
              <a:rPr lang="en-US" smtClean="0"/>
              <a:t>1</a:t>
            </a:fld>
            <a:endParaRPr lang="en-US"/>
          </a:p>
        </p:txBody>
      </p:sp>
    </p:spTree>
    <p:extLst>
      <p:ext uri="{BB962C8B-B14F-4D97-AF65-F5344CB8AC3E}">
        <p14:creationId xmlns:p14="http://schemas.microsoft.com/office/powerpoint/2010/main" val="2446642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3153D4-6007-4D70-A0D5-F421EBC11E1D}" type="slidenum">
              <a:rPr lang="en-US" smtClean="0"/>
              <a:t>14</a:t>
            </a:fld>
            <a:endParaRPr lang="en-US"/>
          </a:p>
        </p:txBody>
      </p:sp>
    </p:spTree>
    <p:extLst>
      <p:ext uri="{BB962C8B-B14F-4D97-AF65-F5344CB8AC3E}">
        <p14:creationId xmlns:p14="http://schemas.microsoft.com/office/powerpoint/2010/main" val="1688659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83153D4-6007-4D70-A0D5-F421EBC11E1D}" type="slidenum">
              <a:rPr lang="en-US" smtClean="0"/>
              <a:t>19</a:t>
            </a:fld>
            <a:endParaRPr lang="en-US"/>
          </a:p>
        </p:txBody>
      </p:sp>
    </p:spTree>
    <p:extLst>
      <p:ext uri="{BB962C8B-B14F-4D97-AF65-F5344CB8AC3E}">
        <p14:creationId xmlns:p14="http://schemas.microsoft.com/office/powerpoint/2010/main" val="364070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83153D4-6007-4D70-A0D5-F421EBC11E1D}" type="slidenum">
              <a:rPr lang="en-US" smtClean="0"/>
              <a:t>21</a:t>
            </a:fld>
            <a:endParaRPr lang="en-US"/>
          </a:p>
        </p:txBody>
      </p:sp>
    </p:spTree>
    <p:extLst>
      <p:ext uri="{BB962C8B-B14F-4D97-AF65-F5344CB8AC3E}">
        <p14:creationId xmlns:p14="http://schemas.microsoft.com/office/powerpoint/2010/main" val="396290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5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4161090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7986"/>
            <a:ext cx="10515600" cy="660486"/>
          </a:xfrm>
        </p:spPr>
        <p:txBody>
          <a:bodyPr/>
          <a:lstStyle>
            <a:lvl1pPr>
              <a:lnSpc>
                <a:spcPct val="100000"/>
              </a:lnSpc>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838200" y="914399"/>
            <a:ext cx="10515600" cy="5176066"/>
          </a:xfrm>
        </p:spPr>
        <p:txBody>
          <a:bodyPr/>
          <a:lstStyle>
            <a:lvl1pPr algn="just">
              <a:lnSpc>
                <a:spcPct val="100000"/>
              </a:lnSpc>
              <a:spcBef>
                <a:spcPts val="0"/>
              </a:spcBef>
              <a:defRPr>
                <a:latin typeface="Times New Roman" panose="02020603050405020304" pitchFamily="18" charset="0"/>
                <a:cs typeface="Times New Roman" panose="02020603050405020304" pitchFamily="18" charset="0"/>
              </a:defRPr>
            </a:lvl1pPr>
            <a:lvl2pPr algn="just">
              <a:lnSpc>
                <a:spcPct val="100000"/>
              </a:lnSpc>
              <a:spcBef>
                <a:spcPts val="0"/>
              </a:spcBef>
              <a:defRPr>
                <a:latin typeface="Times New Roman" panose="02020603050405020304" pitchFamily="18" charset="0"/>
                <a:cs typeface="Times New Roman" panose="02020603050405020304" pitchFamily="18" charset="0"/>
              </a:defRPr>
            </a:lvl2pPr>
            <a:lvl3pPr algn="just">
              <a:lnSpc>
                <a:spcPct val="100000"/>
              </a:lnSpc>
              <a:spcBef>
                <a:spcPts val="0"/>
              </a:spcBef>
              <a:defRPr>
                <a:latin typeface="Times New Roman" panose="02020603050405020304" pitchFamily="18" charset="0"/>
                <a:cs typeface="Times New Roman" panose="02020603050405020304" pitchFamily="18" charset="0"/>
              </a:defRPr>
            </a:lvl3pPr>
            <a:lvl4pPr algn="just">
              <a:lnSpc>
                <a:spcPct val="100000"/>
              </a:lnSpc>
              <a:spcBef>
                <a:spcPts val="0"/>
              </a:spcBef>
              <a:defRPr>
                <a:latin typeface="Times New Roman" panose="02020603050405020304" pitchFamily="18" charset="0"/>
                <a:cs typeface="Times New Roman" panose="02020603050405020304" pitchFamily="18" charset="0"/>
              </a:defRPr>
            </a:lvl4pPr>
            <a:lvl5pPr algn="just">
              <a:lnSpc>
                <a:spcPct val="100000"/>
              </a:lnSpc>
              <a:spcBef>
                <a:spcPts val="0"/>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2872447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2008347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06093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8" name="Footer Placeholder 7"/>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867996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4" name="Footer Placeholder 3"/>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656700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3" name="Footer Placeholder 2"/>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4" name="Slide Number Placeholder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3959342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77249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atin typeface="Times New Roman" panose="02020603050405020304" pitchFamily="18" charset="0"/>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6" name="Footer Placeholder 5"/>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600367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1349822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r>
              <a:rPr lang="en-US"/>
              <a:t>14/12/2022</a:t>
            </a:r>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3453315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16842"/>
            <a:ext cx="10515600" cy="66048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223319"/>
            <a:ext cx="10515600" cy="49536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a:t>14/12/2022</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a:t>Two-step Autoregressive Model - Loc Nguyen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5DB5036F-1FF2-46C4-8D2B-59C7E3B91952}" type="slidenum">
              <a:rPr lang="en-US" smtClean="0"/>
              <a:pPr/>
              <a:t>‹#›</a:t>
            </a:fld>
            <a:endParaRPr lang="en-US"/>
          </a:p>
        </p:txBody>
      </p:sp>
    </p:spTree>
    <p:extLst>
      <p:ext uri="{BB962C8B-B14F-4D97-AF65-F5344CB8AC3E}">
        <p14:creationId xmlns:p14="http://schemas.microsoft.com/office/powerpoint/2010/main" val="487803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35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7287" y="949111"/>
            <a:ext cx="10217426" cy="2387600"/>
          </a:xfrm>
        </p:spPr>
        <p:txBody>
          <a:bodyPr>
            <a:normAutofit/>
          </a:bodyPr>
          <a:lstStyle/>
          <a:p>
            <a:r>
              <a:rPr lang="en-US" sz="4000" b="1" dirty="0"/>
              <a:t>A Proposal of Two-step Autoregressive Model</a:t>
            </a:r>
            <a:endParaRPr lang="en-US" sz="4000" dirty="0"/>
          </a:p>
        </p:txBody>
      </p:sp>
      <p:sp>
        <p:nvSpPr>
          <p:cNvPr id="3" name="Subtitle 2"/>
          <p:cNvSpPr>
            <a:spLocks noGrp="1"/>
          </p:cNvSpPr>
          <p:nvPr>
            <p:ph type="subTitle" idx="1"/>
          </p:nvPr>
        </p:nvSpPr>
        <p:spPr>
          <a:xfrm>
            <a:off x="1524000" y="3534803"/>
            <a:ext cx="9144000" cy="1655762"/>
          </a:xfrm>
        </p:spPr>
        <p:txBody>
          <a:bodyPr>
            <a:normAutofit lnSpcReduction="10000"/>
          </a:bodyPr>
          <a:lstStyle/>
          <a:p>
            <a:r>
              <a:rPr lang="en-US" dirty="0"/>
              <a:t>Prof. Dr. Loc Nguyen PhD, </a:t>
            </a:r>
            <a:r>
              <a:rPr lang="en-US" dirty="0" err="1"/>
              <a:t>PostDoc</a:t>
            </a:r>
            <a:endParaRPr lang="en-US" dirty="0"/>
          </a:p>
          <a:p>
            <a:r>
              <a:rPr lang="en-US" dirty="0"/>
              <a:t>Loc Nguyen’s Academic Network, Vietnam</a:t>
            </a:r>
          </a:p>
          <a:p>
            <a:r>
              <a:rPr lang="en-US" dirty="0"/>
              <a:t>Email: ng_phloc@yahoo.com</a:t>
            </a:r>
          </a:p>
          <a:p>
            <a:r>
              <a:rPr lang="en-US" dirty="0"/>
              <a:t>Homepage: www.locnguyen.net</a:t>
            </a:r>
          </a:p>
          <a:p>
            <a:endParaRPr lang="en-US" dirty="0"/>
          </a:p>
        </p:txBody>
      </p:sp>
      <p:sp>
        <p:nvSpPr>
          <p:cNvPr id="5" name="Footer Placeholder 4"/>
          <p:cNvSpPr>
            <a:spLocks noGrp="1"/>
          </p:cNvSpPr>
          <p:nvPr>
            <p:ph type="ftr" sz="quarter" idx="11"/>
          </p:nvPr>
        </p:nvSpPr>
        <p:spPr/>
        <p:txBody>
          <a:bodyPr/>
          <a:lstStyle/>
          <a:p>
            <a:r>
              <a:rPr lang="en-US"/>
              <a:t>Two-step Autoregressive Model - Loc Nguyen</a:t>
            </a:r>
          </a:p>
        </p:txBody>
      </p:sp>
      <p:sp>
        <p:nvSpPr>
          <p:cNvPr id="6" name="Date Placeholder 5"/>
          <p:cNvSpPr>
            <a:spLocks noGrp="1"/>
          </p:cNvSpPr>
          <p:nvPr>
            <p:ph type="dt" sz="half" idx="10"/>
          </p:nvPr>
        </p:nvSpPr>
        <p:spPr/>
        <p:txBody>
          <a:bodyPr/>
          <a:lstStyle/>
          <a:p>
            <a:r>
              <a:rPr lang="en-US"/>
              <a:t>14/12/2022</a:t>
            </a:r>
          </a:p>
        </p:txBody>
      </p:sp>
      <p:sp>
        <p:nvSpPr>
          <p:cNvPr id="7" name="Slide Number Placeholder 6"/>
          <p:cNvSpPr>
            <a:spLocks noGrp="1"/>
          </p:cNvSpPr>
          <p:nvPr>
            <p:ph type="sldNum" sz="quarter" idx="12"/>
          </p:nvPr>
        </p:nvSpPr>
        <p:spPr/>
        <p:txBody>
          <a:bodyPr/>
          <a:lstStyle/>
          <a:p>
            <a:fld id="{5DB5036F-1FF2-46C4-8D2B-59C7E3B91952}" type="slidenum">
              <a:rPr lang="en-US" smtClean="0"/>
              <a:pPr/>
              <a:t>1</a:t>
            </a:fld>
            <a:endParaRPr lang="en-US"/>
          </a:p>
        </p:txBody>
      </p:sp>
    </p:spTree>
    <p:extLst>
      <p:ext uri="{BB962C8B-B14F-4D97-AF65-F5344CB8AC3E}">
        <p14:creationId xmlns:p14="http://schemas.microsoft.com/office/powerpoint/2010/main" val="646808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p:txBody>
          <a:bodyPr>
            <a:noAutofit/>
          </a:bodyPr>
          <a:lstStyle/>
          <a:p>
            <a:pPr marL="0" indent="0">
              <a:buNone/>
            </a:pPr>
            <a:r>
              <a:rPr lang="en-US" sz="3000" dirty="0">
                <a:effectLst/>
                <a:latin typeface="Times New Roman" panose="02020603050405020304" pitchFamily="18" charset="0"/>
                <a:ea typeface="Calibri" panose="020F0502020204030204" pitchFamily="34" charset="0"/>
              </a:rPr>
              <a:t>Autoregressive (AR) model and conditional autoregressive (CAR) model are specific regressive models in which independent variables and dependent variable imply the same object. They are powerful statistical tools to predict values based on correlation of time domain and space domain, which are useful in epidemiology analysis. In this research, I combine them by the simple way in which AR and CAR is estimated in two separate steps so as to cover time domain and space domain in spatial-temporal data analysis. Moreover, I integrate logistic model into CAR model, which aims to improve competence of autoregressive models.</a:t>
            </a:r>
            <a:endParaRPr lang="en-US" sz="3000" dirty="0"/>
          </a:p>
        </p:txBody>
      </p:sp>
      <p:sp>
        <p:nvSpPr>
          <p:cNvPr id="4" name="Slide Number Placeholder 3"/>
          <p:cNvSpPr>
            <a:spLocks noGrp="1"/>
          </p:cNvSpPr>
          <p:nvPr>
            <p:ph type="sldNum" sz="quarter" idx="12"/>
          </p:nvPr>
        </p:nvSpPr>
        <p:spPr/>
        <p:txBody>
          <a:bodyPr/>
          <a:lstStyle/>
          <a:p>
            <a:fld id="{5DB5036F-1FF2-46C4-8D2B-59C7E3B91952}" type="slidenum">
              <a:rPr lang="en-US" smtClean="0"/>
              <a:pPr/>
              <a:t>2</a:t>
            </a:fld>
            <a:endParaRPr lang="en-US"/>
          </a:p>
        </p:txBody>
      </p:sp>
      <p:sp>
        <p:nvSpPr>
          <p:cNvPr id="5" name="Footer Placeholder 4"/>
          <p:cNvSpPr>
            <a:spLocks noGrp="1"/>
          </p:cNvSpPr>
          <p:nvPr>
            <p:ph type="ftr" sz="quarter" idx="11"/>
          </p:nvPr>
        </p:nvSpPr>
        <p:spPr/>
        <p:txBody>
          <a:bodyPr/>
          <a:lstStyle/>
          <a:p>
            <a:r>
              <a:rPr lang="en-US"/>
              <a:t>Two-step Autoregressive Model - Loc Nguyen</a:t>
            </a:r>
          </a:p>
        </p:txBody>
      </p:sp>
      <p:sp>
        <p:nvSpPr>
          <p:cNvPr id="6" name="Date Placeholder 5"/>
          <p:cNvSpPr>
            <a:spLocks noGrp="1"/>
          </p:cNvSpPr>
          <p:nvPr>
            <p:ph type="dt" sz="half" idx="10"/>
          </p:nvPr>
        </p:nvSpPr>
        <p:spPr/>
        <p:txBody>
          <a:bodyPr/>
          <a:lstStyle/>
          <a:p>
            <a:r>
              <a:rPr lang="en-US"/>
              <a:t>14/12/2022</a:t>
            </a:r>
          </a:p>
        </p:txBody>
      </p:sp>
    </p:spTree>
    <p:extLst>
      <p:ext uri="{BB962C8B-B14F-4D97-AF65-F5344CB8AC3E}">
        <p14:creationId xmlns:p14="http://schemas.microsoft.com/office/powerpoint/2010/main" val="2953120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Table of contents</a:t>
            </a:r>
          </a:p>
        </p:txBody>
      </p:sp>
      <p:sp>
        <p:nvSpPr>
          <p:cNvPr id="3" name="Content Placeholder 2"/>
          <p:cNvSpPr>
            <a:spLocks noGrp="1"/>
          </p:cNvSpPr>
          <p:nvPr>
            <p:ph idx="1"/>
          </p:nvPr>
        </p:nvSpPr>
        <p:spPr/>
        <p:txBody>
          <a:bodyPr/>
          <a:lstStyle/>
          <a:p>
            <a:pPr marL="457200" indent="-457200">
              <a:buFont typeface="+mj-lt"/>
              <a:buAutoNum type="arabicPeriod"/>
            </a:pPr>
            <a:r>
              <a:rPr lang="en-US" dirty="0"/>
              <a:t>Two-step autoregressive model</a:t>
            </a:r>
          </a:p>
          <a:p>
            <a:pPr marL="457200" indent="-457200">
              <a:buFont typeface="+mj-lt"/>
              <a:buAutoNum type="arabicPeriod"/>
            </a:pPr>
            <a:r>
              <a:rPr lang="en-US" dirty="0"/>
              <a:t>Integrated with logistic function</a:t>
            </a:r>
          </a:p>
          <a:p>
            <a:pPr marL="457200" indent="-457200">
              <a:buFont typeface="+mj-lt"/>
              <a:buAutoNum type="arabicPeriod"/>
            </a:pPr>
            <a:r>
              <a:rPr lang="en-US" dirty="0"/>
              <a:t>Conclusions</a:t>
            </a:r>
          </a:p>
        </p:txBody>
      </p:sp>
      <p:sp>
        <p:nvSpPr>
          <p:cNvPr id="4" name="Slide Number Placeholder 3"/>
          <p:cNvSpPr>
            <a:spLocks noGrp="1"/>
          </p:cNvSpPr>
          <p:nvPr>
            <p:ph type="sldNum" sz="quarter" idx="12"/>
          </p:nvPr>
        </p:nvSpPr>
        <p:spPr/>
        <p:txBody>
          <a:bodyPr/>
          <a:lstStyle/>
          <a:p>
            <a:fld id="{5DB5036F-1FF2-46C4-8D2B-59C7E3B91952}" type="slidenum">
              <a:rPr lang="en-US" smtClean="0"/>
              <a:pPr/>
              <a:t>3</a:t>
            </a:fld>
            <a:endParaRPr lang="en-US"/>
          </a:p>
        </p:txBody>
      </p:sp>
      <p:sp>
        <p:nvSpPr>
          <p:cNvPr id="5" name="Footer Placeholder 4"/>
          <p:cNvSpPr>
            <a:spLocks noGrp="1"/>
          </p:cNvSpPr>
          <p:nvPr>
            <p:ph type="ftr" sz="quarter" idx="11"/>
          </p:nvPr>
        </p:nvSpPr>
        <p:spPr/>
        <p:txBody>
          <a:bodyPr/>
          <a:lstStyle/>
          <a:p>
            <a:r>
              <a:rPr lang="en-US"/>
              <a:t>Two-step Autoregressive Model - Loc Nguyen</a:t>
            </a:r>
          </a:p>
        </p:txBody>
      </p:sp>
      <p:sp>
        <p:nvSpPr>
          <p:cNvPr id="6" name="Date Placeholder 5"/>
          <p:cNvSpPr>
            <a:spLocks noGrp="1"/>
          </p:cNvSpPr>
          <p:nvPr>
            <p:ph type="dt" sz="half" idx="10"/>
          </p:nvPr>
        </p:nvSpPr>
        <p:spPr/>
        <p:txBody>
          <a:bodyPr/>
          <a:lstStyle/>
          <a:p>
            <a:r>
              <a:rPr lang="en-US"/>
              <a:t>14/12/2022</a:t>
            </a:r>
          </a:p>
        </p:txBody>
      </p:sp>
    </p:spTree>
    <p:extLst>
      <p:ext uri="{BB962C8B-B14F-4D97-AF65-F5344CB8AC3E}">
        <p14:creationId xmlns:p14="http://schemas.microsoft.com/office/powerpoint/2010/main" val="3112241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Two-step autoregressive model</a:t>
            </a:r>
          </a:p>
        </p:txBody>
      </p:sp>
      <p:sp>
        <p:nvSpPr>
          <p:cNvPr id="3" name="Content Placeholder 2"/>
          <p:cNvSpPr>
            <a:spLocks noGrp="1"/>
          </p:cNvSpPr>
          <p:nvPr>
            <p:ph idx="1"/>
          </p:nvPr>
        </p:nvSpPr>
        <p:spPr>
          <a:xfrm>
            <a:off x="604911" y="914399"/>
            <a:ext cx="10888394" cy="5176066"/>
          </a:xfrm>
        </p:spPr>
        <p:txBody>
          <a:bodyPr>
            <a:noAutofit/>
          </a:bodyPr>
          <a:lstStyle/>
          <a:p>
            <a:pPr marL="0" marR="0" indent="0" algn="just">
              <a:spcBef>
                <a:spcPts val="0"/>
              </a:spcBef>
              <a:spcAft>
                <a:spcPts val="0"/>
              </a:spcAft>
              <a:buNone/>
            </a:pP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Autoregressive (AR) model evaluates new value of a variable based on its old values; in other words, independent variables called regressors and dependent variable called </a:t>
            </a:r>
            <a:r>
              <a:rPr lang="en-US" sz="2100" dirty="0" err="1">
                <a:effectLst/>
                <a:latin typeface="Times New Roman" panose="02020603050405020304" pitchFamily="18" charset="0"/>
                <a:ea typeface="Calibri" panose="020F0502020204030204" pitchFamily="34" charset="0"/>
                <a:cs typeface="Times New Roman" panose="02020603050405020304" pitchFamily="18" charset="0"/>
              </a:rPr>
              <a:t>responsor</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refer to the same concerned object (CO). AR model is often used to predict new values in time series, which is called </a:t>
            </a:r>
            <a:r>
              <a:rPr lang="en-US" sz="2100" i="1" dirty="0">
                <a:effectLst/>
                <a:latin typeface="Times New Roman" panose="02020603050405020304" pitchFamily="18" charset="0"/>
                <a:ea typeface="Calibri" panose="020F0502020204030204" pitchFamily="34" charset="0"/>
                <a:cs typeface="Times New Roman" panose="02020603050405020304" pitchFamily="18" charset="0"/>
              </a:rPr>
              <a:t>temporal autoregressive model</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Conditional autoregressive (CAR) model also follows ideology of AR model where regressors and </a:t>
            </a:r>
            <a:r>
              <a:rPr lang="en-US" sz="2100" dirty="0" err="1">
                <a:effectLst/>
                <a:latin typeface="Times New Roman" panose="02020603050405020304" pitchFamily="18" charset="0"/>
                <a:ea typeface="Calibri" panose="020F0502020204030204" pitchFamily="34" charset="0"/>
                <a:cs typeface="Times New Roman" panose="02020603050405020304" pitchFamily="18" charset="0"/>
              </a:rPr>
              <a:t>responsor</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imply the same CO but CAR model added more values of neighbors of CO. Therefore, CAR model is often used to predict new values in space domain, which is called </a:t>
            </a:r>
            <a:r>
              <a:rPr lang="en-US" sz="2100" i="1" dirty="0">
                <a:effectLst/>
                <a:latin typeface="Times New Roman" panose="02020603050405020304" pitchFamily="18" charset="0"/>
                <a:ea typeface="Calibri" panose="020F0502020204030204" pitchFamily="34" charset="0"/>
                <a:cs typeface="Times New Roman" panose="02020603050405020304" pitchFamily="18" charset="0"/>
              </a:rPr>
              <a:t>spatial autoregressive model</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There are some researches like (Mariella &amp; Tarantino, 2010) to integrate AR model and CAR model but here I combine them consequently by the simple way in which AR and CAR is estimated in two separate processes. In other words, the research uses mainly autoregressive model through two steps:</a:t>
            </a:r>
          </a:p>
          <a:p>
            <a:pPr marL="347472" marR="0" lvl="0" indent="-347472" algn="just">
              <a:spcBef>
                <a:spcPts val="0"/>
              </a:spcBef>
              <a:spcAft>
                <a:spcPts val="0"/>
              </a:spcAft>
              <a:buFont typeface="+mj-lt"/>
              <a:buAutoNum type="arabicPeriod"/>
            </a:pPr>
            <a:r>
              <a:rPr lang="en-US" sz="2100" i="1" dirty="0">
                <a:effectLst/>
                <a:latin typeface="Times New Roman" panose="02020603050405020304" pitchFamily="18" charset="0"/>
                <a:ea typeface="Calibri" panose="020F0502020204030204" pitchFamily="34" charset="0"/>
                <a:cs typeface="Times New Roman" panose="02020603050405020304" pitchFamily="18" charset="0"/>
              </a:rPr>
              <a:t>Step </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1: CAR model known as spatial autoregressive model is estimated to predict </a:t>
            </a:r>
            <a:r>
              <a:rPr lang="en-US" sz="2100" dirty="0" err="1">
                <a:effectLst/>
                <a:latin typeface="Times New Roman" panose="02020603050405020304" pitchFamily="18" charset="0"/>
                <a:ea typeface="Calibri" panose="020F0502020204030204" pitchFamily="34" charset="0"/>
                <a:cs typeface="Times New Roman" panose="02020603050405020304" pitchFamily="18" charset="0"/>
              </a:rPr>
              <a:t>responsor</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based on its neighbors and its environmental features like humidity, precipitation, etc. As a convention, </a:t>
            </a:r>
            <a:r>
              <a:rPr lang="en-US" sz="2100" dirty="0" err="1">
                <a:effectLst/>
                <a:latin typeface="Times New Roman" panose="02020603050405020304" pitchFamily="18" charset="0"/>
                <a:ea typeface="Calibri" panose="020F0502020204030204" pitchFamily="34" charset="0"/>
                <a:cs typeface="Times New Roman" panose="02020603050405020304" pitchFamily="18" charset="0"/>
              </a:rPr>
              <a:t>responsor</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is called case like disease case in epidemiology.</a:t>
            </a:r>
          </a:p>
          <a:p>
            <a:pPr marL="342900" marR="0" lvl="0" indent="-342900" algn="just">
              <a:spcBef>
                <a:spcPts val="0"/>
              </a:spcBef>
              <a:spcAft>
                <a:spcPts val="0"/>
              </a:spcAft>
              <a:buFont typeface="+mj-lt"/>
              <a:buAutoNum type="arabicPeriod"/>
            </a:pPr>
            <a:r>
              <a:rPr lang="en-US" sz="2100" i="1" dirty="0">
                <a:effectLst/>
                <a:latin typeface="Times New Roman" panose="02020603050405020304" pitchFamily="18" charset="0"/>
                <a:ea typeface="Calibri" panose="020F0502020204030204" pitchFamily="34" charset="0"/>
                <a:cs typeface="Times New Roman" panose="02020603050405020304" pitchFamily="18" charset="0"/>
              </a:rPr>
              <a:t>Step</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2: AR model known as temporal autoregressive model is estimated to forecast next case based on current cases.</a:t>
            </a:r>
          </a:p>
          <a:p>
            <a:pPr marL="0" indent="0">
              <a:buNone/>
            </a:pPr>
            <a:endParaRPr lang="en-US" sz="2100" dirty="0"/>
          </a:p>
        </p:txBody>
      </p:sp>
      <p:sp>
        <p:nvSpPr>
          <p:cNvPr id="4" name="Date Placeholder 3"/>
          <p:cNvSpPr>
            <a:spLocks noGrp="1"/>
          </p:cNvSpPr>
          <p:nvPr>
            <p:ph type="dt" sz="half" idx="10"/>
          </p:nvPr>
        </p:nvSpPr>
        <p:spPr/>
        <p:txBody>
          <a:bodyPr/>
          <a:lstStyle/>
          <a:p>
            <a:r>
              <a:rPr lang="en-US"/>
              <a:t>14/12/2022</a:t>
            </a:r>
          </a:p>
        </p:txBody>
      </p:sp>
      <p:sp>
        <p:nvSpPr>
          <p:cNvPr id="5" name="Footer Placeholder 4"/>
          <p:cNvSpPr>
            <a:spLocks noGrp="1"/>
          </p:cNvSpPr>
          <p:nvPr>
            <p:ph type="ftr" sz="quarter" idx="11"/>
          </p:nvPr>
        </p:nvSpPr>
        <p:spPr/>
        <p:txBody>
          <a:bodyPr/>
          <a:lstStyle/>
          <a:p>
            <a:r>
              <a:rPr lang="en-US"/>
              <a:t>Two-step Autoregressive Model - Loc Nguyen</a:t>
            </a:r>
          </a:p>
        </p:txBody>
      </p:sp>
      <p:sp>
        <p:nvSpPr>
          <p:cNvPr id="6" name="Slide Number Placeholder 5"/>
          <p:cNvSpPr>
            <a:spLocks noGrp="1"/>
          </p:cNvSpPr>
          <p:nvPr>
            <p:ph type="sldNum" sz="quarter" idx="12"/>
          </p:nvPr>
        </p:nvSpPr>
        <p:spPr/>
        <p:txBody>
          <a:bodyPr/>
          <a:lstStyle/>
          <a:p>
            <a:fld id="{5DB5036F-1FF2-46C4-8D2B-59C7E3B91952}" type="slidenum">
              <a:rPr lang="en-US" smtClean="0"/>
              <a:pPr/>
              <a:t>4</a:t>
            </a:fld>
            <a:endParaRPr lang="en-US"/>
          </a:p>
        </p:txBody>
      </p:sp>
    </p:spTree>
    <p:extLst>
      <p:ext uri="{BB962C8B-B14F-4D97-AF65-F5344CB8AC3E}">
        <p14:creationId xmlns:p14="http://schemas.microsoft.com/office/powerpoint/2010/main" val="223761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3F2B-B758-95CB-DBCB-60365E4AA30E}"/>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9394AF-55B1-E3BD-6528-F5459D0F1B62}"/>
                  </a:ext>
                </a:extLst>
              </p:cNvPr>
              <p:cNvSpPr>
                <a:spLocks noGrp="1"/>
              </p:cNvSpPr>
              <p:nvPr>
                <p:ph idx="1"/>
              </p:nvPr>
            </p:nvSpPr>
            <p:spPr>
              <a:xfrm>
                <a:off x="337625" y="914399"/>
                <a:ext cx="11451101" cy="5176066"/>
              </a:xfrm>
            </p:spPr>
            <p:txBody>
              <a:bodyPr>
                <a:noAutofit/>
              </a:bodyPr>
              <a:lstStyle/>
              <a:p>
                <a:pPr marL="0" indent="0">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Let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{1, 2,…,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be spatial domain and so each site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can correspond to an area. Let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nb</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be set of neighbor sites of site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Let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sk</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be the vector of environmental features at site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so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sj</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is the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j</a:t>
                </a:r>
                <a:r>
                  <a:rPr lang="en-US" sz="2000" baseline="30000" dirty="0" err="1">
                    <a:effectLst/>
                    <a:latin typeface="Times New Roman" panose="02020603050405020304" pitchFamily="18" charset="0"/>
                    <a:ea typeface="Calibri" panose="020F0502020204030204" pitchFamily="34" charset="0"/>
                    <a:cs typeface="Times New Roman" panose="02020603050405020304" pitchFamily="18" charset="0"/>
                  </a:rPr>
                  <a:t>th</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environmental feature at site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Let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be the outcome number of cases at site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If time is concerned,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are replaced by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respectively. Suppose the time interval is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2, this research firstly uses spatial autoregressive model to estimate the number of cases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current timepoint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Later on, the research uses temporal autoregressive model to forecast the future number of cases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timepoint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+1 based on current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Therefore, the computational model of the research is called the two-step autoregressive model.</a:t>
                </a:r>
              </a:p>
              <a:p>
                <a:pPr marL="0" indent="347472">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first step, spatial autoregressive model is estimated. Given current timepoint, we have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When building up spatial autoregressive model, we ignore timepoints in dataset. Because the number of cases is moved around an average number, Poisson distribution is more suitable to build spatial autoregressive model. However, for simplicity, I use normal distribution for spatial autoregressive model. Let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W</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be the symmetric weighted adjacency matrix (Mariella &amp; Tarantino, 2010, p. 227):</a:t>
                </a:r>
              </a:p>
              <a:p>
                <a:pPr marL="0" indent="0">
                  <a:buNone/>
                </a:pPr>
                <a14:m>
                  <m:oMathPara xmlns:m="http://schemas.openxmlformats.org/officeDocument/2006/math">
                    <m:oMathParaPr>
                      <m:jc m:val="right"/>
                    </m:oMathParaPr>
                    <m:oMath xmlns:m="http://schemas.openxmlformats.org/officeDocument/2006/math">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𝑊</m:t>
                      </m:r>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2000" i="1">
                              <a:effectLst/>
                              <a:latin typeface="Cambria Math" panose="02040503050406030204" pitchFamily="18" charset="0"/>
                            </a:rPr>
                          </m:ctrlPr>
                        </m:dPr>
                        <m:e>
                          <m:sSub>
                            <m:sSubPr>
                              <m:ctrlPr>
                                <a:rPr lang="en-US" sz="2000" i="1">
                                  <a:effectLst/>
                                  <a:latin typeface="Cambria Math" panose="020405030504060302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00" i="1">
                                      <a:effectLst/>
                                      <a:latin typeface="Cambria Math" panose="020405030504060302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r>
                        <a:rPr lang="en-US" sz="2000" i="1">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000">
                          <a:effectLst/>
                          <a:latin typeface="Cambria Math" panose="02040503050406030204" pitchFamily="18" charset="0"/>
                          <a:ea typeface="SimSun" panose="02010600030101010101" pitchFamily="2" charset="-122"/>
                          <a:cs typeface="Times New Roman" panose="02020603050405020304" pitchFamily="18" charset="0"/>
                        </a:rPr>
                        <m:t>where</m:t>
                      </m:r>
                      <m:r>
                        <a:rPr lang="en-US" sz="2000" i="1">
                          <a:effectLst/>
                          <a:latin typeface="Cambria Math" panose="02040503050406030204" pitchFamily="18" charset="0"/>
                          <a:ea typeface="SimSun" panose="02010600030101010101" pitchFamily="2" charset="-122"/>
                          <a:cs typeface="Times New Roman" panose="02020603050405020304" pitchFamily="18" charset="0"/>
                        </a:rPr>
                        <m:t> </m:t>
                      </m:r>
                      <m:sSub>
                        <m:sSubPr>
                          <m:ctrlPr>
                            <a:rPr lang="en-US" sz="2000" i="1">
                              <a:effectLst/>
                              <a:latin typeface="Cambria Math" panose="020405030504060302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00" i="1">
                                  <a:effectLst/>
                                  <a:latin typeface="Cambria Math" panose="020405030504060302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2000" i="1">
                              <a:effectLst/>
                              <a:latin typeface="Cambria Math" panose="02040503050406030204" pitchFamily="18" charset="0"/>
                            </a:rPr>
                          </m:ctrlPr>
                        </m:dPr>
                        <m:e>
                          <m:m>
                            <m:mPr>
                              <m:mcs>
                                <m:mc>
                                  <m:mcPr>
                                    <m:count m:val="1"/>
                                    <m:mcJc m:val="center"/>
                                  </m:mcPr>
                                </m:mc>
                              </m:mcs>
                              <m:ctrlPr>
                                <a:rPr lang="en-US" sz="2000" i="1">
                                  <a:effectLst/>
                                  <a:latin typeface="Cambria Math" panose="02040503050406030204" pitchFamily="18" charset="0"/>
                                </a:rPr>
                              </m:ctrlPr>
                            </m:mPr>
                            <m:mr>
                              <m:e>
                                <m:r>
                                  <a:rPr lang="en-US" sz="2000" i="1">
                                    <a:effectLst/>
                                    <a:latin typeface="Cambria Math" panose="02040503050406030204" pitchFamily="18" charset="0"/>
                                    <a:ea typeface="Calibri" panose="020F0502020204030204" pitchFamily="34" charset="0"/>
                                    <a:cs typeface="Times New Roman" panose="02020603050405020304" pitchFamily="18" charset="0"/>
                                  </a:rPr>
                                  <m:t>0 </m:t>
                                </m:r>
                                <m:r>
                                  <m:rPr>
                                    <m:sty m:val="p"/>
                                  </m:rPr>
                                  <a:rPr lang="en-US" sz="2000">
                                    <a:effectLst/>
                                    <a:latin typeface="Cambria Math" panose="02040503050406030204" pitchFamily="18" charset="0"/>
                                    <a:ea typeface="Calibri" panose="020F0502020204030204" pitchFamily="34" charset="0"/>
                                    <a:cs typeface="Times New Roman" panose="02020603050405020304" pitchFamily="18" charset="0"/>
                                  </a:rPr>
                                  <m:t>if</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sSup>
                                  <m:sSupPr>
                                    <m:ctrlPr>
                                      <a:rPr lang="en-US" sz="2000" i="1">
                                        <a:effectLst/>
                                        <a:latin typeface="Cambria Math" panose="020405030504060302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mr>
                            <m:mr>
                              <m:e>
                                <m:r>
                                  <a:rPr lang="en-US" sz="2000" i="1">
                                    <a:effectLst/>
                                    <a:latin typeface="Cambria Math" panose="02040503050406030204" pitchFamily="18" charset="0"/>
                                    <a:ea typeface="Calibri" panose="020F0502020204030204" pitchFamily="34" charset="0"/>
                                    <a:cs typeface="Times New Roman" panose="02020603050405020304" pitchFamily="18" charset="0"/>
                                  </a:rPr>
                                  <m:t>𝜑</m:t>
                                </m:r>
                                <m:d>
                                  <m:dPr>
                                    <m:ctrlPr>
                                      <a:rPr lang="en-US" sz="2000" i="1">
                                        <a:effectLst/>
                                        <a:latin typeface="Cambria Math" panose="020405030504060302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000" i="1">
                                            <a:effectLst/>
                                            <a:latin typeface="Cambria Math" panose="020405030504060302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e>
                                </m:d>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2000">
                                    <a:effectLst/>
                                    <a:latin typeface="Cambria Math" panose="02040503050406030204" pitchFamily="18" charset="0"/>
                                    <a:ea typeface="Calibri" panose="020F0502020204030204" pitchFamily="34" charset="0"/>
                                    <a:cs typeface="Times New Roman" panose="02020603050405020304" pitchFamily="18" charset="0"/>
                                  </a:rPr>
                                  <m:t>if</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sSup>
                                  <m:sSupPr>
                                    <m:ctrlPr>
                                      <a:rPr lang="en-US" sz="2000" i="1">
                                        <a:effectLst/>
                                        <a:latin typeface="Cambria Math" panose="020405030504060302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2000" i="1">
                                        <a:effectLst/>
                                        <a:latin typeface="Cambria Math" panose="020405030504060302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d>
                              </m:e>
                            </m:mr>
                            <m:mr>
                              <m:e>
                                <m:r>
                                  <a:rPr lang="en-US" sz="2000" i="1">
                                    <a:effectLst/>
                                    <a:latin typeface="Cambria Math" panose="02040503050406030204" pitchFamily="18" charset="0"/>
                                    <a:ea typeface="Calibri" panose="020F0502020204030204" pitchFamily="34" charset="0"/>
                                    <a:cs typeface="Times New Roman" panose="02020603050405020304" pitchFamily="18" charset="0"/>
                                  </a:rPr>
                                  <m:t>0 </m:t>
                                </m:r>
                                <m:r>
                                  <m:rPr>
                                    <m:sty m:val="p"/>
                                  </m:rPr>
                                  <a:rPr lang="en-US" sz="2000">
                                    <a:effectLst/>
                                    <a:latin typeface="Cambria Math" panose="02040503050406030204" pitchFamily="18" charset="0"/>
                                    <a:ea typeface="Calibri" panose="020F0502020204030204" pitchFamily="34" charset="0"/>
                                    <a:cs typeface="Times New Roman" panose="02020603050405020304" pitchFamily="18" charset="0"/>
                                  </a:rPr>
                                  <m:t>otherwise</m:t>
                                </m:r>
                              </m:e>
                            </m:mr>
                          </m:m>
                        </m:e>
                      </m:d>
                      <m:r>
                        <a:rPr lang="en-US" sz="2000" b="0" i="1" smtClean="0">
                          <a:effectLst/>
                          <a:latin typeface="Cambria Math" panose="02040503050406030204" pitchFamily="18" charset="0"/>
                          <a:ea typeface="Calibri" panose="020F0502020204030204" pitchFamily="34" charset="0"/>
                          <a:cs typeface="Times New Roman" panose="02020603050405020304" pitchFamily="18" charset="0"/>
                        </a:rPr>
                        <m:t>    (1.1)</m:t>
                      </m:r>
                    </m:oMath>
                  </m:oMathPara>
                </a14:m>
                <a:endParaRPr lang="en-US" sz="2000" dirty="0"/>
              </a:p>
              <a:p>
                <a:pPr marL="0" indent="0">
                  <a:buNone/>
                </a:pPr>
                <a:r>
                  <a:rPr lang="en-US" sz="2000" dirty="0">
                    <a:effectLst/>
                    <a:latin typeface="Times New Roman" panose="02020603050405020304" pitchFamily="18" charset="0"/>
                    <a:ea typeface="Calibri" panose="020F0502020204030204" pitchFamily="34" charset="0"/>
                  </a:rPr>
                  <a:t>Where </a:t>
                </a:r>
                <a:r>
                  <a:rPr lang="en-US" sz="2000" i="1" dirty="0">
                    <a:effectLst/>
                    <a:latin typeface="Times New Roman" panose="02020603050405020304" pitchFamily="18" charset="0"/>
                    <a:ea typeface="Calibri" panose="020F0502020204030204" pitchFamily="34" charset="0"/>
                  </a:rPr>
                  <a:t>φ</a:t>
                </a:r>
                <a:r>
                  <a:rPr lang="en-US" sz="2000" dirty="0">
                    <a:effectLst/>
                    <a:latin typeface="Times New Roman" panose="02020603050405020304" pitchFamily="18" charset="0"/>
                    <a:ea typeface="Calibri" panose="020F0502020204030204" pitchFamily="34" charset="0"/>
                  </a:rPr>
                  <a:t>(</a:t>
                </a:r>
                <a:r>
                  <a:rPr lang="en-US" sz="2000" i="1" dirty="0">
                    <a:effectLst/>
                    <a:latin typeface="Times New Roman" panose="02020603050405020304" pitchFamily="18" charset="0"/>
                    <a:ea typeface="Calibri" panose="020F0502020204030204" pitchFamily="34" charset="0"/>
                  </a:rPr>
                  <a:t>s</a:t>
                </a:r>
                <a:r>
                  <a:rPr lang="en-US" sz="2000" dirty="0">
                    <a:effectLst/>
                    <a:latin typeface="Times New Roman" panose="02020603050405020304" pitchFamily="18" charset="0"/>
                    <a:ea typeface="Calibri" panose="020F0502020204030204" pitchFamily="34" charset="0"/>
                  </a:rPr>
                  <a:t>, </a:t>
                </a:r>
                <a:r>
                  <a:rPr lang="en-US" sz="2000" i="1" dirty="0">
                    <a:effectLst/>
                    <a:latin typeface="Times New Roman" panose="02020603050405020304" pitchFamily="18" charset="0"/>
                    <a:ea typeface="Calibri" panose="020F0502020204030204" pitchFamily="34" charset="0"/>
                  </a:rPr>
                  <a:t>s</a:t>
                </a:r>
                <a:r>
                  <a:rPr lang="en-US" sz="2000" baseline="30000" dirty="0">
                    <a:effectLst/>
                    <a:latin typeface="Times New Roman" panose="02020603050405020304" pitchFamily="18" charset="0"/>
                    <a:ea typeface="Calibri" panose="020F0502020204030204" pitchFamily="34" charset="0"/>
                  </a:rPr>
                  <a:t>*</a:t>
                </a:r>
                <a:r>
                  <a:rPr lang="en-US" sz="2000" dirty="0">
                    <a:effectLst/>
                    <a:latin typeface="Times New Roman" panose="02020603050405020304" pitchFamily="18" charset="0"/>
                    <a:ea typeface="Calibri" panose="020F0502020204030204" pitchFamily="34" charset="0"/>
                  </a:rPr>
                  <a:t>) measures the approximation of site </a:t>
                </a:r>
                <a:r>
                  <a:rPr lang="en-US" sz="2000" i="1" dirty="0">
                    <a:effectLst/>
                    <a:latin typeface="Times New Roman" panose="02020603050405020304" pitchFamily="18" charset="0"/>
                    <a:ea typeface="Calibri" panose="020F0502020204030204" pitchFamily="34" charset="0"/>
                  </a:rPr>
                  <a:t>s</a:t>
                </a:r>
                <a:r>
                  <a:rPr lang="en-US" sz="2000" dirty="0">
                    <a:effectLst/>
                    <a:latin typeface="Times New Roman" panose="02020603050405020304" pitchFamily="18" charset="0"/>
                    <a:ea typeface="Calibri" panose="020F0502020204030204" pitchFamily="34" charset="0"/>
                  </a:rPr>
                  <a:t> and site </a:t>
                </a:r>
                <a:r>
                  <a:rPr lang="en-US" sz="2000" i="1" dirty="0">
                    <a:effectLst/>
                    <a:latin typeface="Times New Roman" panose="02020603050405020304" pitchFamily="18" charset="0"/>
                    <a:ea typeface="Calibri" panose="020F0502020204030204" pitchFamily="34" charset="0"/>
                  </a:rPr>
                  <a:t>s</a:t>
                </a:r>
                <a:r>
                  <a:rPr lang="en-US" sz="2000" baseline="30000" dirty="0">
                    <a:effectLst/>
                    <a:latin typeface="Times New Roman" panose="02020603050405020304" pitchFamily="18" charset="0"/>
                    <a:ea typeface="Calibri" panose="020F0502020204030204" pitchFamily="34" charset="0"/>
                  </a:rPr>
                  <a:t>*</a:t>
                </a:r>
                <a:r>
                  <a:rPr lang="en-US" sz="2000" dirty="0">
                    <a:effectLst/>
                    <a:latin typeface="Times New Roman" panose="02020603050405020304" pitchFamily="18" charset="0"/>
                    <a:ea typeface="Calibri" panose="020F0502020204030204" pitchFamily="34" charset="0"/>
                  </a:rPr>
                  <a:t> with note that </a:t>
                </a:r>
                <a:r>
                  <a:rPr lang="en-US" sz="2000" dirty="0" err="1">
                    <a:effectLst/>
                    <a:latin typeface="Times New Roman" panose="02020603050405020304" pitchFamily="18" charset="0"/>
                    <a:ea typeface="Calibri" panose="020F0502020204030204" pitchFamily="34" charset="0"/>
                  </a:rPr>
                  <a:t>nb</a:t>
                </a:r>
                <a:r>
                  <a:rPr lang="en-US" sz="2000" dirty="0">
                    <a:effectLst/>
                    <a:latin typeface="Times New Roman" panose="02020603050405020304" pitchFamily="18" charset="0"/>
                    <a:ea typeface="Calibri" panose="020F0502020204030204" pitchFamily="34" charset="0"/>
                  </a:rPr>
                  <a:t>(</a:t>
                </a:r>
                <a:r>
                  <a:rPr lang="en-US" sz="2000" i="1" dirty="0">
                    <a:effectLst/>
                    <a:latin typeface="Times New Roman" panose="02020603050405020304" pitchFamily="18" charset="0"/>
                    <a:ea typeface="Calibri" panose="020F0502020204030204" pitchFamily="34" charset="0"/>
                  </a:rPr>
                  <a:t>s</a:t>
                </a:r>
                <a:r>
                  <a:rPr lang="en-US" sz="2000" dirty="0">
                    <a:effectLst/>
                    <a:latin typeface="Times New Roman" panose="02020603050405020304" pitchFamily="18" charset="0"/>
                    <a:ea typeface="Calibri" panose="020F0502020204030204" pitchFamily="34" charset="0"/>
                  </a:rPr>
                  <a:t>) denotes the set of neighbors of site </a:t>
                </a:r>
                <a:r>
                  <a:rPr lang="en-US" sz="2000" i="1" dirty="0">
                    <a:effectLst/>
                    <a:latin typeface="Times New Roman" panose="02020603050405020304" pitchFamily="18" charset="0"/>
                    <a:ea typeface="Calibri" panose="020F0502020204030204" pitchFamily="34" charset="0"/>
                  </a:rPr>
                  <a:t>s</a:t>
                </a:r>
                <a:r>
                  <a:rPr lang="en-US" sz="2000" dirty="0">
                    <a:effectLst/>
                    <a:latin typeface="Times New Roman" panose="02020603050405020304" pitchFamily="18" charset="0"/>
                    <a:ea typeface="Calibri" panose="020F0502020204030204" pitchFamily="34" charset="0"/>
                  </a:rPr>
                  <a:t>. Moreover, the set </a:t>
                </a:r>
                <a:r>
                  <a:rPr lang="en-US" sz="2000" i="1" dirty="0" err="1">
                    <a:effectLst/>
                    <a:latin typeface="Times New Roman" panose="02020603050405020304" pitchFamily="18" charset="0"/>
                    <a:ea typeface="Calibri" panose="020F0502020204030204" pitchFamily="34" charset="0"/>
                  </a:rPr>
                  <a:t>nb</a:t>
                </a:r>
                <a:r>
                  <a:rPr lang="en-US" sz="2000" dirty="0">
                    <a:effectLst/>
                    <a:latin typeface="Times New Roman" panose="02020603050405020304" pitchFamily="18" charset="0"/>
                    <a:ea typeface="Calibri" panose="020F0502020204030204" pitchFamily="34" charset="0"/>
                  </a:rPr>
                  <a:t>(</a:t>
                </a:r>
                <a:r>
                  <a:rPr lang="en-US" sz="2000" i="1" dirty="0">
                    <a:effectLst/>
                    <a:latin typeface="Times New Roman" panose="02020603050405020304" pitchFamily="18" charset="0"/>
                    <a:ea typeface="Calibri" panose="020F0502020204030204" pitchFamily="34" charset="0"/>
                  </a:rPr>
                  <a:t>s</a:t>
                </a:r>
                <a:r>
                  <a:rPr lang="en-US" sz="2000" dirty="0">
                    <a:effectLst/>
                    <a:latin typeface="Times New Roman" panose="02020603050405020304" pitchFamily="18" charset="0"/>
                    <a:ea typeface="Calibri" panose="020F0502020204030204" pitchFamily="34" charset="0"/>
                  </a:rPr>
                  <a:t>) does not contain </a:t>
                </a:r>
                <a:r>
                  <a:rPr lang="en-US" sz="2000" i="1" dirty="0">
                    <a:effectLst/>
                    <a:latin typeface="Times New Roman" panose="02020603050405020304" pitchFamily="18" charset="0"/>
                    <a:ea typeface="Calibri" panose="020F0502020204030204" pitchFamily="34" charset="0"/>
                  </a:rPr>
                  <a:t>s</a:t>
                </a:r>
                <a:r>
                  <a:rPr lang="en-US" sz="2000" dirty="0">
                    <a:effectLst/>
                    <a:latin typeface="Times New Roman" panose="02020603050405020304" pitchFamily="18" charset="0"/>
                    <a:ea typeface="Calibri" panose="020F0502020204030204" pitchFamily="34" charset="0"/>
                  </a:rPr>
                  <a:t>.</a:t>
                </a:r>
                <a:endParaRPr lang="en-US" sz="2000" dirty="0"/>
              </a:p>
            </p:txBody>
          </p:sp>
        </mc:Choice>
        <mc:Fallback xmlns="">
          <p:sp>
            <p:nvSpPr>
              <p:cNvPr id="3" name="Content Placeholder 2">
                <a:extLst>
                  <a:ext uri="{FF2B5EF4-FFF2-40B4-BE49-F238E27FC236}">
                    <a16:creationId xmlns:a16="http://schemas.microsoft.com/office/drawing/2014/main" id="{949394AF-55B1-E3BD-6528-F5459D0F1B62}"/>
                  </a:ext>
                </a:extLst>
              </p:cNvPr>
              <p:cNvSpPr>
                <a:spLocks noGrp="1" noRot="1" noChangeAspect="1" noMove="1" noResize="1" noEditPoints="1" noAdjustHandles="1" noChangeArrowheads="1" noChangeShapeType="1" noTextEdit="1"/>
              </p:cNvSpPr>
              <p:nvPr>
                <p:ph idx="1"/>
              </p:nvPr>
            </p:nvSpPr>
            <p:spPr>
              <a:xfrm>
                <a:off x="337625" y="914399"/>
                <a:ext cx="11451101" cy="5176066"/>
              </a:xfrm>
              <a:blipFill>
                <a:blip r:embed="rId2"/>
                <a:stretch>
                  <a:fillRect l="-532" t="-589" r="-532" b="-518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52A91B4-528C-9F49-F6CB-B520AED204FC}"/>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FFBE18AE-7822-8996-3D32-D2861EEF5E6C}"/>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29295AFC-9EEA-4600-F49D-A92EDEC09B9A}"/>
              </a:ext>
            </a:extLst>
          </p:cNvPr>
          <p:cNvSpPr>
            <a:spLocks noGrp="1"/>
          </p:cNvSpPr>
          <p:nvPr>
            <p:ph type="sldNum" sz="quarter" idx="12"/>
          </p:nvPr>
        </p:nvSpPr>
        <p:spPr/>
        <p:txBody>
          <a:bodyPr/>
          <a:lstStyle/>
          <a:p>
            <a:fld id="{5DB5036F-1FF2-46C4-8D2B-59C7E3B91952}" type="slidenum">
              <a:rPr lang="en-US" smtClean="0"/>
              <a:pPr/>
              <a:t>5</a:t>
            </a:fld>
            <a:endParaRPr lang="en-US"/>
          </a:p>
        </p:txBody>
      </p:sp>
    </p:spTree>
    <p:extLst>
      <p:ext uri="{BB962C8B-B14F-4D97-AF65-F5344CB8AC3E}">
        <p14:creationId xmlns:p14="http://schemas.microsoft.com/office/powerpoint/2010/main" val="206227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CAF80-0FB0-1250-C06E-E7DD9CDF0C5C}"/>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133DA5-AF7E-21DF-D5A1-25F3C9E243B8}"/>
                  </a:ext>
                </a:extLst>
              </p:cNvPr>
              <p:cNvSpPr>
                <a:spLocks noGrp="1"/>
              </p:cNvSpPr>
              <p:nvPr>
                <p:ph idx="1"/>
              </p:nvPr>
            </p:nvSpPr>
            <p:spPr>
              <a:xfrm>
                <a:off x="464234" y="914399"/>
                <a:ext cx="11155680" cy="5176066"/>
              </a:xfrm>
            </p:spPr>
            <p:txBody>
              <a:bodyPr>
                <a:noAutofit/>
              </a:bodyPr>
              <a:lstStyle/>
              <a:p>
                <a:pPr marL="0" marR="0" indent="0" algn="just">
                  <a:spcBef>
                    <a:spcPts val="0"/>
                  </a:spcBef>
                  <a:spcAft>
                    <a:spcPts val="0"/>
                  </a:spcAft>
                  <a:buNone/>
                </a:pPr>
                <a:r>
                  <a:rPr lang="en-US" sz="2050" dirty="0">
                    <a:effectLst/>
                    <a:latin typeface="Times New Roman" panose="02020603050405020304" pitchFamily="18" charset="0"/>
                    <a:ea typeface="Calibri" panose="020F0502020204030204" pitchFamily="34" charset="0"/>
                    <a:cs typeface="Times New Roman" panose="02020603050405020304" pitchFamily="18" charset="0"/>
                  </a:rPr>
                  <a:t>Because </a:t>
                </a:r>
                <a:r>
                  <a:rPr lang="en-US" sz="2050" i="1" dirty="0">
                    <a:effectLst/>
                    <a:latin typeface="Times New Roman" panose="02020603050405020304" pitchFamily="18" charset="0"/>
                    <a:ea typeface="Calibri" panose="020F0502020204030204" pitchFamily="34" charset="0"/>
                    <a:cs typeface="Times New Roman" panose="02020603050405020304" pitchFamily="18" charset="0"/>
                  </a:rPr>
                  <a:t>W</a:t>
                </a:r>
                <a:r>
                  <a:rPr lang="en-US" sz="2050" dirty="0">
                    <a:effectLst/>
                    <a:latin typeface="Times New Roman" panose="02020603050405020304" pitchFamily="18" charset="0"/>
                    <a:ea typeface="Calibri" panose="020F0502020204030204" pitchFamily="34" charset="0"/>
                    <a:cs typeface="Times New Roman" panose="02020603050405020304" pitchFamily="18" charset="0"/>
                  </a:rPr>
                  <a:t> is symmetric, we have (Mariella &amp; Tarantino, 2010, p. 227):</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sz="2050" i="1">
                          <a:effectLst/>
                          <a:latin typeface="Cambria Math" panose="02040503050406030204" pitchFamily="18" charset="0"/>
                          <a:ea typeface="Calibri" panose="020F0502020204030204" pitchFamily="34" charset="0"/>
                          <a:cs typeface="Times New Roman" panose="02020603050405020304" pitchFamily="18" charset="0"/>
                        </a:rPr>
                        <m:t>∀</m:t>
                      </m:r>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05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r>
                        <a:rPr lang="en-US" sz="2050" i="1">
                          <a:effectLst/>
                          <a:latin typeface="Cambria Math" panose="02040503050406030204" pitchFamily="18" charset="0"/>
                          <a:ea typeface="Calibri" panose="020F0502020204030204" pitchFamily="34" charset="0"/>
                          <a:cs typeface="Times New Roman" panose="02020603050405020304" pitchFamily="18" charset="0"/>
                        </a:rPr>
                        <m:t>𝑆</m:t>
                      </m:r>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5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5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5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sSup>
                            <m:sSupPr>
                              <m:ctrlPr>
                                <a:rPr lang="en-US" sz="205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sub>
                      </m:sSub>
                    </m:oMath>
                  </m:oMathPara>
                </a14:m>
                <a:endParaRPr lang="en-US" sz="205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2050" dirty="0">
                    <a:effectLst/>
                    <a:latin typeface="Times New Roman" panose="02020603050405020304" pitchFamily="18" charset="0"/>
                    <a:ea typeface="Calibri" panose="020F0502020204030204" pitchFamily="34" charset="0"/>
                  </a:rPr>
                  <a:t>Note, </a:t>
                </a:r>
                <a:r>
                  <a:rPr lang="en-US" sz="2050" i="1" dirty="0">
                    <a:effectLst/>
                    <a:latin typeface="Times New Roman" panose="02020603050405020304" pitchFamily="18" charset="0"/>
                    <a:ea typeface="Calibri" panose="020F0502020204030204" pitchFamily="34" charset="0"/>
                  </a:rPr>
                  <a:t>W</a:t>
                </a:r>
                <a:r>
                  <a:rPr lang="en-US" sz="2050" dirty="0">
                    <a:effectLst/>
                    <a:latin typeface="Times New Roman" panose="02020603050405020304" pitchFamily="18" charset="0"/>
                    <a:ea typeface="Calibri" panose="020F0502020204030204" pitchFamily="34" charset="0"/>
                  </a:rPr>
                  <a:t> is constant. Let </a:t>
                </a:r>
                <a:r>
                  <a:rPr lang="en-US" sz="2050" i="1" dirty="0">
                    <a:effectLst/>
                    <a:latin typeface="Times New Roman" panose="02020603050405020304" pitchFamily="18" charset="0"/>
                    <a:ea typeface="Calibri" panose="020F0502020204030204" pitchFamily="34" charset="0"/>
                  </a:rPr>
                  <a:t>W</a:t>
                </a:r>
                <a:r>
                  <a:rPr lang="en-US" sz="2050" i="1" baseline="-25000" dirty="0">
                    <a:effectLst/>
                    <a:latin typeface="Times New Roman" panose="02020603050405020304" pitchFamily="18" charset="0"/>
                    <a:ea typeface="Calibri" panose="020F0502020204030204" pitchFamily="34" charset="0"/>
                  </a:rPr>
                  <a:t>D</a:t>
                </a:r>
                <a:r>
                  <a:rPr lang="en-US" sz="2050" dirty="0">
                    <a:effectLst/>
                    <a:latin typeface="Times New Roman" panose="02020603050405020304" pitchFamily="18" charset="0"/>
                    <a:ea typeface="Calibri" panose="020F0502020204030204" pitchFamily="34" charset="0"/>
                  </a:rPr>
                  <a:t> be the diagonal matrix of normalization (Mariella &amp; Tarantino, 2010, p. 227):</a:t>
                </a:r>
              </a:p>
              <a:p>
                <a:pPr marL="0" indent="0">
                  <a:buNone/>
                </a:pPr>
                <a14:m>
                  <m:oMathPara xmlns:m="http://schemas.openxmlformats.org/officeDocument/2006/math">
                    <m:oMathParaPr>
                      <m:jc m:val="right"/>
                    </m:oMathParaPr>
                    <m:oMath xmlns:m="http://schemas.openxmlformats.org/officeDocument/2006/math">
                      <m:m>
                        <m:mPr>
                          <m:mcs>
                            <m:mc>
                              <m:mcPr>
                                <m:count m:val="1"/>
                                <m:mcJc m:val="center"/>
                              </m:mcPr>
                            </m:mc>
                          </m:mcs>
                          <m:ctrlPr>
                            <a:rPr lang="en-US" sz="2050" i="1" smtClean="0">
                              <a:effectLst/>
                              <a:latin typeface="Cambria Math" panose="02040503050406030204" pitchFamily="18" charset="0"/>
                            </a:rPr>
                          </m:ctrlPr>
                        </m:mPr>
                        <m:mr>
                          <m:e>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205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50">
                                <a:effectLst/>
                                <a:latin typeface="Cambria Math" panose="02040503050406030204" pitchFamily="18" charset="0"/>
                                <a:ea typeface="Calibri" panose="020F0502020204030204" pitchFamily="34" charset="0"/>
                                <a:cs typeface="Times New Roman" panose="02020603050405020304" pitchFamily="18" charset="0"/>
                              </a:rPr>
                              <m:t>diag</m:t>
                            </m:r>
                            <m:d>
                              <m:dPr>
                                <m:ctrlPr>
                                  <a:rPr lang="en-US" sz="2050" i="1">
                                    <a:effectLst/>
                                    <a:latin typeface="Cambria Math" panose="02040503050406030204" pitchFamily="18" charset="0"/>
                                  </a:rPr>
                                </m:ctrlPr>
                              </m:dPr>
                              <m:e>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𝑛</m:t>
                                    </m:r>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b>
                                </m:sSub>
                              </m:e>
                            </m:d>
                          </m:e>
                        </m:mr>
                        <m:mr>
                          <m:e>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b>
                            </m:sSub>
                            <m:r>
                              <a:rPr lang="en-US" sz="205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supHide m:val="on"/>
                                <m:ctrlPr>
                                  <a:rPr lang="en-US" sz="2050" i="1">
                                    <a:effectLst/>
                                    <a:latin typeface="Cambria Math" panose="02040503050406030204" pitchFamily="18" charset="0"/>
                                  </a:rPr>
                                </m:ctrlPr>
                              </m:naryPr>
                              <m:sub>
                                <m:sSup>
                                  <m:sSupPr>
                                    <m:ctrlPr>
                                      <a:rPr lang="en-US" sz="2050" i="1">
                                        <a:effectLst/>
                                        <a:latin typeface="Cambria Math" panose="020405030504060302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5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2050" i="1">
                                        <a:effectLst/>
                                        <a:latin typeface="Cambria Math" panose="02040503050406030204" pitchFamily="18" charset="0"/>
                                      </a:rPr>
                                    </m:ctrlPr>
                                  </m:d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50" i="1">
                                            <a:effectLst/>
                                            <a:latin typeface="Cambria Math" panose="020405030504060302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nary>
                          </m:e>
                        </m:mr>
                      </m:m>
                      <m:r>
                        <a:rPr lang="en-US" sz="2050" b="0" i="1" smtClean="0">
                          <a:effectLst/>
                          <a:latin typeface="Cambria Math" panose="02040503050406030204" pitchFamily="18" charset="0"/>
                          <a:ea typeface="Calibri" panose="020F0502020204030204" pitchFamily="34" charset="0"/>
                          <a:cs typeface="Times New Roman" panose="02020603050405020304" pitchFamily="18" charset="0"/>
                        </a:rPr>
                        <m:t>    (1.2)</m:t>
                      </m:r>
                    </m:oMath>
                  </m:oMathPara>
                </a14:m>
                <a:endParaRPr lang="en-US" sz="2050" dirty="0"/>
              </a:p>
              <a:p>
                <a:pPr marL="0" indent="0">
                  <a:buNone/>
                </a:pPr>
                <a:r>
                  <a:rPr lang="en-US" sz="2050" dirty="0">
                    <a:effectLst/>
                    <a:latin typeface="Times New Roman" panose="02020603050405020304" pitchFamily="18" charset="0"/>
                    <a:ea typeface="Calibri" panose="020F0502020204030204" pitchFamily="34" charset="0"/>
                  </a:rPr>
                  <a:t>Let </a:t>
                </a:r>
                <a:r>
                  <a:rPr lang="en-US" sz="2050" i="1" dirty="0">
                    <a:effectLst/>
                    <a:latin typeface="Times New Roman" panose="02020603050405020304" pitchFamily="18" charset="0"/>
                    <a:ea typeface="Calibri" panose="020F0502020204030204" pitchFamily="34" charset="0"/>
                  </a:rPr>
                  <a:t>A</a:t>
                </a:r>
                <a:r>
                  <a:rPr lang="en-US" sz="2050" dirty="0">
                    <a:effectLst/>
                    <a:latin typeface="Times New Roman" panose="02020603050405020304" pitchFamily="18" charset="0"/>
                    <a:ea typeface="Calibri" panose="020F0502020204030204" pitchFamily="34" charset="0"/>
                  </a:rPr>
                  <a:t> be the matrix of interaction (Mariella &amp; Tarantino, 2010, p. 227):</a:t>
                </a:r>
              </a:p>
              <a:p>
                <a:pPr marL="0" indent="0">
                  <a:buNone/>
                </a:pPr>
                <a14:m>
                  <m:oMathPara xmlns:m="http://schemas.openxmlformats.org/officeDocument/2006/math">
                    <m:oMathParaPr>
                      <m:jc m:val="right"/>
                    </m:oMathParaPr>
                    <m:oMath xmlns:m="http://schemas.openxmlformats.org/officeDocument/2006/math">
                      <m:m>
                        <m:mPr>
                          <m:mcs>
                            <m:mc>
                              <m:mcPr>
                                <m:count m:val="1"/>
                                <m:mcJc m:val="center"/>
                              </m:mcPr>
                            </m:mc>
                          </m:mcs>
                          <m:ctrlPr>
                            <a:rPr lang="en-US" sz="2050" i="1" smtClean="0">
                              <a:effectLst/>
                              <a:latin typeface="Cambria Math" panose="02040503050406030204" pitchFamily="18" charset="0"/>
                            </a:rPr>
                          </m:ctrlPr>
                        </m:mPr>
                        <m:mr>
                          <m:e>
                            <m:r>
                              <a:rPr lang="en-US" sz="2050" i="1">
                                <a:effectLst/>
                                <a:latin typeface="Cambria Math" panose="02040503050406030204" pitchFamily="18" charset="0"/>
                                <a:ea typeface="Calibri" panose="020F0502020204030204" pitchFamily="34" charset="0"/>
                                <a:cs typeface="Times New Roman" panose="02020603050405020304" pitchFamily="18" charset="0"/>
                              </a:rPr>
                              <m:t>𝐴</m:t>
                            </m:r>
                            <m:r>
                              <a:rPr lang="en-US" sz="205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2050" i="1">
                                    <a:effectLst/>
                                    <a:latin typeface="Cambria Math" panose="02040503050406030204" pitchFamily="18" charset="0"/>
                                  </a:rPr>
                                </m:ctrlPr>
                              </m:dPr>
                              <m:e>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50" i="1">
                                            <a:effectLst/>
                                            <a:latin typeface="Cambria Math" panose="020405030504060302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2050" i="1">
                                    <a:effectLst/>
                                    <a:latin typeface="Cambria Math" panose="02040503050406030204" pitchFamily="18" charset="0"/>
                                  </a:rPr>
                                </m:ctrlPr>
                              </m:sSub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𝐷</m:t>
                                </m:r>
                              </m:sub>
                              <m:sup>
                                <m:r>
                                  <a:rPr lang="en-US" sz="2050" i="1">
                                    <a:effectLst/>
                                    <a:latin typeface="Cambria Math" panose="02040503050406030204" pitchFamily="18" charset="0"/>
                                    <a:ea typeface="Calibri" panose="020F0502020204030204" pitchFamily="34" charset="0"/>
                                    <a:cs typeface="Times New Roman" panose="02020603050405020304" pitchFamily="18" charset="0"/>
                                  </a:rPr>
                                  <m:t>−1</m:t>
                                </m:r>
                              </m:sup>
                            </m:sSubSup>
                            <m:r>
                              <a:rPr lang="en-US" sz="2050" i="1">
                                <a:effectLst/>
                                <a:latin typeface="Cambria Math" panose="02040503050406030204" pitchFamily="18" charset="0"/>
                                <a:ea typeface="Calibri" panose="020F0502020204030204" pitchFamily="34" charset="0"/>
                                <a:cs typeface="Times New Roman" panose="02020603050405020304" pitchFamily="18" charset="0"/>
                              </a:rPr>
                              <m:t>𝑊</m:t>
                            </m:r>
                          </m:e>
                        </m:mr>
                        <m:mr>
                          <m:e>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50" i="1">
                                        <a:effectLst/>
                                        <a:latin typeface="Cambria Math" panose="020405030504060302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205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50" i="1">
                                    <a:effectLst/>
                                    <a:latin typeface="Cambria Math" panose="02040503050406030204" pitchFamily="18" charset="0"/>
                                  </a:rPr>
                                </m:ctrlPr>
                              </m:fPr>
                              <m:num>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50" i="1">
                                            <a:effectLst/>
                                            <a:latin typeface="Cambria Math" panose="020405030504060302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p>
                                    </m:sSup>
                                  </m:sub>
                                </m:sSub>
                              </m:num>
                              <m:den>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b>
                                </m:sSub>
                              </m:den>
                            </m:f>
                          </m:e>
                        </m:mr>
                      </m:m>
                      <m:r>
                        <a:rPr lang="en-US" sz="2050" b="0" i="1" smtClean="0">
                          <a:effectLst/>
                          <a:latin typeface="Cambria Math" panose="02040503050406030204" pitchFamily="18" charset="0"/>
                          <a:ea typeface="Calibri" panose="020F0502020204030204" pitchFamily="34" charset="0"/>
                          <a:cs typeface="Times New Roman" panose="02020603050405020304" pitchFamily="18" charset="0"/>
                        </a:rPr>
                        <m:t>    (1.3)</m:t>
                      </m:r>
                    </m:oMath>
                  </m:oMathPara>
                </a14:m>
                <a:endParaRPr lang="en-US" sz="2050" dirty="0"/>
              </a:p>
              <a:p>
                <a:pPr marL="0" indent="0">
                  <a:buNone/>
                </a:pPr>
                <a:r>
                  <a:rPr lang="en-US" sz="2050" dirty="0">
                    <a:effectLst/>
                    <a:latin typeface="Times New Roman" panose="02020603050405020304" pitchFamily="18" charset="0"/>
                    <a:ea typeface="Calibri" panose="020F0502020204030204" pitchFamily="34" charset="0"/>
                  </a:rPr>
                  <a:t>Note, </a:t>
                </a:r>
                <a:r>
                  <a:rPr lang="en-US" sz="2050" i="1" dirty="0">
                    <a:effectLst/>
                    <a:latin typeface="Times New Roman" panose="02020603050405020304" pitchFamily="18" charset="0"/>
                    <a:ea typeface="Calibri" panose="020F0502020204030204" pitchFamily="34" charset="0"/>
                  </a:rPr>
                  <a:t>A</a:t>
                </a:r>
                <a:r>
                  <a:rPr lang="en-US" sz="2050" dirty="0">
                    <a:effectLst/>
                    <a:latin typeface="Times New Roman" panose="02020603050405020304" pitchFamily="18" charset="0"/>
                    <a:ea typeface="Calibri" panose="020F0502020204030204" pitchFamily="34" charset="0"/>
                  </a:rPr>
                  <a:t> is constant. Let Σ</a:t>
                </a:r>
                <a:r>
                  <a:rPr lang="en-US" sz="2050" i="1" baseline="-25000" dirty="0">
                    <a:effectLst/>
                    <a:latin typeface="Times New Roman" panose="02020603050405020304" pitchFamily="18" charset="0"/>
                    <a:ea typeface="Calibri" panose="020F0502020204030204" pitchFamily="34" charset="0"/>
                  </a:rPr>
                  <a:t>D</a:t>
                </a:r>
                <a:r>
                  <a:rPr lang="en-US" sz="2050" dirty="0">
                    <a:effectLst/>
                    <a:latin typeface="Times New Roman" panose="02020603050405020304" pitchFamily="18" charset="0"/>
                    <a:ea typeface="Calibri" panose="020F0502020204030204" pitchFamily="34" charset="0"/>
                  </a:rPr>
                  <a:t> be the diagonal matrix of variances (Mariella &amp; Tarantino, 2010, p. 227):</a:t>
                </a:r>
              </a:p>
              <a:p>
                <a:pPr marL="0" indent="0">
                  <a:buNone/>
                </a:pPr>
                <a14:m>
                  <m:oMathPara xmlns:m="http://schemas.openxmlformats.org/officeDocument/2006/math">
                    <m:oMathParaPr>
                      <m:jc m:val="right"/>
                    </m:oMathParaPr>
                    <m:oMath xmlns:m="http://schemas.openxmlformats.org/officeDocument/2006/math">
                      <m:m>
                        <m:mPr>
                          <m:mcs>
                            <m:mc>
                              <m:mcPr>
                                <m:count m:val="1"/>
                                <m:mcJc m:val="center"/>
                              </m:mcPr>
                            </m:mc>
                          </m:mcs>
                          <m:ctrlPr>
                            <a:rPr lang="en-US" sz="2050" i="1" smtClean="0">
                              <a:effectLst/>
                              <a:latin typeface="Cambria Math" panose="02040503050406030204" pitchFamily="18" charset="0"/>
                            </a:rPr>
                          </m:ctrlPr>
                        </m:mPr>
                        <m:mr>
                          <m:e>
                            <m:sSub>
                              <m:sSubPr>
                                <m:ctrlPr>
                                  <a:rPr lang="en-US" sz="2050" i="1">
                                    <a:effectLst/>
                                    <a:latin typeface="Cambria Math" panose="02040503050406030204" pitchFamily="18" charset="0"/>
                                  </a:rPr>
                                </m:ctrlPr>
                              </m:sSubPr>
                              <m:e>
                                <m:r>
                                  <m:rPr>
                                    <m:sty m:val="p"/>
                                  </m:rPr>
                                  <a:rPr lang="en-US" sz="2050">
                                    <a:effectLst/>
                                    <a:latin typeface="Cambria Math" panose="02040503050406030204" pitchFamily="18" charset="0"/>
                                    <a:ea typeface="Calibri" panose="020F0502020204030204" pitchFamily="34" charset="0"/>
                                    <a:cs typeface="Times New Roman" panose="02020603050405020304" pitchFamily="18" charset="0"/>
                                  </a:rPr>
                                  <m:t>Σ</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205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50">
                                <a:effectLst/>
                                <a:latin typeface="Cambria Math" panose="02040503050406030204" pitchFamily="18" charset="0"/>
                                <a:ea typeface="Calibri" panose="020F0502020204030204" pitchFamily="34" charset="0"/>
                                <a:cs typeface="Times New Roman" panose="02020603050405020304" pitchFamily="18" charset="0"/>
                              </a:rPr>
                              <m:t>diag</m:t>
                            </m:r>
                            <m:d>
                              <m:dPr>
                                <m:ctrlPr>
                                  <a:rPr lang="en-US" sz="2050" i="1">
                                    <a:effectLst/>
                                    <a:latin typeface="Cambria Math" panose="02040503050406030204" pitchFamily="18" charset="0"/>
                                  </a:rPr>
                                </m:ctrlPr>
                              </m:dPr>
                              <m:e>
                                <m:sSubSup>
                                  <m:sSubSupPr>
                                    <m:ctrlPr>
                                      <a:rPr lang="en-US" sz="2050" i="1">
                                        <a:effectLst/>
                                        <a:latin typeface="Cambria Math" panose="02040503050406030204" pitchFamily="18" charset="0"/>
                                      </a:rPr>
                                    </m:ctrlPr>
                                  </m:sSub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05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2050" i="1">
                                        <a:effectLst/>
                                        <a:latin typeface="Cambria Math" panose="02040503050406030204" pitchFamily="18" charset="0"/>
                                      </a:rPr>
                                    </m:ctrlPr>
                                  </m:sSub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2</m:t>
                                    </m:r>
                                  </m:sub>
                                  <m:sup>
                                    <m:r>
                                      <a:rPr lang="en-US" sz="205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2050" i="1">
                                        <a:effectLst/>
                                        <a:latin typeface="Cambria Math" panose="02040503050406030204" pitchFamily="18" charset="0"/>
                                      </a:rPr>
                                    </m:ctrlPr>
                                  </m:sSub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2050" i="1">
                                        <a:effectLst/>
                                        <a:latin typeface="Cambria Math" panose="02040503050406030204" pitchFamily="18" charset="0"/>
                                        <a:ea typeface="Calibri" panose="020F0502020204030204" pitchFamily="34" charset="0"/>
                                        <a:cs typeface="Times New Roman" panose="02020603050405020304" pitchFamily="18" charset="0"/>
                                      </a:rPr>
                                      <m:t>2</m:t>
                                    </m:r>
                                  </m:sup>
                                </m:sSubSup>
                              </m:e>
                            </m:d>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050" i="1">
                                    <a:effectLst/>
                                    <a:latin typeface="Cambria Math" panose="020405030504060302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2050" i="1">
                                    <a:effectLst/>
                                    <a:latin typeface="Cambria Math" panose="02040503050406030204" pitchFamily="18" charset="0"/>
                                  </a:rPr>
                                </m:ctrlPr>
                              </m:sSub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𝐷</m:t>
                                </m:r>
                              </m:sub>
                              <m:sup>
                                <m:r>
                                  <a:rPr lang="en-US" sz="2050" i="1">
                                    <a:effectLst/>
                                    <a:latin typeface="Cambria Math" panose="02040503050406030204" pitchFamily="18" charset="0"/>
                                    <a:ea typeface="Calibri" panose="020F0502020204030204" pitchFamily="34" charset="0"/>
                                    <a:cs typeface="Times New Roman" panose="02020603050405020304" pitchFamily="18" charset="0"/>
                                  </a:rPr>
                                  <m:t>−1</m:t>
                                </m:r>
                              </m:sup>
                            </m:sSubSup>
                          </m:e>
                        </m:mr>
                        <m:mr>
                          <m:e>
                            <m:sSubSup>
                              <m:sSubSupPr>
                                <m:ctrlPr>
                                  <a:rPr lang="en-US" sz="2050" i="1">
                                    <a:effectLst/>
                                    <a:latin typeface="Cambria Math" panose="02040503050406030204" pitchFamily="18" charset="0"/>
                                  </a:rPr>
                                </m:ctrlPr>
                              </m:sSub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5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205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50" i="1">
                                    <a:effectLst/>
                                    <a:latin typeface="Cambria Math" panose="02040503050406030204" pitchFamily="18" charset="0"/>
                                  </a:rPr>
                                </m:ctrlPr>
                              </m:fPr>
                              <m:num>
                                <m:sSup>
                                  <m:sSupPr>
                                    <m:ctrlPr>
                                      <a:rPr lang="en-US" sz="2050" i="1">
                                        <a:effectLst/>
                                        <a:latin typeface="Cambria Math" panose="02040503050406030204" pitchFamily="18" charset="0"/>
                                      </a:rPr>
                                    </m:ctrlPr>
                                  </m:sSupPr>
                                  <m:e>
                                    <m:r>
                                      <a:rPr lang="en-US" sz="205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2050" i="1">
                                        <a:effectLst/>
                                        <a:latin typeface="Cambria Math" panose="02040503050406030204" pitchFamily="18" charset="0"/>
                                        <a:ea typeface="Calibri" panose="020F0502020204030204" pitchFamily="34" charset="0"/>
                                        <a:cs typeface="Times New Roman" panose="02020603050405020304" pitchFamily="18" charset="0"/>
                                      </a:rPr>
                                      <m:t>2</m:t>
                                    </m:r>
                                  </m:sup>
                                </m:sSup>
                              </m:num>
                              <m:den>
                                <m:sSub>
                                  <m:sSubPr>
                                    <m:ctrlPr>
                                      <a:rPr lang="en-US" sz="2050" i="1">
                                        <a:effectLst/>
                                        <a:latin typeface="Cambria Math" panose="02040503050406030204" pitchFamily="18" charset="0"/>
                                      </a:rPr>
                                    </m:ctrlPr>
                                  </m:sSubPr>
                                  <m:e>
                                    <m:r>
                                      <a:rPr lang="en-US" sz="205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205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50" i="1">
                                        <a:effectLst/>
                                        <a:latin typeface="Cambria Math" panose="02040503050406030204" pitchFamily="18" charset="0"/>
                                        <a:ea typeface="Calibri" panose="020F0502020204030204" pitchFamily="34" charset="0"/>
                                        <a:cs typeface="Times New Roman" panose="02020603050405020304" pitchFamily="18" charset="0"/>
                                      </a:rPr>
                                      <m:t>+</m:t>
                                    </m:r>
                                  </m:sub>
                                </m:sSub>
                              </m:den>
                            </m:f>
                          </m:e>
                        </m:mr>
                      </m:m>
                      <m:r>
                        <a:rPr lang="en-US" sz="2050" b="0" i="1" smtClean="0">
                          <a:effectLst/>
                          <a:latin typeface="Cambria Math" panose="02040503050406030204" pitchFamily="18" charset="0"/>
                          <a:ea typeface="Calibri" panose="020F0502020204030204" pitchFamily="34" charset="0"/>
                          <a:cs typeface="Times New Roman" panose="02020603050405020304" pitchFamily="18" charset="0"/>
                        </a:rPr>
                        <m:t>    (1.4)</m:t>
                      </m:r>
                    </m:oMath>
                  </m:oMathPara>
                </a14:m>
                <a:endParaRPr lang="en-US" sz="2050" dirty="0"/>
              </a:p>
              <a:p>
                <a:pPr marL="0" indent="0">
                  <a:buNone/>
                </a:pPr>
                <a:r>
                  <a:rPr lang="en-US" sz="2050" dirty="0">
                    <a:effectLst/>
                    <a:latin typeface="Times New Roman" panose="02020603050405020304" pitchFamily="18" charset="0"/>
                    <a:ea typeface="Calibri" panose="020F0502020204030204" pitchFamily="34" charset="0"/>
                  </a:rPr>
                  <a:t>Note, </a:t>
                </a:r>
                <a:r>
                  <a:rPr lang="en-US" sz="2050" i="1" dirty="0">
                    <a:effectLst/>
                    <a:latin typeface="Times New Roman" panose="02020603050405020304" pitchFamily="18" charset="0"/>
                    <a:ea typeface="Calibri" panose="020F0502020204030204" pitchFamily="34" charset="0"/>
                  </a:rPr>
                  <a:t>σ</a:t>
                </a:r>
                <a:r>
                  <a:rPr lang="en-US" sz="2050" baseline="30000" dirty="0">
                    <a:effectLst/>
                    <a:latin typeface="Times New Roman" panose="02020603050405020304" pitchFamily="18" charset="0"/>
                    <a:ea typeface="Calibri" panose="020F0502020204030204" pitchFamily="34" charset="0"/>
                  </a:rPr>
                  <a:t>2</a:t>
                </a:r>
                <a:r>
                  <a:rPr lang="en-US" sz="2050" dirty="0">
                    <a:effectLst/>
                    <a:latin typeface="Times New Roman" panose="02020603050405020304" pitchFamily="18" charset="0"/>
                    <a:ea typeface="Calibri" panose="020F0502020204030204" pitchFamily="34" charset="0"/>
                  </a:rPr>
                  <a:t> is called global variance.</a:t>
                </a:r>
                <a:endParaRPr lang="en-US" sz="2050" dirty="0"/>
              </a:p>
            </p:txBody>
          </p:sp>
        </mc:Choice>
        <mc:Fallback xmlns="">
          <p:sp>
            <p:nvSpPr>
              <p:cNvPr id="3" name="Content Placeholder 2">
                <a:extLst>
                  <a:ext uri="{FF2B5EF4-FFF2-40B4-BE49-F238E27FC236}">
                    <a16:creationId xmlns:a16="http://schemas.microsoft.com/office/drawing/2014/main" id="{EF133DA5-AF7E-21DF-D5A1-25F3C9E243B8}"/>
                  </a:ext>
                </a:extLst>
              </p:cNvPr>
              <p:cNvSpPr>
                <a:spLocks noGrp="1" noRot="1" noChangeAspect="1" noMove="1" noResize="1" noEditPoints="1" noAdjustHandles="1" noChangeArrowheads="1" noChangeShapeType="1" noTextEdit="1"/>
              </p:cNvSpPr>
              <p:nvPr>
                <p:ph idx="1"/>
              </p:nvPr>
            </p:nvSpPr>
            <p:spPr>
              <a:xfrm>
                <a:off x="464234" y="914399"/>
                <a:ext cx="11155680" cy="5176066"/>
              </a:xfrm>
              <a:blipFill>
                <a:blip r:embed="rId2"/>
                <a:stretch>
                  <a:fillRect l="-601" t="-824" r="-656" b="-647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35A6523-3EF0-9542-7271-41A3B0363509}"/>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F66F1B20-5F0A-C67F-1245-504B84564C0C}"/>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9D15DA58-11E7-0C30-868C-5086C8B9F910}"/>
              </a:ext>
            </a:extLst>
          </p:cNvPr>
          <p:cNvSpPr>
            <a:spLocks noGrp="1"/>
          </p:cNvSpPr>
          <p:nvPr>
            <p:ph type="sldNum" sz="quarter" idx="12"/>
          </p:nvPr>
        </p:nvSpPr>
        <p:spPr/>
        <p:txBody>
          <a:bodyPr/>
          <a:lstStyle/>
          <a:p>
            <a:fld id="{5DB5036F-1FF2-46C4-8D2B-59C7E3B91952}" type="slidenum">
              <a:rPr lang="en-US" smtClean="0"/>
              <a:pPr/>
              <a:t>6</a:t>
            </a:fld>
            <a:endParaRPr lang="en-US"/>
          </a:p>
        </p:txBody>
      </p:sp>
    </p:spTree>
    <p:extLst>
      <p:ext uri="{BB962C8B-B14F-4D97-AF65-F5344CB8AC3E}">
        <p14:creationId xmlns:p14="http://schemas.microsoft.com/office/powerpoint/2010/main" val="3060559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F28CE-1C55-63D6-77D6-F6E2BE44C12C}"/>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1DC88F-95A4-7EDA-4151-56F58C2ECC88}"/>
                  </a:ext>
                </a:extLst>
              </p:cNvPr>
              <p:cNvSpPr>
                <a:spLocks noGrp="1"/>
              </p:cNvSpPr>
              <p:nvPr>
                <p:ph idx="1"/>
              </p:nvPr>
            </p:nvSpPr>
            <p:spPr>
              <a:xfrm>
                <a:off x="253218" y="914399"/>
                <a:ext cx="11648050" cy="5176066"/>
              </a:xfrm>
            </p:spPr>
            <p:txBody>
              <a:bodyPr>
                <a:noAutofit/>
              </a:bodyPr>
              <a:lstStyle/>
              <a:p>
                <a:pPr marL="0" indent="0">
                  <a:buNone/>
                </a:pPr>
                <a:r>
                  <a:rPr lang="en-US" sz="1800" dirty="0">
                    <a:effectLst/>
                    <a:latin typeface="Times New Roman" panose="02020603050405020304" pitchFamily="18" charset="0"/>
                    <a:ea typeface="Calibri" panose="020F0502020204030204" pitchFamily="34" charset="0"/>
                  </a:rPr>
                  <a:t>The probability density function (PDF) of the number of cases</a:t>
                </a:r>
                <a:r>
                  <a:rPr lang="en-US" sz="1800" i="1" dirty="0">
                    <a:effectLst/>
                    <a:latin typeface="Times New Roman" panose="02020603050405020304" pitchFamily="18" charset="0"/>
                    <a:ea typeface="Calibri" panose="020F0502020204030204" pitchFamily="34" charset="0"/>
                  </a:rPr>
                  <a:t> Y</a:t>
                </a:r>
                <a:r>
                  <a:rPr lang="en-US" sz="1800" i="1" baseline="-25000" dirty="0">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at </a:t>
                </a:r>
                <a:r>
                  <a:rPr lang="en-US" sz="1800" i="1" dirty="0" err="1">
                    <a:effectLst/>
                    <a:latin typeface="Times New Roman" panose="02020603050405020304" pitchFamily="18" charset="0"/>
                    <a:ea typeface="Calibri" panose="020F0502020204030204" pitchFamily="34" charset="0"/>
                  </a:rPr>
                  <a:t>X</a:t>
                </a:r>
                <a:r>
                  <a:rPr lang="en-US" sz="1800" i="1" baseline="-25000" dirty="0" err="1">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given its neighbors </a:t>
                </a:r>
                <a:r>
                  <a:rPr lang="en-US" sz="1800" i="1" dirty="0" err="1">
                    <a:effectLst/>
                    <a:latin typeface="Times New Roman" panose="02020603050405020304" pitchFamily="18" charset="0"/>
                    <a:ea typeface="Calibri" panose="020F0502020204030204" pitchFamily="34" charset="0"/>
                  </a:rPr>
                  <a:t>X</a:t>
                </a:r>
                <a:r>
                  <a:rPr lang="en-US" sz="1800" i="1" baseline="-25000" dirty="0" err="1">
                    <a:effectLst/>
                    <a:latin typeface="Times New Roman" panose="02020603050405020304" pitchFamily="18" charset="0"/>
                    <a:ea typeface="Calibri" panose="020F0502020204030204" pitchFamily="34" charset="0"/>
                  </a:rPr>
                  <a:t>s</a:t>
                </a:r>
                <a:r>
                  <a:rPr lang="en-US" sz="1800" baseline="-25000" dirty="0">
                    <a:effectLst/>
                    <a:latin typeface="Times New Roman" panose="02020603050405020304" pitchFamily="18" charset="0"/>
                    <a:ea typeface="Calibri" panose="020F0502020204030204" pitchFamily="34" charset="0"/>
                  </a:rPr>
                  <a:t>*</a:t>
                </a:r>
                <a:r>
                  <a:rPr lang="en-US" sz="1800" dirty="0">
                    <a:effectLst/>
                    <a:latin typeface="Times New Roman" panose="02020603050405020304" pitchFamily="18" charset="0"/>
                    <a:ea typeface="Calibri" panose="020F0502020204030204" pitchFamily="34" charset="0"/>
                  </a:rPr>
                  <a:t> is defined according to normal distribution as follows (Mariella &amp; Tarantino, 2010, p. 227):</a:t>
                </a:r>
              </a:p>
              <a:p>
                <a:pPr marL="0" indent="0">
                  <a:buNone/>
                </a:pPr>
                <a14:m>
                  <m:oMathPara xmlns:m="http://schemas.openxmlformats.org/officeDocument/2006/math">
                    <m:oMathParaPr>
                      <m:jc m:val="right"/>
                    </m:oMathParaPr>
                    <m:oMath xmlns:m="http://schemas.openxmlformats.org/officeDocument/2006/math">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ad>
                            <m:radPr>
                              <m:degHide m:val="on"/>
                              <m:ctrlPr>
                                <a:rPr lang="en-US" sz="1800" i="1">
                                  <a:effectLst/>
                                  <a:latin typeface="Cambria Math" panose="02040503050406030204" pitchFamily="18" charset="0"/>
                                </a:rPr>
                              </m:ctrlPr>
                            </m:radPr>
                            <m:deg/>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𝜋</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bSup>
                            </m:e>
                          </m:rad>
                        </m:den>
                      </m:f>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exp</m:t>
                      </m:r>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rPr>
                              </m:ctrlPr>
                            </m:fPr>
                            <m:num>
                              <m:sSup>
                                <m:sSupPr>
                                  <m:ctrlPr>
                                    <a:rPr lang="en-US" sz="1800" i="1">
                                      <a:effectLst/>
                                      <a:latin typeface="Cambria Math" panose="02040503050406030204" pitchFamily="18" charset="0"/>
                                    </a:rPr>
                                  </m:ctrlPr>
                                </m:sSupPr>
                                <m:e>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800" i="1">
                                              <a:effectLst/>
                                              <a:latin typeface="Cambria Math" panose="02040503050406030204" pitchFamily="18" charset="0"/>
                                            </a:rPr>
                                          </m:ctrlPr>
                                        </m:dPr>
                                        <m:e>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rPr>
                                              </m:ctrlPr>
                                            </m:naryPr>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e>
                                          </m:nary>
                                        </m:e>
                                      </m:d>
                                    </m:e>
                                  </m:d>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e>
                      </m:d>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    (1.5)</m:t>
                      </m:r>
                    </m:oMath>
                  </m:oMathPara>
                </a14:m>
                <a:endParaRPr lang="en-US" sz="1800" dirty="0">
                  <a:effectLst/>
                  <a:latin typeface="Times New Roman" panose="02020603050405020304" pitchFamily="18" charset="0"/>
                  <a:ea typeface="Calibri" panose="020F0502020204030204" pitchFamily="34" charset="0"/>
                </a:endParaRPr>
              </a:p>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Where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sk</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site regressive coefficient vector and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σ</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site variance. The constant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ρ</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called effective neighborhood constant,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ρ</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1. Each site variance (local variance)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σ</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was defined.</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num>
                        <m:den>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b>
                          </m:sSub>
                        </m:den>
                      </m:f>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800" dirty="0">
                    <a:effectLst/>
                    <a:latin typeface="Times New Roman" panose="02020603050405020304" pitchFamily="18" charset="0"/>
                    <a:ea typeface="Calibri" panose="020F0502020204030204" pitchFamily="34" charset="0"/>
                  </a:rPr>
                  <a:t>Therefore, only parameters </a:t>
                </a:r>
                <a:r>
                  <a:rPr lang="en-US" sz="1800" i="1" dirty="0">
                    <a:effectLst/>
                    <a:latin typeface="Times New Roman" panose="02020603050405020304" pitchFamily="18" charset="0"/>
                    <a:ea typeface="Calibri" panose="020F0502020204030204" pitchFamily="34" charset="0"/>
                  </a:rPr>
                  <a:t>α</a:t>
                </a:r>
                <a:r>
                  <a:rPr lang="en-US" sz="1800" i="1" baseline="-25000" dirty="0">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and </a:t>
                </a:r>
                <a:r>
                  <a:rPr lang="en-US" sz="1800" i="1" dirty="0">
                    <a:effectLst/>
                    <a:latin typeface="Times New Roman" panose="02020603050405020304" pitchFamily="18" charset="0"/>
                    <a:ea typeface="Calibri" panose="020F0502020204030204" pitchFamily="34" charset="0"/>
                  </a:rPr>
                  <a:t>σ</a:t>
                </a:r>
                <a:r>
                  <a:rPr lang="en-US" sz="1800" baseline="30000" dirty="0">
                    <a:effectLst/>
                    <a:latin typeface="Times New Roman" panose="02020603050405020304" pitchFamily="18" charset="0"/>
                    <a:ea typeface="Calibri" panose="020F0502020204030204" pitchFamily="34" charset="0"/>
                  </a:rPr>
                  <a:t>2</a:t>
                </a:r>
                <a:r>
                  <a:rPr lang="en-US" sz="1800" dirty="0">
                    <a:effectLst/>
                    <a:latin typeface="Times New Roman" panose="02020603050405020304" pitchFamily="18" charset="0"/>
                    <a:ea typeface="Calibri" panose="020F0502020204030204" pitchFamily="34" charset="0"/>
                  </a:rPr>
                  <a:t> are parameters in the PDF of </a:t>
                </a:r>
                <a:r>
                  <a:rPr lang="en-US" sz="1800" i="1" dirty="0">
                    <a:effectLst/>
                    <a:latin typeface="Times New Roman" panose="02020603050405020304" pitchFamily="18" charset="0"/>
                    <a:ea typeface="Calibri" panose="020F0502020204030204" pitchFamily="34" charset="0"/>
                  </a:rPr>
                  <a:t>Y</a:t>
                </a:r>
                <a:r>
                  <a:rPr lang="en-US" sz="1800" i="1" baseline="-25000" dirty="0">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at </a:t>
                </a:r>
                <a:r>
                  <a:rPr lang="en-US" sz="1800" i="1" dirty="0" err="1">
                    <a:effectLst/>
                    <a:latin typeface="Times New Roman" panose="02020603050405020304" pitchFamily="18" charset="0"/>
                    <a:ea typeface="Calibri" panose="020F0502020204030204" pitchFamily="34" charset="0"/>
                  </a:rPr>
                  <a:t>X</a:t>
                </a:r>
                <a:r>
                  <a:rPr lang="en-US" sz="1800" i="1" baseline="-25000" dirty="0" err="1">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given its neighbors. The mean and variance of </a:t>
                </a:r>
                <a:r>
                  <a:rPr lang="en-US" sz="1800" i="1" dirty="0">
                    <a:effectLst/>
                    <a:latin typeface="Times New Roman" panose="02020603050405020304" pitchFamily="18" charset="0"/>
                    <a:ea typeface="Calibri" panose="020F0502020204030204" pitchFamily="34" charset="0"/>
                  </a:rPr>
                  <a:t>Y</a:t>
                </a:r>
                <a:r>
                  <a:rPr lang="en-US" sz="1800" i="1" baseline="-25000" dirty="0">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at </a:t>
                </a:r>
                <a:r>
                  <a:rPr lang="en-US" sz="1800" i="1" dirty="0" err="1">
                    <a:effectLst/>
                    <a:latin typeface="Times New Roman" panose="02020603050405020304" pitchFamily="18" charset="0"/>
                    <a:ea typeface="Calibri" panose="020F0502020204030204" pitchFamily="34" charset="0"/>
                  </a:rPr>
                  <a:t>X</a:t>
                </a:r>
                <a:r>
                  <a:rPr lang="en-US" sz="1800" i="1" baseline="-25000" dirty="0" err="1">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given its neighbors are:</a:t>
                </a:r>
              </a:p>
              <a:p>
                <a:pPr marL="0" indent="0">
                  <a:buNone/>
                </a:pPr>
                <a14:m>
                  <m:oMathPara xmlns:m="http://schemas.openxmlformats.org/officeDocument/2006/math">
                    <m:oMathParaPr>
                      <m:jc m:val="right"/>
                    </m:oMathParaPr>
                    <m:oMath xmlns:m="http://schemas.openxmlformats.org/officeDocument/2006/math">
                      <m:m>
                        <m:mPr>
                          <m:mcs>
                            <m:mc>
                              <m:mcPr>
                                <m:count m:val="1"/>
                                <m:mcJc m:val="center"/>
                              </m:mcPr>
                            </m:mc>
                          </m:mcs>
                          <m:ctrlPr>
                            <a:rPr lang="en-US" sz="1800" i="1" smtClean="0">
                              <a:effectLst/>
                              <a:latin typeface="Cambria Math" panose="02040503050406030204" pitchFamily="18" charset="0"/>
                            </a:rPr>
                          </m:ctrlPr>
                        </m:mPr>
                        <m:m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mean</m:t>
                            </m:r>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rPr>
                                </m:ctrlPr>
                              </m:naryPr>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e>
                            </m:nary>
                          </m:e>
                        </m:mr>
                        <m:m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var</m:t>
                            </m:r>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bSup>
                          </m:e>
                        </m:mr>
                      </m:m>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    (1.6)</m:t>
                      </m:r>
                    </m:oMath>
                  </m:oMathPara>
                </a14:m>
                <a:endParaRPr lang="en-US" sz="1800" dirty="0">
                  <a:effectLst/>
                  <a:latin typeface="Times New Roman" panose="02020603050405020304" pitchFamily="18" charset="0"/>
                  <a:ea typeface="Calibri" panose="020F0502020204030204" pitchFamily="34" charset="0"/>
                </a:endParaRPr>
              </a:p>
              <a:p>
                <a:pPr marL="0" indent="0">
                  <a:buNone/>
                </a:pPr>
                <a:r>
                  <a:rPr lang="en-US" sz="1800" dirty="0">
                    <a:effectLst/>
                    <a:latin typeface="Times New Roman" panose="02020603050405020304" pitchFamily="18" charset="0"/>
                    <a:ea typeface="Calibri" panose="020F0502020204030204" pitchFamily="34" charset="0"/>
                  </a:rPr>
                  <a:t>From the mean of </a:t>
                </a:r>
                <a:r>
                  <a:rPr lang="en-US" sz="1800" i="1" dirty="0">
                    <a:effectLst/>
                    <a:latin typeface="Times New Roman" panose="02020603050405020304" pitchFamily="18" charset="0"/>
                    <a:ea typeface="Calibri" panose="020F0502020204030204" pitchFamily="34" charset="0"/>
                  </a:rPr>
                  <a:t>Y</a:t>
                </a:r>
                <a:r>
                  <a:rPr lang="en-US" sz="1800" i="1" baseline="-25000" dirty="0">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at </a:t>
                </a:r>
                <a:r>
                  <a:rPr lang="en-US" sz="1800" i="1" dirty="0" err="1">
                    <a:effectLst/>
                    <a:latin typeface="Times New Roman" panose="02020603050405020304" pitchFamily="18" charset="0"/>
                    <a:ea typeface="Calibri" panose="020F0502020204030204" pitchFamily="34" charset="0"/>
                  </a:rPr>
                  <a:t>X</a:t>
                </a:r>
                <a:r>
                  <a:rPr lang="en-US" sz="1800" i="1" baseline="-25000" dirty="0" err="1">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given its neighbors, the spatial autoregressive model of the number of cases is defined as follows:</a:t>
                </a:r>
                <a:endParaRPr lang="en-US" sz="1800" dirty="0">
                  <a:ea typeface="Calibri" panose="020F0502020204030204" pitchFamily="34" charset="0"/>
                </a:endParaRPr>
              </a:p>
              <a:p>
                <a:pPr marL="0" indent="0">
                  <a:buNone/>
                </a:pPr>
                <a14:m>
                  <m:oMathPara xmlns:m="http://schemas.openxmlformats.org/officeDocument/2006/math">
                    <m:oMathParaPr>
                      <m:jc m:val="right"/>
                    </m:oMathParaPr>
                    <m:oMath xmlns:m="http://schemas.openxmlformats.org/officeDocument/2006/math">
                      <m:sSub>
                        <m:sSubPr>
                          <m:ctrlPr>
                            <a:rPr lang="en-US" sz="1800" i="1" smtClean="0">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rPr>
                          </m:ctrlPr>
                        </m:naryPr>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𝑌</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e>
                      </m:nary>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    (1.7)</m:t>
                      </m:r>
                    </m:oMath>
                  </m:oMathPara>
                </a14:m>
                <a:endParaRPr lang="en-US" sz="1800" dirty="0">
                  <a:effectLst/>
                  <a:latin typeface="Times New Roman" panose="02020603050405020304" pitchFamily="18" charset="0"/>
                  <a:ea typeface="Calibri" panose="020F0502020204030204" pitchFamily="34" charset="0"/>
                </a:endParaRPr>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5E1DC88F-95A4-7EDA-4151-56F58C2ECC88}"/>
                  </a:ext>
                </a:extLst>
              </p:cNvPr>
              <p:cNvSpPr>
                <a:spLocks noGrp="1" noRot="1" noChangeAspect="1" noMove="1" noResize="1" noEditPoints="1" noAdjustHandles="1" noChangeArrowheads="1" noChangeShapeType="1" noTextEdit="1"/>
              </p:cNvSpPr>
              <p:nvPr>
                <p:ph idx="1"/>
              </p:nvPr>
            </p:nvSpPr>
            <p:spPr>
              <a:xfrm>
                <a:off x="253218" y="914399"/>
                <a:ext cx="11648050" cy="5176066"/>
              </a:xfrm>
              <a:blipFill>
                <a:blip r:embed="rId2"/>
                <a:stretch>
                  <a:fillRect l="-471" t="-589" r="-47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5D08C1C-2C4F-D54A-C2DC-CE1C14FB6FFE}"/>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CDC67B19-8535-3CEB-2C18-F31C5BAE6162}"/>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70AABE3C-7CB7-2E38-2A9A-68C00534EFE9}"/>
              </a:ext>
            </a:extLst>
          </p:cNvPr>
          <p:cNvSpPr>
            <a:spLocks noGrp="1"/>
          </p:cNvSpPr>
          <p:nvPr>
            <p:ph type="sldNum" sz="quarter" idx="12"/>
          </p:nvPr>
        </p:nvSpPr>
        <p:spPr/>
        <p:txBody>
          <a:bodyPr/>
          <a:lstStyle/>
          <a:p>
            <a:fld id="{5DB5036F-1FF2-46C4-8D2B-59C7E3B91952}" type="slidenum">
              <a:rPr lang="en-US" smtClean="0"/>
              <a:pPr/>
              <a:t>7</a:t>
            </a:fld>
            <a:endParaRPr lang="en-US"/>
          </a:p>
        </p:txBody>
      </p:sp>
    </p:spTree>
    <p:extLst>
      <p:ext uri="{BB962C8B-B14F-4D97-AF65-F5344CB8AC3E}">
        <p14:creationId xmlns:p14="http://schemas.microsoft.com/office/powerpoint/2010/main" val="3658759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B4274-BA6D-B1B3-B8AC-E754C9AF0472}"/>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A682AF-7215-6C6E-3D3F-B6D7997BD1B0}"/>
                  </a:ext>
                </a:extLst>
              </p:cNvPr>
              <p:cNvSpPr>
                <a:spLocks noGrp="1"/>
              </p:cNvSpPr>
              <p:nvPr>
                <p:ph idx="1"/>
              </p:nvPr>
            </p:nvSpPr>
            <p:spPr/>
            <p:txBody>
              <a:bodyPr>
                <a:noAutofit/>
              </a:bodyPr>
              <a:lstStyle/>
              <a:p>
                <a:pPr marL="0" indent="0">
                  <a:buNone/>
                </a:pPr>
                <a:r>
                  <a:rPr lang="en-US" sz="2100" dirty="0">
                    <a:effectLst/>
                    <a:latin typeface="Times New Roman" panose="02020603050405020304" pitchFamily="18" charset="0"/>
                    <a:ea typeface="Calibri" panose="020F0502020204030204" pitchFamily="34" charset="0"/>
                  </a:rPr>
                  <a:t>The essence of the first step in this research is to estimate all regressive coefficients </a:t>
                </a:r>
                <a:r>
                  <a:rPr lang="en-US" sz="2100" i="1" dirty="0">
                    <a:effectLst/>
                    <a:latin typeface="Times New Roman" panose="02020603050405020304" pitchFamily="18" charset="0"/>
                    <a:ea typeface="Calibri" panose="020F0502020204030204" pitchFamily="34" charset="0"/>
                  </a:rPr>
                  <a:t>α</a:t>
                </a:r>
                <a:r>
                  <a:rPr lang="en-US" sz="2100" i="1" baseline="-25000"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when the effective neighborhood constant </a:t>
                </a:r>
                <a:r>
                  <a:rPr lang="en-US" sz="2100" i="1" dirty="0">
                    <a:effectLst/>
                    <a:latin typeface="Times New Roman" panose="02020603050405020304" pitchFamily="18" charset="0"/>
                    <a:ea typeface="Calibri" panose="020F0502020204030204" pitchFamily="34" charset="0"/>
                  </a:rPr>
                  <a:t>ρ</a:t>
                </a:r>
                <a:r>
                  <a:rPr lang="en-US" sz="2100" dirty="0">
                    <a:effectLst/>
                    <a:latin typeface="Times New Roman" panose="02020603050405020304" pitchFamily="18" charset="0"/>
                    <a:ea typeface="Calibri" panose="020F0502020204030204" pitchFamily="34" charset="0"/>
                  </a:rPr>
                  <a:t> is pre-defined. Let </a:t>
                </a:r>
                <a:r>
                  <a:rPr lang="en-US" sz="2100" b="1" i="1" dirty="0" err="1">
                    <a:effectLst/>
                    <a:latin typeface="Times New Roman" panose="02020603050405020304" pitchFamily="18" charset="0"/>
                    <a:ea typeface="Calibri" panose="020F0502020204030204" pitchFamily="34" charset="0"/>
                  </a:rPr>
                  <a:t>x</a:t>
                </a:r>
                <a:r>
                  <a:rPr lang="en-US" sz="2100" i="1" baseline="-25000" dirty="0" err="1">
                    <a:effectLst/>
                    <a:latin typeface="Times New Roman" panose="02020603050405020304" pitchFamily="18" charset="0"/>
                    <a:ea typeface="Calibri" panose="020F0502020204030204" pitchFamily="34" charset="0"/>
                  </a:rPr>
                  <a:t>s</a:t>
                </a:r>
                <a:r>
                  <a:rPr lang="en-US" sz="2100" baseline="30000" dirty="0">
                    <a:effectLst/>
                    <a:latin typeface="Times New Roman" panose="02020603050405020304" pitchFamily="18" charset="0"/>
                    <a:ea typeface="Calibri" panose="020F0502020204030204" pitchFamily="34" charset="0"/>
                  </a:rPr>
                  <a:t>(</a:t>
                </a:r>
                <a:r>
                  <a:rPr lang="en-US" sz="2100" i="1" baseline="30000" dirty="0" err="1">
                    <a:effectLst/>
                    <a:latin typeface="Times New Roman" panose="02020603050405020304" pitchFamily="18" charset="0"/>
                    <a:ea typeface="Calibri" panose="020F0502020204030204" pitchFamily="34" charset="0"/>
                  </a:rPr>
                  <a:t>i</a:t>
                </a:r>
                <a:r>
                  <a:rPr lang="en-US" sz="2100" baseline="30000" dirty="0">
                    <a:effectLst/>
                    <a:latin typeface="Times New Roman" panose="02020603050405020304" pitchFamily="18" charset="0"/>
                    <a:ea typeface="Calibri" panose="020F0502020204030204" pitchFamily="34" charset="0"/>
                  </a:rPr>
                  <a:t>)</a:t>
                </a:r>
                <a:r>
                  <a:rPr lang="en-US" sz="2100" dirty="0">
                    <a:effectLst/>
                    <a:latin typeface="Times New Roman" panose="02020603050405020304" pitchFamily="18" charset="0"/>
                    <a:ea typeface="Calibri" panose="020F0502020204030204" pitchFamily="34" charset="0"/>
                  </a:rPr>
                  <a:t> be the </a:t>
                </a:r>
                <a:r>
                  <a:rPr lang="en-US" sz="2100" i="1" dirty="0" err="1">
                    <a:effectLst/>
                    <a:latin typeface="Times New Roman" panose="02020603050405020304" pitchFamily="18" charset="0"/>
                    <a:ea typeface="Calibri" panose="020F0502020204030204" pitchFamily="34" charset="0"/>
                  </a:rPr>
                  <a:t>i</a:t>
                </a:r>
                <a:r>
                  <a:rPr lang="en-US" sz="2100" baseline="30000" dirty="0" err="1">
                    <a:effectLst/>
                    <a:latin typeface="Times New Roman" panose="02020603050405020304" pitchFamily="18" charset="0"/>
                    <a:ea typeface="Calibri" panose="020F0502020204030204" pitchFamily="34" charset="0"/>
                  </a:rPr>
                  <a:t>th</a:t>
                </a:r>
                <a:r>
                  <a:rPr lang="en-US" sz="2100" dirty="0">
                    <a:effectLst/>
                    <a:latin typeface="Times New Roman" panose="02020603050405020304" pitchFamily="18" charset="0"/>
                    <a:ea typeface="Calibri" panose="020F0502020204030204" pitchFamily="34" charset="0"/>
                  </a:rPr>
                  <a:t> instance of the vector of environmental feature </a:t>
                </a:r>
                <a:r>
                  <a:rPr lang="en-US" sz="2100" i="1" dirty="0" err="1">
                    <a:effectLst/>
                    <a:latin typeface="Times New Roman" panose="02020603050405020304" pitchFamily="18" charset="0"/>
                    <a:ea typeface="Calibri" panose="020F0502020204030204" pitchFamily="34" charset="0"/>
                  </a:rPr>
                  <a:t>X</a:t>
                </a:r>
                <a:r>
                  <a:rPr lang="en-US" sz="2100" i="1" baseline="-25000" dirty="0" err="1">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at site </a:t>
                </a:r>
                <a:r>
                  <a:rPr lang="en-US" sz="2100" i="1"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Let </a:t>
                </a:r>
                <a:r>
                  <a:rPr lang="en-US" sz="2100" i="1" dirty="0" err="1">
                    <a:effectLst/>
                    <a:latin typeface="Times New Roman" panose="02020603050405020304" pitchFamily="18" charset="0"/>
                    <a:ea typeface="Calibri" panose="020F0502020204030204" pitchFamily="34" charset="0"/>
                  </a:rPr>
                  <a:t>y</a:t>
                </a:r>
                <a:r>
                  <a:rPr lang="en-US" sz="2100" i="1" baseline="-25000" dirty="0" err="1">
                    <a:effectLst/>
                    <a:latin typeface="Times New Roman" panose="02020603050405020304" pitchFamily="18" charset="0"/>
                    <a:ea typeface="Calibri" panose="020F0502020204030204" pitchFamily="34" charset="0"/>
                  </a:rPr>
                  <a:t>s</a:t>
                </a:r>
                <a:r>
                  <a:rPr lang="en-US" sz="2100" baseline="30000" dirty="0">
                    <a:effectLst/>
                    <a:latin typeface="Times New Roman" panose="02020603050405020304" pitchFamily="18" charset="0"/>
                    <a:ea typeface="Calibri" panose="020F0502020204030204" pitchFamily="34" charset="0"/>
                  </a:rPr>
                  <a:t>(</a:t>
                </a:r>
                <a:r>
                  <a:rPr lang="en-US" sz="2100" i="1" baseline="30000" dirty="0" err="1">
                    <a:effectLst/>
                    <a:latin typeface="Times New Roman" panose="02020603050405020304" pitchFamily="18" charset="0"/>
                    <a:ea typeface="Calibri" panose="020F0502020204030204" pitchFamily="34" charset="0"/>
                  </a:rPr>
                  <a:t>i</a:t>
                </a:r>
                <a:r>
                  <a:rPr lang="en-US" sz="2100" baseline="30000" dirty="0">
                    <a:effectLst/>
                    <a:latin typeface="Times New Roman" panose="02020603050405020304" pitchFamily="18" charset="0"/>
                    <a:ea typeface="Calibri" panose="020F0502020204030204" pitchFamily="34" charset="0"/>
                  </a:rPr>
                  <a:t>)</a:t>
                </a:r>
                <a:r>
                  <a:rPr lang="en-US" sz="2100" dirty="0">
                    <a:effectLst/>
                    <a:latin typeface="Times New Roman" panose="02020603050405020304" pitchFamily="18" charset="0"/>
                    <a:ea typeface="Calibri" panose="020F0502020204030204" pitchFamily="34" charset="0"/>
                  </a:rPr>
                  <a:t> be the </a:t>
                </a:r>
                <a:r>
                  <a:rPr lang="en-US" sz="2100" i="1" dirty="0" err="1">
                    <a:effectLst/>
                    <a:latin typeface="Times New Roman" panose="02020603050405020304" pitchFamily="18" charset="0"/>
                    <a:ea typeface="Calibri" panose="020F0502020204030204" pitchFamily="34" charset="0"/>
                  </a:rPr>
                  <a:t>i</a:t>
                </a:r>
                <a:r>
                  <a:rPr lang="en-US" sz="2100" baseline="30000" dirty="0" err="1">
                    <a:effectLst/>
                    <a:latin typeface="Times New Roman" panose="02020603050405020304" pitchFamily="18" charset="0"/>
                    <a:ea typeface="Calibri" panose="020F0502020204030204" pitchFamily="34" charset="0"/>
                  </a:rPr>
                  <a:t>th</a:t>
                </a:r>
                <a:r>
                  <a:rPr lang="en-US" sz="2100" dirty="0">
                    <a:effectLst/>
                    <a:latin typeface="Times New Roman" panose="02020603050405020304" pitchFamily="18" charset="0"/>
                    <a:ea typeface="Calibri" panose="020F0502020204030204" pitchFamily="34" charset="0"/>
                  </a:rPr>
                  <a:t> instance of </a:t>
                </a:r>
                <a:r>
                  <a:rPr lang="en-US" sz="2100" i="1" dirty="0">
                    <a:effectLst/>
                    <a:latin typeface="Times New Roman" panose="02020603050405020304" pitchFamily="18" charset="0"/>
                    <a:ea typeface="Calibri" panose="020F0502020204030204" pitchFamily="34" charset="0"/>
                  </a:rPr>
                  <a:t>Y</a:t>
                </a:r>
                <a:r>
                  <a:rPr lang="en-US" sz="2100" i="1" baseline="-25000"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at site </a:t>
                </a:r>
                <a:r>
                  <a:rPr lang="en-US" sz="2100" i="1"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Let </a:t>
                </a:r>
                <a:r>
                  <a:rPr lang="en-US" sz="2100" b="1" i="1" dirty="0" err="1">
                    <a:effectLst/>
                    <a:latin typeface="Times New Roman" panose="02020603050405020304" pitchFamily="18" charset="0"/>
                    <a:ea typeface="Calibri" panose="020F0502020204030204" pitchFamily="34" charset="0"/>
                  </a:rPr>
                  <a:t>X</a:t>
                </a:r>
                <a:r>
                  <a:rPr lang="en-US" sz="2100" i="1" baseline="-25000" dirty="0" err="1">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be the set of </a:t>
                </a:r>
                <a:r>
                  <a:rPr lang="en-US" sz="2100" i="1" dirty="0">
                    <a:effectLst/>
                    <a:latin typeface="Times New Roman" panose="02020603050405020304" pitchFamily="18" charset="0"/>
                    <a:ea typeface="Calibri" panose="020F0502020204030204" pitchFamily="34" charset="0"/>
                  </a:rPr>
                  <a:t>N</a:t>
                </a:r>
                <a:r>
                  <a:rPr lang="en-US" sz="2100" i="1" baseline="-25000"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instances </a:t>
                </a:r>
                <a:r>
                  <a:rPr lang="en-US" sz="2100" b="1" i="1" dirty="0" err="1">
                    <a:effectLst/>
                    <a:latin typeface="Times New Roman" panose="02020603050405020304" pitchFamily="18" charset="0"/>
                    <a:ea typeface="Calibri" panose="020F0502020204030204" pitchFamily="34" charset="0"/>
                  </a:rPr>
                  <a:t>x</a:t>
                </a:r>
                <a:r>
                  <a:rPr lang="en-US" sz="2100" i="1" baseline="-25000" dirty="0" err="1">
                    <a:effectLst/>
                    <a:latin typeface="Times New Roman" panose="02020603050405020304" pitchFamily="18" charset="0"/>
                    <a:ea typeface="Calibri" panose="020F0502020204030204" pitchFamily="34" charset="0"/>
                  </a:rPr>
                  <a:t>s</a:t>
                </a:r>
                <a:r>
                  <a:rPr lang="en-US" sz="2100" baseline="30000" dirty="0">
                    <a:effectLst/>
                    <a:latin typeface="Times New Roman" panose="02020603050405020304" pitchFamily="18" charset="0"/>
                    <a:ea typeface="Calibri" panose="020F0502020204030204" pitchFamily="34" charset="0"/>
                  </a:rPr>
                  <a:t>(</a:t>
                </a:r>
                <a:r>
                  <a:rPr lang="en-US" sz="2100" i="1" baseline="30000" dirty="0" err="1">
                    <a:effectLst/>
                    <a:latin typeface="Times New Roman" panose="02020603050405020304" pitchFamily="18" charset="0"/>
                    <a:ea typeface="Calibri" panose="020F0502020204030204" pitchFamily="34" charset="0"/>
                  </a:rPr>
                  <a:t>i</a:t>
                </a:r>
                <a:r>
                  <a:rPr lang="en-US" sz="2100" baseline="30000" dirty="0">
                    <a:effectLst/>
                    <a:latin typeface="Times New Roman" panose="02020603050405020304" pitchFamily="18" charset="0"/>
                    <a:ea typeface="Calibri" panose="020F0502020204030204" pitchFamily="34" charset="0"/>
                  </a:rPr>
                  <a:t>)</a:t>
                </a:r>
                <a:r>
                  <a:rPr lang="en-US" sz="2100" dirty="0">
                    <a:effectLst/>
                    <a:latin typeface="Times New Roman" panose="02020603050405020304" pitchFamily="18" charset="0"/>
                    <a:ea typeface="Calibri" panose="020F0502020204030204" pitchFamily="34" charset="0"/>
                  </a:rPr>
                  <a:t> and let </a:t>
                </a:r>
                <a:r>
                  <a:rPr lang="en-US" sz="2100" b="1" i="1" dirty="0">
                    <a:effectLst/>
                    <a:latin typeface="Times New Roman" panose="02020603050405020304" pitchFamily="18" charset="0"/>
                    <a:ea typeface="Calibri" panose="020F0502020204030204" pitchFamily="34" charset="0"/>
                  </a:rPr>
                  <a:t>Y</a:t>
                </a:r>
                <a:r>
                  <a:rPr lang="en-US" sz="2100" i="1" baseline="-25000"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be the set of </a:t>
                </a:r>
                <a:r>
                  <a:rPr lang="en-US" sz="2100" i="1" dirty="0">
                    <a:effectLst/>
                    <a:latin typeface="Times New Roman" panose="02020603050405020304" pitchFamily="18" charset="0"/>
                    <a:ea typeface="Calibri" panose="020F0502020204030204" pitchFamily="34" charset="0"/>
                  </a:rPr>
                  <a:t>N</a:t>
                </a:r>
                <a:r>
                  <a:rPr lang="en-US" sz="2100" i="1" baseline="-25000"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instances </a:t>
                </a:r>
                <a:r>
                  <a:rPr lang="en-US" sz="2100" i="1" dirty="0">
                    <a:effectLst/>
                    <a:latin typeface="Times New Roman" panose="02020603050405020304" pitchFamily="18" charset="0"/>
                    <a:ea typeface="Calibri" panose="020F0502020204030204" pitchFamily="34" charset="0"/>
                  </a:rPr>
                  <a:t>y</a:t>
                </a:r>
                <a:r>
                  <a:rPr lang="en-US" sz="2100" baseline="30000" dirty="0">
                    <a:effectLst/>
                    <a:latin typeface="Times New Roman" panose="02020603050405020304" pitchFamily="18" charset="0"/>
                    <a:ea typeface="Calibri" panose="020F0502020204030204" pitchFamily="34" charset="0"/>
                  </a:rPr>
                  <a:t>(</a:t>
                </a:r>
                <a:r>
                  <a:rPr lang="en-US" sz="2100" i="1" baseline="30000" dirty="0" err="1">
                    <a:effectLst/>
                    <a:latin typeface="Times New Roman" panose="02020603050405020304" pitchFamily="18" charset="0"/>
                    <a:ea typeface="Calibri" panose="020F0502020204030204" pitchFamily="34" charset="0"/>
                  </a:rPr>
                  <a:t>i</a:t>
                </a:r>
                <a:r>
                  <a:rPr lang="en-US" sz="2100" baseline="30000" dirty="0">
                    <a:effectLst/>
                    <a:latin typeface="Times New Roman" panose="02020603050405020304" pitchFamily="18" charset="0"/>
                    <a:ea typeface="Calibri" panose="020F0502020204030204" pitchFamily="34" charset="0"/>
                  </a:rPr>
                  <a:t>)</a:t>
                </a:r>
                <a:r>
                  <a:rPr lang="en-US" sz="2100" dirty="0">
                    <a:effectLst/>
                    <a:latin typeface="Times New Roman" panose="02020603050405020304" pitchFamily="18" charset="0"/>
                    <a:ea typeface="Calibri" panose="020F0502020204030204" pitchFamily="34" charset="0"/>
                  </a:rPr>
                  <a:t>. Each site </a:t>
                </a:r>
                <a:r>
                  <a:rPr lang="en-US" sz="2100" i="1"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owns one dataset (</a:t>
                </a:r>
                <a:r>
                  <a:rPr lang="en-US" sz="2100" b="1" i="1" dirty="0" err="1">
                    <a:effectLst/>
                    <a:latin typeface="Times New Roman" panose="02020603050405020304" pitchFamily="18" charset="0"/>
                    <a:ea typeface="Calibri" panose="020F0502020204030204" pitchFamily="34" charset="0"/>
                  </a:rPr>
                  <a:t>X</a:t>
                </a:r>
                <a:r>
                  <a:rPr lang="en-US" sz="2100" i="1" baseline="-25000" dirty="0" err="1">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 </a:t>
                </a:r>
                <a:r>
                  <a:rPr lang="en-US" sz="2100" b="1" i="1" dirty="0">
                    <a:effectLst/>
                    <a:latin typeface="Times New Roman" panose="02020603050405020304" pitchFamily="18" charset="0"/>
                    <a:ea typeface="Calibri" panose="020F0502020204030204" pitchFamily="34" charset="0"/>
                  </a:rPr>
                  <a:t>Y</a:t>
                </a:r>
                <a:r>
                  <a:rPr lang="en-US" sz="2100" i="1" baseline="-25000" dirty="0">
                    <a:effectLst/>
                    <a:latin typeface="Times New Roman" panose="02020603050405020304" pitchFamily="18" charset="0"/>
                    <a:ea typeface="Calibri" panose="020F0502020204030204" pitchFamily="34" charset="0"/>
                  </a:rPr>
                  <a:t>s</a:t>
                </a:r>
                <a:r>
                  <a:rPr lang="en-US" sz="2100" dirty="0">
                    <a:effectLst/>
                    <a:latin typeface="Times New Roman" panose="02020603050405020304" pitchFamily="18" charset="0"/>
                    <a:ea typeface="Calibri" panose="020F0502020204030204" pitchFamily="34" charset="0"/>
                  </a:rPr>
                  <a:t>).</a:t>
                </a:r>
              </a:p>
              <a:p>
                <a:pPr marL="0" indent="0">
                  <a:buNone/>
                </a:pPr>
                <a14:m>
                  <m:oMathPara xmlns:m="http://schemas.openxmlformats.org/officeDocument/2006/math">
                    <m:oMathParaPr>
                      <m:jc m:val="right"/>
                    </m:oMathParaPr>
                    <m:oMath xmlns:m="http://schemas.openxmlformats.org/officeDocument/2006/math">
                      <m:m>
                        <m:mPr>
                          <m:mcs>
                            <m:mc>
                              <m:mcPr>
                                <m:count m:val="1"/>
                                <m:mcJc m:val="center"/>
                              </m:mcPr>
                            </m:mc>
                          </m:mcs>
                          <m:ctrlPr>
                            <a:rPr lang="en-US" sz="2100" i="1" smtClean="0">
                              <a:effectLst/>
                              <a:latin typeface="Cambria Math" panose="02040503050406030204" pitchFamily="18" charset="0"/>
                              <a:cs typeface="Times New Roman" panose="02020603050405020304" pitchFamily="18" charset="0"/>
                            </a:rPr>
                          </m:ctrlPr>
                        </m:mPr>
                        <m:mr>
                          <m:e>
                            <m:sSub>
                              <m:sSubPr>
                                <m:ctrlPr>
                                  <a:rPr lang="en-US" sz="2100" b="1" i="1">
                                    <a:latin typeface="Cambria Math" panose="02040503050406030204" pitchFamily="18" charset="0"/>
                                    <a:ea typeface="Calibri" panose="020F0502020204030204" pitchFamily="34" charset="0"/>
                                  </a:rPr>
                                </m:ctrlPr>
                              </m:sSubPr>
                              <m:e>
                                <m:r>
                                  <a:rPr lang="en-US" sz="2100" b="1" i="1">
                                    <a:latin typeface="Cambria Math" panose="02040503050406030204" pitchFamily="18" charset="0"/>
                                    <a:ea typeface="Calibri" panose="020F0502020204030204" pitchFamily="34" charset="0"/>
                                  </a:rPr>
                                  <m:t>𝑿</m:t>
                                </m:r>
                              </m:e>
                              <m:sub>
                                <m:r>
                                  <a:rPr lang="en-US" sz="2100" i="1">
                                    <a:latin typeface="Cambria Math" panose="02040503050406030204" pitchFamily="18" charset="0"/>
                                    <a:ea typeface="Calibri" panose="020F0502020204030204" pitchFamily="34" charset="0"/>
                                  </a:rPr>
                                  <m:t>𝑠</m:t>
                                </m:r>
                              </m:sub>
                            </m:sSub>
                            <m:r>
                              <a:rPr lang="en-US" sz="2100">
                                <a:latin typeface="Cambria Math" panose="02040503050406030204" pitchFamily="18" charset="0"/>
                                <a:ea typeface="Calibri" panose="020F0502020204030204" pitchFamily="34" charset="0"/>
                              </a:rPr>
                              <m:t>=</m:t>
                            </m:r>
                            <m:d>
                              <m:dPr>
                                <m:ctrlPr>
                                  <a:rPr lang="en-US" sz="2100" i="1">
                                    <a:latin typeface="Cambria Math" panose="02040503050406030204" pitchFamily="18" charset="0"/>
                                    <a:ea typeface="Calibri" panose="020F0502020204030204" pitchFamily="34" charset="0"/>
                                  </a:rPr>
                                </m:ctrlPr>
                              </m:dPr>
                              <m:e>
                                <m:m>
                                  <m:mPr>
                                    <m:mcs>
                                      <m:mc>
                                        <m:mcPr>
                                          <m:count m:val="1"/>
                                          <m:mcJc m:val="center"/>
                                        </m:mcPr>
                                      </m:mc>
                                    </m:mcs>
                                    <m:ctrlPr>
                                      <a:rPr lang="en-US" sz="2100" i="1">
                                        <a:latin typeface="Cambria Math" panose="02040503050406030204" pitchFamily="18" charset="0"/>
                                        <a:ea typeface="Calibri" panose="020F0502020204030204" pitchFamily="34" charset="0"/>
                                      </a:rPr>
                                    </m:ctrlPr>
                                  </m:mPr>
                                  <m:mr>
                                    <m:e>
                                      <m:sSup>
                                        <m:sSupPr>
                                          <m:ctrlPr>
                                            <a:rPr lang="en-US" sz="2100" i="1">
                                              <a:latin typeface="Cambria Math" panose="02040503050406030204" pitchFamily="18" charset="0"/>
                                              <a:ea typeface="Calibri" panose="020F0502020204030204" pitchFamily="34" charset="0"/>
                                            </a:rPr>
                                          </m:ctrlPr>
                                        </m:sSupPr>
                                        <m:e>
                                          <m:d>
                                            <m:dPr>
                                              <m:ctrlPr>
                                                <a:rPr lang="en-US" sz="2100" i="1">
                                                  <a:latin typeface="Cambria Math" panose="02040503050406030204" pitchFamily="18" charset="0"/>
                                                  <a:ea typeface="Calibri" panose="020F0502020204030204" pitchFamily="34" charset="0"/>
                                                </a:rPr>
                                              </m:ctrlPr>
                                            </m:dPr>
                                            <m:e>
                                              <m:sSubSup>
                                                <m:sSubSupPr>
                                                  <m:ctrlPr>
                                                    <a:rPr lang="en-US" sz="2100" i="1">
                                                      <a:latin typeface="Cambria Math" panose="02040503050406030204" pitchFamily="18" charset="0"/>
                                                      <a:ea typeface="Calibri" panose="020F0502020204030204" pitchFamily="34" charset="0"/>
                                                    </a:rPr>
                                                  </m:ctrlPr>
                                                </m:sSubSupPr>
                                                <m:e>
                                                  <m:r>
                                                    <a:rPr lang="en-US" sz="2100" b="1" i="1">
                                                      <a:latin typeface="Cambria Math" panose="02040503050406030204" pitchFamily="18" charset="0"/>
                                                      <a:ea typeface="Calibri" panose="020F0502020204030204" pitchFamily="34" charset="0"/>
                                                    </a:rPr>
                                                    <m:t>𝒙</m:t>
                                                  </m:r>
                                                </m:e>
                                                <m:sub>
                                                  <m:r>
                                                    <a:rPr lang="en-US" sz="2100" i="1">
                                                      <a:latin typeface="Cambria Math" panose="02040503050406030204" pitchFamily="18" charset="0"/>
                                                      <a:ea typeface="Calibri" panose="020F0502020204030204" pitchFamily="34" charset="0"/>
                                                    </a:rPr>
                                                    <m:t>𝑠</m:t>
                                                  </m:r>
                                                </m:sub>
                                                <m:sup>
                                                  <m:d>
                                                    <m:dPr>
                                                      <m:ctrlPr>
                                                        <a:rPr lang="en-US" sz="2100" i="1">
                                                          <a:latin typeface="Cambria Math" panose="02040503050406030204" pitchFamily="18" charset="0"/>
                                                          <a:ea typeface="Calibri" panose="020F0502020204030204" pitchFamily="34" charset="0"/>
                                                        </a:rPr>
                                                      </m:ctrlPr>
                                                    </m:dPr>
                                                    <m:e>
                                                      <m:r>
                                                        <a:rPr lang="en-US" sz="2100" i="1">
                                                          <a:latin typeface="Cambria Math" panose="02040503050406030204" pitchFamily="18" charset="0"/>
                                                          <a:ea typeface="Calibri" panose="020F0502020204030204" pitchFamily="34" charset="0"/>
                                                        </a:rPr>
                                                        <m:t>1</m:t>
                                                      </m:r>
                                                    </m:e>
                                                  </m:d>
                                                </m:sup>
                                              </m:sSubSup>
                                            </m:e>
                                          </m:d>
                                        </m:e>
                                        <m:sup>
                                          <m:r>
                                            <a:rPr lang="en-US" sz="2100" i="1">
                                              <a:latin typeface="Cambria Math" panose="02040503050406030204" pitchFamily="18" charset="0"/>
                                              <a:ea typeface="Calibri" panose="020F0502020204030204" pitchFamily="34" charset="0"/>
                                            </a:rPr>
                                            <m:t>𝑇</m:t>
                                          </m:r>
                                        </m:sup>
                                      </m:sSup>
                                    </m:e>
                                  </m:mr>
                                  <m:mr>
                                    <m:e>
                                      <m:sSup>
                                        <m:sSupPr>
                                          <m:ctrlPr>
                                            <a:rPr lang="en-US" sz="2100" i="1">
                                              <a:latin typeface="Cambria Math" panose="02040503050406030204" pitchFamily="18" charset="0"/>
                                              <a:ea typeface="Calibri" panose="020F0502020204030204" pitchFamily="34" charset="0"/>
                                            </a:rPr>
                                          </m:ctrlPr>
                                        </m:sSupPr>
                                        <m:e>
                                          <m:d>
                                            <m:dPr>
                                              <m:ctrlPr>
                                                <a:rPr lang="en-US" sz="2100" i="1">
                                                  <a:latin typeface="Cambria Math" panose="02040503050406030204" pitchFamily="18" charset="0"/>
                                                  <a:ea typeface="Calibri" panose="020F0502020204030204" pitchFamily="34" charset="0"/>
                                                </a:rPr>
                                              </m:ctrlPr>
                                            </m:dPr>
                                            <m:e>
                                              <m:sSubSup>
                                                <m:sSubSupPr>
                                                  <m:ctrlPr>
                                                    <a:rPr lang="en-US" sz="2100" i="1">
                                                      <a:latin typeface="Cambria Math" panose="02040503050406030204" pitchFamily="18" charset="0"/>
                                                      <a:ea typeface="Calibri" panose="020F0502020204030204" pitchFamily="34" charset="0"/>
                                                    </a:rPr>
                                                  </m:ctrlPr>
                                                </m:sSubSupPr>
                                                <m:e>
                                                  <m:r>
                                                    <a:rPr lang="en-US" sz="2100" b="1" i="1">
                                                      <a:latin typeface="Cambria Math" panose="02040503050406030204" pitchFamily="18" charset="0"/>
                                                      <a:ea typeface="Calibri" panose="020F0502020204030204" pitchFamily="34" charset="0"/>
                                                    </a:rPr>
                                                    <m:t>𝒙</m:t>
                                                  </m:r>
                                                </m:e>
                                                <m:sub>
                                                  <m:r>
                                                    <a:rPr lang="en-US" sz="2100" i="1">
                                                      <a:latin typeface="Cambria Math" panose="02040503050406030204" pitchFamily="18" charset="0"/>
                                                      <a:ea typeface="Calibri" panose="020F0502020204030204" pitchFamily="34" charset="0"/>
                                                    </a:rPr>
                                                    <m:t>𝑠</m:t>
                                                  </m:r>
                                                </m:sub>
                                                <m:sup>
                                                  <m:d>
                                                    <m:dPr>
                                                      <m:ctrlPr>
                                                        <a:rPr lang="en-US" sz="2100" i="1">
                                                          <a:latin typeface="Cambria Math" panose="02040503050406030204" pitchFamily="18" charset="0"/>
                                                          <a:ea typeface="Calibri" panose="020F0502020204030204" pitchFamily="34" charset="0"/>
                                                        </a:rPr>
                                                      </m:ctrlPr>
                                                    </m:dPr>
                                                    <m:e>
                                                      <m:r>
                                                        <a:rPr lang="en-US" sz="2100" i="1">
                                                          <a:latin typeface="Cambria Math" panose="02040503050406030204" pitchFamily="18" charset="0"/>
                                                          <a:ea typeface="Calibri" panose="020F0502020204030204" pitchFamily="34" charset="0"/>
                                                        </a:rPr>
                                                        <m:t>2</m:t>
                                                      </m:r>
                                                    </m:e>
                                                  </m:d>
                                                </m:sup>
                                              </m:sSubSup>
                                            </m:e>
                                          </m:d>
                                        </m:e>
                                        <m:sup>
                                          <m:r>
                                            <a:rPr lang="en-US" sz="2100" i="1">
                                              <a:latin typeface="Cambria Math" panose="02040503050406030204" pitchFamily="18" charset="0"/>
                                              <a:ea typeface="Calibri" panose="020F0502020204030204" pitchFamily="34" charset="0"/>
                                            </a:rPr>
                                            <m:t>𝑇</m:t>
                                          </m:r>
                                        </m:sup>
                                      </m:sSup>
                                    </m:e>
                                  </m:mr>
                                  <m:mr>
                                    <m:e>
                                      <m:r>
                                        <a:rPr lang="en-US" sz="2100">
                                          <a:latin typeface="Cambria Math" panose="02040503050406030204" pitchFamily="18" charset="0"/>
                                          <a:ea typeface="Calibri" panose="020F0502020204030204" pitchFamily="34" charset="0"/>
                                        </a:rPr>
                                        <m:t>⋮</m:t>
                                      </m:r>
                                    </m:e>
                                  </m:mr>
                                  <m:mr>
                                    <m:e>
                                      <m:sSup>
                                        <m:sSupPr>
                                          <m:ctrlPr>
                                            <a:rPr lang="en-US" sz="2100" i="1">
                                              <a:latin typeface="Cambria Math" panose="02040503050406030204" pitchFamily="18" charset="0"/>
                                              <a:ea typeface="Calibri" panose="020F0502020204030204" pitchFamily="34" charset="0"/>
                                            </a:rPr>
                                          </m:ctrlPr>
                                        </m:sSupPr>
                                        <m:e>
                                          <m:d>
                                            <m:dPr>
                                              <m:ctrlPr>
                                                <a:rPr lang="en-US" sz="2100" i="1">
                                                  <a:latin typeface="Cambria Math" panose="02040503050406030204" pitchFamily="18" charset="0"/>
                                                  <a:ea typeface="Calibri" panose="020F0502020204030204" pitchFamily="34" charset="0"/>
                                                </a:rPr>
                                              </m:ctrlPr>
                                            </m:dPr>
                                            <m:e>
                                              <m:sSubSup>
                                                <m:sSubSupPr>
                                                  <m:ctrlPr>
                                                    <a:rPr lang="en-US" sz="2100" i="1">
                                                      <a:latin typeface="Cambria Math" panose="02040503050406030204" pitchFamily="18" charset="0"/>
                                                      <a:ea typeface="Calibri" panose="020F0502020204030204" pitchFamily="34" charset="0"/>
                                                    </a:rPr>
                                                  </m:ctrlPr>
                                                </m:sSubSupPr>
                                                <m:e>
                                                  <m:r>
                                                    <a:rPr lang="en-US" sz="2100" b="1" i="1">
                                                      <a:latin typeface="Cambria Math" panose="02040503050406030204" pitchFamily="18" charset="0"/>
                                                      <a:ea typeface="Calibri" panose="020F0502020204030204" pitchFamily="34" charset="0"/>
                                                    </a:rPr>
                                                    <m:t>𝒙</m:t>
                                                  </m:r>
                                                </m:e>
                                                <m:sub>
                                                  <m:r>
                                                    <a:rPr lang="en-US" sz="2100" i="1">
                                                      <a:latin typeface="Cambria Math" panose="02040503050406030204" pitchFamily="18" charset="0"/>
                                                      <a:ea typeface="Calibri" panose="020F0502020204030204" pitchFamily="34" charset="0"/>
                                                    </a:rPr>
                                                    <m:t>𝑠</m:t>
                                                  </m:r>
                                                </m:sub>
                                                <m:sup>
                                                  <m:d>
                                                    <m:dPr>
                                                      <m:ctrlPr>
                                                        <a:rPr lang="en-US" sz="2100" i="1">
                                                          <a:latin typeface="Cambria Math" panose="02040503050406030204" pitchFamily="18" charset="0"/>
                                                          <a:ea typeface="Calibri" panose="020F0502020204030204" pitchFamily="34" charset="0"/>
                                                        </a:rPr>
                                                      </m:ctrlPr>
                                                    </m:dPr>
                                                    <m:e>
                                                      <m:sSub>
                                                        <m:sSubPr>
                                                          <m:ctrlPr>
                                                            <a:rPr lang="en-US" sz="2100" i="1">
                                                              <a:latin typeface="Cambria Math" panose="02040503050406030204" pitchFamily="18" charset="0"/>
                                                              <a:ea typeface="Calibri" panose="020F0502020204030204" pitchFamily="34" charset="0"/>
                                                            </a:rPr>
                                                          </m:ctrlPr>
                                                        </m:sSubPr>
                                                        <m:e>
                                                          <m:r>
                                                            <a:rPr lang="en-US" sz="2100" i="1">
                                                              <a:latin typeface="Cambria Math" panose="02040503050406030204" pitchFamily="18" charset="0"/>
                                                              <a:ea typeface="Calibri" panose="020F0502020204030204" pitchFamily="34" charset="0"/>
                                                            </a:rPr>
                                                            <m:t>𝑁</m:t>
                                                          </m:r>
                                                        </m:e>
                                                        <m:sub>
                                                          <m:r>
                                                            <a:rPr lang="en-US" sz="2100" i="1">
                                                              <a:latin typeface="Cambria Math" panose="02040503050406030204" pitchFamily="18" charset="0"/>
                                                              <a:ea typeface="Calibri" panose="020F0502020204030204" pitchFamily="34" charset="0"/>
                                                            </a:rPr>
                                                            <m:t>𝑠</m:t>
                                                          </m:r>
                                                        </m:sub>
                                                      </m:sSub>
                                                    </m:e>
                                                  </m:d>
                                                </m:sup>
                                              </m:sSubSup>
                                            </m:e>
                                          </m:d>
                                        </m:e>
                                        <m:sup>
                                          <m:r>
                                            <a:rPr lang="en-US" sz="2100" i="1">
                                              <a:latin typeface="Cambria Math" panose="02040503050406030204" pitchFamily="18" charset="0"/>
                                              <a:ea typeface="Calibri" panose="020F0502020204030204" pitchFamily="34" charset="0"/>
                                            </a:rPr>
                                            <m:t>𝑇</m:t>
                                          </m:r>
                                        </m:sup>
                                      </m:sSup>
                                    </m:e>
                                  </m:mr>
                                </m:m>
                              </m:e>
                            </m:d>
                            <m:r>
                              <a:rPr lang="en-US" sz="2100">
                                <a:latin typeface="Cambria Math" panose="02040503050406030204" pitchFamily="18" charset="0"/>
                                <a:ea typeface="Calibri" panose="020F0502020204030204" pitchFamily="34" charset="0"/>
                              </a:rPr>
                              <m:t>=</m:t>
                            </m:r>
                            <m:d>
                              <m:dPr>
                                <m:ctrlPr>
                                  <a:rPr lang="en-US" sz="2100" i="1">
                                    <a:latin typeface="Cambria Math" panose="02040503050406030204" pitchFamily="18" charset="0"/>
                                    <a:ea typeface="Calibri" panose="020F0502020204030204" pitchFamily="34" charset="0"/>
                                  </a:rPr>
                                </m:ctrlPr>
                              </m:dPr>
                              <m:e>
                                <m:m>
                                  <m:mPr>
                                    <m:mcs>
                                      <m:mc>
                                        <m:mcPr>
                                          <m:count m:val="5"/>
                                          <m:mcJc m:val="center"/>
                                        </m:mcPr>
                                      </m:mc>
                                    </m:mcs>
                                    <m:ctrlPr>
                                      <a:rPr lang="en-US" sz="2100" i="1">
                                        <a:latin typeface="Cambria Math" panose="02040503050406030204" pitchFamily="18" charset="0"/>
                                        <a:ea typeface="Calibri" panose="020F0502020204030204" pitchFamily="34" charset="0"/>
                                      </a:rPr>
                                    </m:ctrlPr>
                                  </m:mPr>
                                  <m:mr>
                                    <m:e>
                                      <m:r>
                                        <a:rPr lang="en-US" sz="2100">
                                          <a:latin typeface="Cambria Math" panose="02040503050406030204" pitchFamily="18" charset="0"/>
                                          <a:ea typeface="Calibri" panose="020F0502020204030204" pitchFamily="34" charset="0"/>
                                        </a:rPr>
                                        <m:t>1</m:t>
                                      </m:r>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1</m:t>
                                          </m:r>
                                        </m:sub>
                                        <m:sup>
                                          <m:d>
                                            <m:dPr>
                                              <m:ctrlPr>
                                                <a:rPr lang="en-US" sz="2100" i="1">
                                                  <a:latin typeface="Cambria Math" panose="02040503050406030204" pitchFamily="18" charset="0"/>
                                                  <a:ea typeface="Calibri" panose="020F0502020204030204" pitchFamily="34" charset="0"/>
                                                </a:rPr>
                                              </m:ctrlPr>
                                            </m:dPr>
                                            <m:e>
                                              <m:r>
                                                <a:rPr lang="en-US" sz="2100" i="1">
                                                  <a:latin typeface="Cambria Math" panose="02040503050406030204" pitchFamily="18" charset="0"/>
                                                  <a:ea typeface="Calibri" panose="020F0502020204030204" pitchFamily="34" charset="0"/>
                                                </a:rPr>
                                                <m:t>1</m:t>
                                              </m:r>
                                            </m:e>
                                          </m:d>
                                        </m:sup>
                                      </m:sSubSup>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2</m:t>
                                          </m:r>
                                        </m:sub>
                                        <m:sup>
                                          <m:d>
                                            <m:dPr>
                                              <m:ctrlPr>
                                                <a:rPr lang="en-US" sz="2100" i="1">
                                                  <a:latin typeface="Cambria Math" panose="02040503050406030204" pitchFamily="18" charset="0"/>
                                                  <a:ea typeface="Calibri" panose="020F0502020204030204" pitchFamily="34" charset="0"/>
                                                </a:rPr>
                                              </m:ctrlPr>
                                            </m:dPr>
                                            <m:e>
                                              <m:r>
                                                <a:rPr lang="en-US" sz="2100" i="1">
                                                  <a:latin typeface="Cambria Math" panose="02040503050406030204" pitchFamily="18" charset="0"/>
                                                  <a:ea typeface="Calibri" panose="020F0502020204030204" pitchFamily="34" charset="0"/>
                                                </a:rPr>
                                                <m:t>1</m:t>
                                              </m:r>
                                            </m:e>
                                          </m:d>
                                        </m:sup>
                                      </m:sSubSup>
                                    </m:e>
                                    <m:e>
                                      <m:r>
                                        <a:rPr lang="en-US" sz="2100">
                                          <a:latin typeface="Cambria Math" panose="02040503050406030204" pitchFamily="18" charset="0"/>
                                          <a:ea typeface="Calibri" panose="020F0502020204030204" pitchFamily="34" charset="0"/>
                                        </a:rPr>
                                        <m:t>⋯</m:t>
                                      </m:r>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𝑠𝑛</m:t>
                                          </m:r>
                                        </m:sub>
                                        <m:sup>
                                          <m:d>
                                            <m:dPr>
                                              <m:ctrlPr>
                                                <a:rPr lang="en-US" sz="2100" i="1">
                                                  <a:latin typeface="Cambria Math" panose="02040503050406030204" pitchFamily="18" charset="0"/>
                                                  <a:ea typeface="Calibri" panose="020F0502020204030204" pitchFamily="34" charset="0"/>
                                                </a:rPr>
                                              </m:ctrlPr>
                                            </m:dPr>
                                            <m:e>
                                              <m:r>
                                                <a:rPr lang="en-US" sz="2100" i="1">
                                                  <a:latin typeface="Cambria Math" panose="02040503050406030204" pitchFamily="18" charset="0"/>
                                                  <a:ea typeface="Calibri" panose="020F0502020204030204" pitchFamily="34" charset="0"/>
                                                </a:rPr>
                                                <m:t>1</m:t>
                                              </m:r>
                                            </m:e>
                                          </m:d>
                                        </m:sup>
                                      </m:sSubSup>
                                    </m:e>
                                  </m:mr>
                                  <m:mr>
                                    <m:e>
                                      <m:r>
                                        <a:rPr lang="en-US" sz="2100">
                                          <a:latin typeface="Cambria Math" panose="02040503050406030204" pitchFamily="18" charset="0"/>
                                          <a:ea typeface="Cambria Math" panose="02040503050406030204" pitchFamily="18" charset="0"/>
                                        </a:rPr>
                                        <m:t>1</m:t>
                                      </m:r>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1</m:t>
                                          </m:r>
                                        </m:sub>
                                        <m:sup>
                                          <m:d>
                                            <m:dPr>
                                              <m:ctrlPr>
                                                <a:rPr lang="en-US" sz="2100" i="1">
                                                  <a:latin typeface="Cambria Math" panose="02040503050406030204" pitchFamily="18" charset="0"/>
                                                  <a:ea typeface="Calibri" panose="020F0502020204030204" pitchFamily="34" charset="0"/>
                                                </a:rPr>
                                              </m:ctrlPr>
                                            </m:dPr>
                                            <m:e>
                                              <m:r>
                                                <a:rPr lang="en-US" sz="2100" i="1">
                                                  <a:latin typeface="Cambria Math" panose="02040503050406030204" pitchFamily="18" charset="0"/>
                                                  <a:ea typeface="Calibri" panose="020F0502020204030204" pitchFamily="34" charset="0"/>
                                                </a:rPr>
                                                <m:t>2</m:t>
                                              </m:r>
                                            </m:e>
                                          </m:d>
                                        </m:sup>
                                      </m:sSubSup>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2</m:t>
                                          </m:r>
                                        </m:sub>
                                        <m:sup>
                                          <m:d>
                                            <m:dPr>
                                              <m:ctrlPr>
                                                <a:rPr lang="en-US" sz="2100" i="1">
                                                  <a:latin typeface="Cambria Math" panose="02040503050406030204" pitchFamily="18" charset="0"/>
                                                  <a:ea typeface="Calibri" panose="020F0502020204030204" pitchFamily="34" charset="0"/>
                                                </a:rPr>
                                              </m:ctrlPr>
                                            </m:dPr>
                                            <m:e>
                                              <m:r>
                                                <a:rPr lang="en-US" sz="2100" i="1">
                                                  <a:latin typeface="Cambria Math" panose="02040503050406030204" pitchFamily="18" charset="0"/>
                                                  <a:ea typeface="Calibri" panose="020F0502020204030204" pitchFamily="34" charset="0"/>
                                                </a:rPr>
                                                <m:t>2</m:t>
                                              </m:r>
                                            </m:e>
                                          </m:d>
                                        </m:sup>
                                      </m:sSubSup>
                                    </m:e>
                                    <m:e>
                                      <m:r>
                                        <a:rPr lang="en-US" sz="2100">
                                          <a:latin typeface="Cambria Math" panose="02040503050406030204" pitchFamily="18" charset="0"/>
                                          <a:ea typeface="Cambria Math" panose="02040503050406030204" pitchFamily="18" charset="0"/>
                                        </a:rPr>
                                        <m:t>⋯</m:t>
                                      </m:r>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𝑠𝑛</m:t>
                                          </m:r>
                                        </m:sub>
                                        <m:sup>
                                          <m:d>
                                            <m:dPr>
                                              <m:ctrlPr>
                                                <a:rPr lang="en-US" sz="2100" i="1">
                                                  <a:latin typeface="Cambria Math" panose="02040503050406030204" pitchFamily="18" charset="0"/>
                                                  <a:ea typeface="Calibri" panose="020F0502020204030204" pitchFamily="34" charset="0"/>
                                                </a:rPr>
                                              </m:ctrlPr>
                                            </m:dPr>
                                            <m:e>
                                              <m:r>
                                                <a:rPr lang="en-US" sz="2100" i="1">
                                                  <a:latin typeface="Cambria Math" panose="02040503050406030204" pitchFamily="18" charset="0"/>
                                                  <a:ea typeface="Calibri" panose="020F0502020204030204" pitchFamily="34" charset="0"/>
                                                </a:rPr>
                                                <m:t>2</m:t>
                                              </m:r>
                                            </m:e>
                                          </m:d>
                                        </m:sup>
                                      </m:sSubSup>
                                    </m:e>
                                  </m:mr>
                                  <m:mr>
                                    <m:e>
                                      <m:r>
                                        <a:rPr lang="en-US" sz="2100">
                                          <a:latin typeface="Cambria Math" panose="02040503050406030204" pitchFamily="18" charset="0"/>
                                          <a:ea typeface="Cambria Math" panose="02040503050406030204" pitchFamily="18" charset="0"/>
                                        </a:rPr>
                                        <m:t>⋮</m:t>
                                      </m:r>
                                    </m:e>
                                    <m:e>
                                      <m:r>
                                        <a:rPr lang="en-US" sz="2100">
                                          <a:latin typeface="Cambria Math" panose="02040503050406030204" pitchFamily="18" charset="0"/>
                                          <a:ea typeface="Calibri" panose="020F0502020204030204" pitchFamily="34" charset="0"/>
                                        </a:rPr>
                                        <m:t>⋮</m:t>
                                      </m:r>
                                    </m:e>
                                    <m:e>
                                      <m:r>
                                        <a:rPr lang="en-US" sz="2100">
                                          <a:latin typeface="Cambria Math" panose="02040503050406030204" pitchFamily="18" charset="0"/>
                                          <a:ea typeface="Calibri" panose="020F0502020204030204" pitchFamily="34" charset="0"/>
                                        </a:rPr>
                                        <m:t>⋮</m:t>
                                      </m:r>
                                    </m:e>
                                    <m:e>
                                      <m:r>
                                        <a:rPr lang="en-US" sz="2100">
                                          <a:latin typeface="Cambria Math" panose="02040503050406030204" pitchFamily="18" charset="0"/>
                                          <a:ea typeface="Calibri" panose="020F0502020204030204" pitchFamily="34" charset="0"/>
                                        </a:rPr>
                                        <m:t>⋱</m:t>
                                      </m:r>
                                    </m:e>
                                    <m:e>
                                      <m:r>
                                        <a:rPr lang="en-US" sz="2100">
                                          <a:latin typeface="Cambria Math" panose="02040503050406030204" pitchFamily="18" charset="0"/>
                                          <a:ea typeface="Cambria Math" panose="02040503050406030204" pitchFamily="18" charset="0"/>
                                        </a:rPr>
                                        <m:t>⋮</m:t>
                                      </m:r>
                                    </m:e>
                                  </m:mr>
                                  <m:mr>
                                    <m:e>
                                      <m:r>
                                        <a:rPr lang="en-US" sz="2100">
                                          <a:latin typeface="Cambria Math" panose="02040503050406030204" pitchFamily="18" charset="0"/>
                                          <a:ea typeface="Cambria Math" panose="02040503050406030204" pitchFamily="18" charset="0"/>
                                        </a:rPr>
                                        <m:t>1</m:t>
                                      </m:r>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1</m:t>
                                          </m:r>
                                        </m:sub>
                                        <m:sup>
                                          <m:d>
                                            <m:dPr>
                                              <m:ctrlPr>
                                                <a:rPr lang="en-US" sz="2100" i="1">
                                                  <a:latin typeface="Cambria Math" panose="02040503050406030204" pitchFamily="18" charset="0"/>
                                                  <a:ea typeface="Calibri" panose="020F0502020204030204" pitchFamily="34" charset="0"/>
                                                </a:rPr>
                                              </m:ctrlPr>
                                            </m:dPr>
                                            <m:e>
                                              <m:sSub>
                                                <m:sSubPr>
                                                  <m:ctrlPr>
                                                    <a:rPr lang="en-US" sz="2100" i="1">
                                                      <a:latin typeface="Cambria Math" panose="02040503050406030204" pitchFamily="18" charset="0"/>
                                                      <a:ea typeface="Calibri" panose="020F0502020204030204" pitchFamily="34" charset="0"/>
                                                    </a:rPr>
                                                  </m:ctrlPr>
                                                </m:sSubPr>
                                                <m:e>
                                                  <m:r>
                                                    <a:rPr lang="en-US" sz="2100" i="1">
                                                      <a:latin typeface="Cambria Math" panose="02040503050406030204" pitchFamily="18" charset="0"/>
                                                      <a:ea typeface="Calibri" panose="020F0502020204030204" pitchFamily="34" charset="0"/>
                                                    </a:rPr>
                                                    <m:t>𝑁</m:t>
                                                  </m:r>
                                                </m:e>
                                                <m:sub>
                                                  <m:r>
                                                    <a:rPr lang="en-US" sz="2100" i="1">
                                                      <a:latin typeface="Cambria Math" panose="02040503050406030204" pitchFamily="18" charset="0"/>
                                                      <a:ea typeface="Calibri" panose="020F0502020204030204" pitchFamily="34" charset="0"/>
                                                    </a:rPr>
                                                    <m:t>𝑠</m:t>
                                                  </m:r>
                                                </m:sub>
                                              </m:sSub>
                                            </m:e>
                                          </m:d>
                                        </m:sup>
                                      </m:sSubSup>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2</m:t>
                                          </m:r>
                                        </m:sub>
                                        <m:sup>
                                          <m:d>
                                            <m:dPr>
                                              <m:ctrlPr>
                                                <a:rPr lang="en-US" sz="2100" i="1">
                                                  <a:latin typeface="Cambria Math" panose="02040503050406030204" pitchFamily="18" charset="0"/>
                                                  <a:ea typeface="Calibri" panose="020F0502020204030204" pitchFamily="34" charset="0"/>
                                                </a:rPr>
                                              </m:ctrlPr>
                                            </m:dPr>
                                            <m:e>
                                              <m:sSub>
                                                <m:sSubPr>
                                                  <m:ctrlPr>
                                                    <a:rPr lang="en-US" sz="2100" i="1">
                                                      <a:latin typeface="Cambria Math" panose="02040503050406030204" pitchFamily="18" charset="0"/>
                                                      <a:ea typeface="Calibri" panose="020F0502020204030204" pitchFamily="34" charset="0"/>
                                                    </a:rPr>
                                                  </m:ctrlPr>
                                                </m:sSubPr>
                                                <m:e>
                                                  <m:r>
                                                    <a:rPr lang="en-US" sz="2100" i="1">
                                                      <a:latin typeface="Cambria Math" panose="02040503050406030204" pitchFamily="18" charset="0"/>
                                                      <a:ea typeface="Calibri" panose="020F0502020204030204" pitchFamily="34" charset="0"/>
                                                    </a:rPr>
                                                    <m:t>𝑁</m:t>
                                                  </m:r>
                                                </m:e>
                                                <m:sub>
                                                  <m:r>
                                                    <a:rPr lang="en-US" sz="2100" i="1">
                                                      <a:latin typeface="Cambria Math" panose="02040503050406030204" pitchFamily="18" charset="0"/>
                                                      <a:ea typeface="Calibri" panose="020F0502020204030204" pitchFamily="34" charset="0"/>
                                                    </a:rPr>
                                                    <m:t>𝑠</m:t>
                                                  </m:r>
                                                </m:sub>
                                              </m:sSub>
                                            </m:e>
                                          </m:d>
                                        </m:sup>
                                      </m:sSubSup>
                                    </m:e>
                                    <m:e>
                                      <m:r>
                                        <a:rPr lang="en-US" sz="2100">
                                          <a:latin typeface="Cambria Math" panose="02040503050406030204" pitchFamily="18" charset="0"/>
                                          <a:ea typeface="Cambria Math" panose="02040503050406030204" pitchFamily="18" charset="0"/>
                                        </a:rPr>
                                        <m:t>⋯</m:t>
                                      </m:r>
                                    </m:e>
                                    <m:e>
                                      <m:sSubSup>
                                        <m:sSubSupPr>
                                          <m:ctrlPr>
                                            <a:rPr lang="en-US" sz="2100" i="1">
                                              <a:latin typeface="Cambria Math" panose="02040503050406030204" pitchFamily="18" charset="0"/>
                                              <a:ea typeface="Calibri" panose="020F0502020204030204" pitchFamily="34"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𝑠𝑛</m:t>
                                          </m:r>
                                        </m:sub>
                                        <m:sup>
                                          <m:d>
                                            <m:dPr>
                                              <m:ctrlPr>
                                                <a:rPr lang="en-US" sz="2100" i="1">
                                                  <a:latin typeface="Cambria Math" panose="02040503050406030204" pitchFamily="18" charset="0"/>
                                                  <a:ea typeface="Calibri" panose="020F0502020204030204" pitchFamily="34" charset="0"/>
                                                </a:rPr>
                                              </m:ctrlPr>
                                            </m:dPr>
                                            <m:e>
                                              <m:sSub>
                                                <m:sSubPr>
                                                  <m:ctrlPr>
                                                    <a:rPr lang="en-US" sz="2100" i="1">
                                                      <a:latin typeface="Cambria Math" panose="02040503050406030204" pitchFamily="18" charset="0"/>
                                                      <a:ea typeface="Calibri" panose="020F0502020204030204" pitchFamily="34" charset="0"/>
                                                    </a:rPr>
                                                  </m:ctrlPr>
                                                </m:sSubPr>
                                                <m:e>
                                                  <m:r>
                                                    <a:rPr lang="en-US" sz="2100" i="1">
                                                      <a:latin typeface="Cambria Math" panose="02040503050406030204" pitchFamily="18" charset="0"/>
                                                      <a:ea typeface="Calibri" panose="020F0502020204030204" pitchFamily="34" charset="0"/>
                                                    </a:rPr>
                                                    <m:t>𝑁</m:t>
                                                  </m:r>
                                                </m:e>
                                                <m:sub>
                                                  <m:r>
                                                    <a:rPr lang="en-US" sz="2100" i="1">
                                                      <a:latin typeface="Cambria Math" panose="02040503050406030204" pitchFamily="18" charset="0"/>
                                                      <a:ea typeface="Calibri" panose="020F0502020204030204" pitchFamily="34" charset="0"/>
                                                    </a:rPr>
                                                    <m:t>𝑠</m:t>
                                                  </m:r>
                                                </m:sub>
                                              </m:sSub>
                                            </m:e>
                                          </m:d>
                                        </m:sup>
                                      </m:sSubSup>
                                    </m:e>
                                  </m:mr>
                                </m:m>
                              </m:e>
                            </m:d>
                          </m:e>
                        </m:mr>
                        <m:mr>
                          <m:e>
                            <m:sSubSup>
                              <m:sSubSupPr>
                                <m:ctrlPr>
                                  <a:rPr lang="en-US" sz="2100" i="1">
                                    <a:latin typeface="Cambria Math" panose="02040503050406030204" pitchFamily="18" charset="0"/>
                                  </a:rPr>
                                </m:ctrlPr>
                              </m:sSubSupPr>
                              <m:e>
                                <m:r>
                                  <a:rPr lang="en-US" sz="2100" b="1" i="1">
                                    <a:latin typeface="Cambria Math" panose="02040503050406030204" pitchFamily="18" charset="0"/>
                                    <a:ea typeface="Calibri" panose="020F0502020204030204" pitchFamily="34" charset="0"/>
                                  </a:rPr>
                                  <m:t>𝒙</m:t>
                                </m:r>
                              </m:e>
                              <m:sub>
                                <m:r>
                                  <a:rPr lang="en-US" sz="2100" i="1">
                                    <a:latin typeface="Cambria Math" panose="02040503050406030204" pitchFamily="18" charset="0"/>
                                    <a:ea typeface="Calibri" panose="020F0502020204030204" pitchFamily="34" charset="0"/>
                                  </a:rPr>
                                  <m:t>𝑠</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𝑖</m:t>
                                    </m:r>
                                  </m:e>
                                </m:d>
                              </m:sup>
                            </m:sSubSup>
                            <m:r>
                              <a:rPr lang="en-US" sz="2100">
                                <a:latin typeface="Cambria Math" panose="02040503050406030204" pitchFamily="18" charset="0"/>
                                <a:ea typeface="Calibri" panose="020F0502020204030204" pitchFamily="34" charset="0"/>
                              </a:rPr>
                              <m:t>=</m:t>
                            </m:r>
                            <m:d>
                              <m:dPr>
                                <m:ctrlPr>
                                  <a:rPr lang="en-US" sz="2100" i="1">
                                    <a:latin typeface="Cambria Math" panose="02040503050406030204" pitchFamily="18" charset="0"/>
                                  </a:rPr>
                                </m:ctrlPr>
                              </m:dPr>
                              <m:e>
                                <m:m>
                                  <m:mPr>
                                    <m:mcs>
                                      <m:mc>
                                        <m:mcPr>
                                          <m:count m:val="1"/>
                                          <m:mcJc m:val="center"/>
                                        </m:mcPr>
                                      </m:mc>
                                    </m:mcs>
                                    <m:ctrlPr>
                                      <a:rPr lang="en-US" sz="2100" i="1">
                                        <a:latin typeface="Cambria Math" panose="02040503050406030204" pitchFamily="18" charset="0"/>
                                      </a:rPr>
                                    </m:ctrlPr>
                                  </m:mPr>
                                  <m:mr>
                                    <m:e>
                                      <m:r>
                                        <a:rPr lang="en-US" sz="2100">
                                          <a:latin typeface="Cambria Math" panose="02040503050406030204" pitchFamily="18" charset="0"/>
                                          <a:ea typeface="Calibri" panose="020F0502020204030204" pitchFamily="34" charset="0"/>
                                        </a:rPr>
                                        <m:t>1</m:t>
                                      </m:r>
                                    </m:e>
                                  </m:m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1</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𝑖</m:t>
                                              </m:r>
                                            </m:e>
                                          </m:d>
                                        </m:sup>
                                      </m:sSubSup>
                                    </m:e>
                                  </m:m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2</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𝑖</m:t>
                                              </m:r>
                                            </m:e>
                                          </m:d>
                                        </m:sup>
                                      </m:sSubSup>
                                    </m:e>
                                  </m:mr>
                                  <m:mr>
                                    <m:e>
                                      <m:r>
                                        <a:rPr lang="en-US" sz="2100">
                                          <a:latin typeface="Cambria Math" panose="02040503050406030204" pitchFamily="18" charset="0"/>
                                          <a:ea typeface="Calibri" panose="020F0502020204030204" pitchFamily="34" charset="0"/>
                                        </a:rPr>
                                        <m:t>⋮</m:t>
                                      </m:r>
                                    </m:e>
                                  </m:m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𝑠𝑛</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𝑖</m:t>
                                              </m:r>
                                            </m:e>
                                          </m:d>
                                        </m:sup>
                                      </m:sSubSup>
                                    </m:e>
                                  </m:mr>
                                </m:m>
                              </m:e>
                            </m:d>
                            <m:r>
                              <a:rPr lang="en-US" sz="2100">
                                <a:latin typeface="Cambria Math" panose="02040503050406030204" pitchFamily="18" charset="0"/>
                                <a:ea typeface="Calibri" panose="020F0502020204030204" pitchFamily="34" charset="0"/>
                              </a:rPr>
                              <m:t>,</m:t>
                            </m:r>
                            <m:sSubSup>
                              <m:sSubSupPr>
                                <m:ctrlPr>
                                  <a:rPr lang="en-US" sz="2100" i="1">
                                    <a:latin typeface="Cambria Math" panose="02040503050406030204" pitchFamily="18" charset="0"/>
                                  </a:rPr>
                                </m:ctrlPr>
                              </m:sSubSupPr>
                              <m:e>
                                <m:r>
                                  <a:rPr lang="en-US" sz="2100" b="1" i="1">
                                    <a:latin typeface="Cambria Math" panose="02040503050406030204" pitchFamily="18" charset="0"/>
                                    <a:ea typeface="Calibri" panose="020F0502020204030204" pitchFamily="34" charset="0"/>
                                  </a:rPr>
                                  <m:t>𝒙</m:t>
                                </m:r>
                              </m:e>
                              <m:sub>
                                <m:r>
                                  <a:rPr lang="en-US" sz="2100" i="1">
                                    <a:latin typeface="Cambria Math" panose="02040503050406030204" pitchFamily="18" charset="0"/>
                                    <a:ea typeface="Calibri" panose="020F0502020204030204" pitchFamily="34" charset="0"/>
                                  </a:rPr>
                                  <m:t>𝑠</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𝑗</m:t>
                                    </m:r>
                                  </m:e>
                                </m:d>
                              </m:sup>
                            </m:sSubSup>
                            <m:r>
                              <a:rPr lang="en-US" sz="2100">
                                <a:latin typeface="Cambria Math" panose="02040503050406030204" pitchFamily="18" charset="0"/>
                                <a:ea typeface="Calibri" panose="020F0502020204030204" pitchFamily="34" charset="0"/>
                              </a:rPr>
                              <m:t>=</m:t>
                            </m:r>
                            <m:d>
                              <m:dPr>
                                <m:ctrlPr>
                                  <a:rPr lang="en-US" sz="2100" i="1">
                                    <a:latin typeface="Cambria Math" panose="02040503050406030204" pitchFamily="18" charset="0"/>
                                  </a:rPr>
                                </m:ctrlPr>
                              </m:dPr>
                              <m:e>
                                <m:m>
                                  <m:mPr>
                                    <m:mcs>
                                      <m:mc>
                                        <m:mcPr>
                                          <m:count m:val="1"/>
                                          <m:mcJc m:val="center"/>
                                        </m:mcPr>
                                      </m:mc>
                                    </m:mcs>
                                    <m:ctrlPr>
                                      <a:rPr lang="en-US" sz="2100" i="1">
                                        <a:latin typeface="Cambria Math" panose="02040503050406030204" pitchFamily="18" charset="0"/>
                                      </a:rPr>
                                    </m:ctrlPr>
                                  </m:mPr>
                                  <m:mr>
                                    <m:e>
                                      <m:r>
                                        <a:rPr lang="en-US" sz="2100">
                                          <a:latin typeface="Cambria Math" panose="02040503050406030204" pitchFamily="18" charset="0"/>
                                          <a:ea typeface="Calibri" panose="020F0502020204030204" pitchFamily="34" charset="0"/>
                                        </a:rPr>
                                        <m:t>1</m:t>
                                      </m:r>
                                    </m:e>
                                  </m:m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1</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𝑗</m:t>
                                              </m:r>
                                            </m:e>
                                          </m:d>
                                        </m:sup>
                                      </m:sSubSup>
                                    </m:e>
                                  </m:m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m:t>
                                          </m:r>
                                          <m:r>
                                            <a:rPr lang="en-US" sz="2100" i="1">
                                              <a:latin typeface="Cambria Math" panose="02040503050406030204" pitchFamily="18" charset="0"/>
                                              <a:ea typeface="Calibri" panose="020F0502020204030204" pitchFamily="34" charset="0"/>
                                            </a:rPr>
                                            <m:t>2</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𝑗</m:t>
                                              </m:r>
                                            </m:e>
                                          </m:d>
                                        </m:sup>
                                      </m:sSubSup>
                                    </m:e>
                                  </m:mr>
                                  <m:mr>
                                    <m:e>
                                      <m:r>
                                        <a:rPr lang="en-US" sz="2100">
                                          <a:latin typeface="Cambria Math" panose="02040503050406030204" pitchFamily="18" charset="0"/>
                                          <a:ea typeface="Calibri" panose="020F0502020204030204" pitchFamily="34" charset="0"/>
                                        </a:rPr>
                                        <m:t>⋮</m:t>
                                      </m:r>
                                    </m:e>
                                  </m:m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𝑥</m:t>
                                          </m:r>
                                        </m:e>
                                        <m:sub>
                                          <m:r>
                                            <a:rPr lang="en-US" sz="2100" i="1">
                                              <a:latin typeface="Cambria Math" panose="02040503050406030204" pitchFamily="18" charset="0"/>
                                              <a:ea typeface="Calibri" panose="020F0502020204030204" pitchFamily="34" charset="0"/>
                                            </a:rPr>
                                            <m:t>𝑠𝑛</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𝑗</m:t>
                                              </m:r>
                                            </m:e>
                                          </m:d>
                                        </m:sup>
                                      </m:sSubSup>
                                    </m:e>
                                  </m:mr>
                                </m:m>
                              </m:e>
                            </m:d>
                            <m:r>
                              <a:rPr lang="en-US" sz="2100" i="1">
                                <a:latin typeface="Cambria Math" panose="02040503050406030204" pitchFamily="18" charset="0"/>
                                <a:ea typeface="Calibri" panose="020F0502020204030204" pitchFamily="34" charset="0"/>
                              </a:rPr>
                              <m:t>,</m:t>
                            </m:r>
                            <m:sSub>
                              <m:sSubPr>
                                <m:ctrlPr>
                                  <a:rPr lang="en-US" sz="2100" b="1" i="1">
                                    <a:latin typeface="Cambria Math" panose="02040503050406030204" pitchFamily="18" charset="0"/>
                                  </a:rPr>
                                </m:ctrlPr>
                              </m:sSubPr>
                              <m:e>
                                <m:r>
                                  <a:rPr lang="en-US" sz="2100" b="1" i="1">
                                    <a:latin typeface="Cambria Math" panose="02040503050406030204" pitchFamily="18" charset="0"/>
                                    <a:ea typeface="Calibri" panose="020F0502020204030204" pitchFamily="34" charset="0"/>
                                  </a:rPr>
                                  <m:t>𝒚</m:t>
                                </m:r>
                              </m:e>
                              <m:sub>
                                <m:r>
                                  <a:rPr lang="en-US" sz="2100" i="1">
                                    <a:latin typeface="Cambria Math" panose="02040503050406030204" pitchFamily="18" charset="0"/>
                                    <a:ea typeface="Calibri" panose="020F0502020204030204" pitchFamily="34" charset="0"/>
                                  </a:rPr>
                                  <m:t>𝑠</m:t>
                                </m:r>
                              </m:sub>
                            </m:sSub>
                            <m:r>
                              <a:rPr lang="en-US" sz="2100">
                                <a:latin typeface="Cambria Math" panose="02040503050406030204" pitchFamily="18" charset="0"/>
                                <a:ea typeface="Calibri" panose="020F0502020204030204" pitchFamily="34" charset="0"/>
                              </a:rPr>
                              <m:t>=</m:t>
                            </m:r>
                            <m:d>
                              <m:dPr>
                                <m:ctrlPr>
                                  <a:rPr lang="en-US" sz="2100" i="1">
                                    <a:latin typeface="Cambria Math" panose="02040503050406030204" pitchFamily="18" charset="0"/>
                                  </a:rPr>
                                </m:ctrlPr>
                              </m:dPr>
                              <m:e>
                                <m:m>
                                  <m:mPr>
                                    <m:mcs>
                                      <m:mc>
                                        <m:mcPr>
                                          <m:count m:val="1"/>
                                          <m:mcJc m:val="center"/>
                                        </m:mcPr>
                                      </m:mc>
                                    </m:mcs>
                                    <m:ctrlPr>
                                      <a:rPr lang="en-US" sz="2100" i="1">
                                        <a:latin typeface="Cambria Math" panose="02040503050406030204" pitchFamily="18" charset="0"/>
                                      </a:rPr>
                                    </m:ctrlPr>
                                  </m:mP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𝑦</m:t>
                                          </m:r>
                                        </m:e>
                                        <m:sub>
                                          <m:r>
                                            <a:rPr lang="en-US" sz="2100" i="1">
                                              <a:latin typeface="Cambria Math" panose="02040503050406030204" pitchFamily="18" charset="0"/>
                                              <a:ea typeface="Calibri" panose="020F0502020204030204" pitchFamily="34" charset="0"/>
                                            </a:rPr>
                                            <m:t>𝑠</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1</m:t>
                                              </m:r>
                                            </m:e>
                                          </m:d>
                                        </m:sup>
                                      </m:sSubSup>
                                    </m:e>
                                  </m:m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𝑦</m:t>
                                          </m:r>
                                        </m:e>
                                        <m:sub>
                                          <m:r>
                                            <a:rPr lang="en-US" sz="2100" i="1">
                                              <a:latin typeface="Cambria Math" panose="02040503050406030204" pitchFamily="18" charset="0"/>
                                              <a:ea typeface="Calibri" panose="020F0502020204030204" pitchFamily="34" charset="0"/>
                                            </a:rPr>
                                            <m:t>𝑠</m:t>
                                          </m:r>
                                        </m:sub>
                                        <m:sup>
                                          <m:d>
                                            <m:dPr>
                                              <m:ctrlPr>
                                                <a:rPr lang="en-US" sz="2100" i="1">
                                                  <a:latin typeface="Cambria Math" panose="02040503050406030204" pitchFamily="18" charset="0"/>
                                                </a:rPr>
                                              </m:ctrlPr>
                                            </m:dPr>
                                            <m:e>
                                              <m:r>
                                                <a:rPr lang="en-US" sz="2100" i="1">
                                                  <a:latin typeface="Cambria Math" panose="02040503050406030204" pitchFamily="18" charset="0"/>
                                                  <a:ea typeface="Calibri" panose="020F0502020204030204" pitchFamily="34" charset="0"/>
                                                </a:rPr>
                                                <m:t>2</m:t>
                                              </m:r>
                                            </m:e>
                                          </m:d>
                                        </m:sup>
                                      </m:sSubSup>
                                    </m:e>
                                  </m:mr>
                                  <m:mr>
                                    <m:e>
                                      <m:r>
                                        <a:rPr lang="en-US" sz="2100">
                                          <a:latin typeface="Cambria Math" panose="02040503050406030204" pitchFamily="18" charset="0"/>
                                          <a:ea typeface="Calibri" panose="020F0502020204030204" pitchFamily="34" charset="0"/>
                                        </a:rPr>
                                        <m:t>⋮</m:t>
                                      </m:r>
                                    </m:e>
                                  </m:mr>
                                  <m:mr>
                                    <m:e>
                                      <m:sSubSup>
                                        <m:sSubSupPr>
                                          <m:ctrlPr>
                                            <a:rPr lang="en-US" sz="2100" i="1">
                                              <a:latin typeface="Cambria Math" panose="02040503050406030204" pitchFamily="18" charset="0"/>
                                            </a:rPr>
                                          </m:ctrlPr>
                                        </m:sSubSupPr>
                                        <m:e>
                                          <m:r>
                                            <a:rPr lang="en-US" sz="2100" i="1">
                                              <a:latin typeface="Cambria Math" panose="02040503050406030204" pitchFamily="18" charset="0"/>
                                              <a:ea typeface="Calibri" panose="020F0502020204030204" pitchFamily="34" charset="0"/>
                                            </a:rPr>
                                            <m:t>𝑦</m:t>
                                          </m:r>
                                        </m:e>
                                        <m:sub>
                                          <m:r>
                                            <a:rPr lang="en-US" sz="2100" i="1">
                                              <a:latin typeface="Cambria Math" panose="02040503050406030204" pitchFamily="18" charset="0"/>
                                              <a:ea typeface="Calibri" panose="020F0502020204030204" pitchFamily="34" charset="0"/>
                                            </a:rPr>
                                            <m:t>𝑠</m:t>
                                          </m:r>
                                        </m:sub>
                                        <m:sup>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i="1">
                                                      <a:latin typeface="Cambria Math" panose="02040503050406030204" pitchFamily="18" charset="0"/>
                                                      <a:ea typeface="Calibri" panose="020F0502020204030204" pitchFamily="34" charset="0"/>
                                                    </a:rPr>
                                                    <m:t>𝑁</m:t>
                                                  </m:r>
                                                </m:e>
                                                <m:sub>
                                                  <m:r>
                                                    <a:rPr lang="en-US" sz="2100" i="1">
                                                      <a:latin typeface="Cambria Math" panose="02040503050406030204" pitchFamily="18" charset="0"/>
                                                      <a:ea typeface="Calibri" panose="020F0502020204030204" pitchFamily="34" charset="0"/>
                                                    </a:rPr>
                                                    <m:t>𝑠</m:t>
                                                  </m:r>
                                                </m:sub>
                                              </m:sSub>
                                            </m:e>
                                          </m:d>
                                        </m:sup>
                                      </m:sSubSup>
                                    </m:e>
                                  </m:mr>
                                </m:m>
                              </m:e>
                            </m:d>
                          </m:e>
                        </m:mr>
                      </m:m>
                      <m:r>
                        <a:rPr lang="en-US" sz="2100" b="0" i="1" smtClean="0">
                          <a:effectLst/>
                          <a:latin typeface="Cambria Math" panose="02040503050406030204" pitchFamily="18" charset="0"/>
                          <a:cs typeface="Times New Roman" panose="02020603050405020304" pitchFamily="18" charset="0"/>
                        </a:rPr>
                        <m:t>    (1.8)</m:t>
                      </m:r>
                    </m:oMath>
                  </m:oMathPara>
                </a14:m>
                <a:endParaRPr lang="en-US" sz="2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2100" dirty="0"/>
              </a:p>
            </p:txBody>
          </p:sp>
        </mc:Choice>
        <mc:Fallback xmlns="">
          <p:sp>
            <p:nvSpPr>
              <p:cNvPr id="3" name="Content Placeholder 2">
                <a:extLst>
                  <a:ext uri="{FF2B5EF4-FFF2-40B4-BE49-F238E27FC236}">
                    <a16:creationId xmlns:a16="http://schemas.microsoft.com/office/drawing/2014/main" id="{3FA682AF-7215-6C6E-3D3F-B6D7997BD1B0}"/>
                  </a:ext>
                </a:extLst>
              </p:cNvPr>
              <p:cNvSpPr>
                <a:spLocks noGrp="1" noRot="1" noChangeAspect="1" noMove="1" noResize="1" noEditPoints="1" noAdjustHandles="1" noChangeArrowheads="1" noChangeShapeType="1" noTextEdit="1"/>
              </p:cNvSpPr>
              <p:nvPr>
                <p:ph idx="1"/>
              </p:nvPr>
            </p:nvSpPr>
            <p:spPr>
              <a:blipFill>
                <a:blip r:embed="rId2"/>
                <a:stretch>
                  <a:fillRect l="-696" t="-707" r="-63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BFCA901-BFB1-0F94-C059-C7269CD8FD76}"/>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1DEF39B9-F858-27FB-8D52-379488F69212}"/>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F35423EF-242A-1239-6A02-61EBFED044AE}"/>
              </a:ext>
            </a:extLst>
          </p:cNvPr>
          <p:cNvSpPr>
            <a:spLocks noGrp="1"/>
          </p:cNvSpPr>
          <p:nvPr>
            <p:ph type="sldNum" sz="quarter" idx="12"/>
          </p:nvPr>
        </p:nvSpPr>
        <p:spPr/>
        <p:txBody>
          <a:bodyPr/>
          <a:lstStyle/>
          <a:p>
            <a:fld id="{5DB5036F-1FF2-46C4-8D2B-59C7E3B91952}" type="slidenum">
              <a:rPr lang="en-US" smtClean="0"/>
              <a:pPr/>
              <a:t>8</a:t>
            </a:fld>
            <a:endParaRPr lang="en-US"/>
          </a:p>
        </p:txBody>
      </p:sp>
    </p:spTree>
    <p:extLst>
      <p:ext uri="{BB962C8B-B14F-4D97-AF65-F5344CB8AC3E}">
        <p14:creationId xmlns:p14="http://schemas.microsoft.com/office/powerpoint/2010/main" val="96821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7809F-2BBB-82DC-AD32-39984E295937}"/>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97002E-935C-8D28-454D-92E93E06F28F}"/>
                  </a:ext>
                </a:extLst>
              </p:cNvPr>
              <p:cNvSpPr>
                <a:spLocks noGrp="1"/>
              </p:cNvSpPr>
              <p:nvPr>
                <p:ph idx="1"/>
              </p:nvPr>
            </p:nvSpPr>
            <p:spPr>
              <a:xfrm>
                <a:off x="422031" y="914399"/>
                <a:ext cx="11296357" cy="5176066"/>
              </a:xfrm>
            </p:spPr>
            <p:txBody>
              <a:bodyPr>
                <a:noAutofit/>
              </a:bodyPr>
              <a:lstStyle/>
              <a:p>
                <a:pPr marL="0" marR="0" indent="0" algn="just">
                  <a:spcBef>
                    <a:spcPts val="0"/>
                  </a:spcBef>
                  <a:spcAft>
                    <a:spcPts val="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Let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X</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be the sets of all site dataset </a:t>
                </a:r>
                <a:r>
                  <a:rPr lang="en-US" sz="2000" b="1"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respectively. Let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σ</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be the sets of all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and all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σ</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respectively. The joint probability of the global dataset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X</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is:</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b="1" i="1">
                              <a:effectLst/>
                              <a:latin typeface="Cambria Math" panose="02040503050406030204" pitchFamily="18" charset="0"/>
                              <a:ea typeface="Calibri" panose="020F0502020204030204" pitchFamily="34" charset="0"/>
                              <a:cs typeface="Times New Roman" panose="02020603050405020304" pitchFamily="18" charset="0"/>
                            </a:rPr>
                            <m:t>𝑿</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b="1" i="1">
                              <a:effectLst/>
                              <a:latin typeface="Cambria Math" panose="02040503050406030204" pitchFamily="18" charset="0"/>
                              <a:ea typeface="Calibri" panose="020F0502020204030204" pitchFamily="34" charset="0"/>
                              <a:cs typeface="Times New Roman" panose="02020603050405020304" pitchFamily="18" charset="0"/>
                            </a:rPr>
                            <m:t>𝒀</m:t>
                          </m:r>
                        </m:e>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20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d>
                            <m:dPr>
                              <m:begChr m:val="|"/>
                              <m:end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𝑆</m:t>
                              </m:r>
                            </m:e>
                          </m:d>
                        </m:sup>
                        <m:e>
                          <m:r>
                            <a:rPr lang="en-US" sz="2000" i="1">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bSup>
                            </m:e>
                          </m:d>
                        </m:e>
                      </m:nary>
                      <m:r>
                        <a:rPr lang="en-US" sz="20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nary>
                            <m:naryPr>
                              <m:chr m:val="∏"/>
                              <m:limLoc m:val="undOv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d>
                                <m:dPr>
                                  <m:begChr m:val="|"/>
                                  <m:end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𝑆</m:t>
                                  </m:r>
                                </m:e>
                              </m:d>
                            </m:sup>
                            <m:e>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bSup>
                                    </m:e>
                                  </m:d>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den>
                                  </m:f>
                                </m:sup>
                              </m:sSup>
                            </m:e>
                          </m:nary>
                        </m:e>
                      </m:d>
                      <m:r>
                        <a:rPr lang="en-US" sz="2000" i="1">
                          <a:effectLst/>
                          <a:latin typeface="Cambria Math" panose="02040503050406030204" pitchFamily="18" charset="0"/>
                          <a:ea typeface="SimSun" panose="02010600030101010101" pitchFamily="2" charset="-122"/>
                          <a:cs typeface="Times New Roman" panose="02020603050405020304" pitchFamily="18" charset="0"/>
                        </a:rPr>
                        <m:t>∗</m:t>
                      </m:r>
                      <m:nary>
                        <m:naryPr>
                          <m:chr m:val="∏"/>
                          <m:limLoc m:val="undOvr"/>
                          <m:ctrlPr>
                            <a:rPr lang="en-US" sz="2000" i="1">
                              <a:effectLst/>
                              <a:latin typeface="Cambria Math" panose="02040503050406030204" pitchFamily="18" charset="0"/>
                              <a:ea typeface="SimSun" panose="02010600030101010101" pitchFamily="2" charset="-122"/>
                              <a:cs typeface="Times New Roman" panose="02020603050405020304" pitchFamily="18" charset="0"/>
                            </a:rPr>
                          </m:ctrlPr>
                        </m:naryPr>
                        <m:sub>
                          <m:r>
                            <a:rPr lang="en-US" sz="2000" i="1">
                              <a:effectLst/>
                              <a:latin typeface="Cambria Math" panose="02040503050406030204" pitchFamily="18" charset="0"/>
                              <a:ea typeface="SimSun" panose="02010600030101010101" pitchFamily="2" charset="-122"/>
                              <a:cs typeface="Times New Roman" panose="02020603050405020304" pitchFamily="18" charset="0"/>
                            </a:rPr>
                            <m:t>𝑠</m:t>
                          </m:r>
                          <m:r>
                            <a:rPr lang="en-US" sz="2000" i="1">
                              <a:effectLst/>
                              <a:latin typeface="Cambria Math" panose="02040503050406030204" pitchFamily="18" charset="0"/>
                              <a:ea typeface="SimSun" panose="02010600030101010101" pitchFamily="2" charset="-122"/>
                              <a:cs typeface="Times New Roman" panose="02020603050405020304" pitchFamily="18" charset="0"/>
                            </a:rPr>
                            <m:t>=1</m:t>
                          </m:r>
                        </m:sub>
                        <m:sup>
                          <m:d>
                            <m:dPr>
                              <m:begChr m:val="|"/>
                              <m:end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𝑆</m:t>
                              </m:r>
                            </m:e>
                          </m:d>
                        </m:sup>
                        <m:e>
                          <m:r>
                            <m:rPr>
                              <m:sty m:val="p"/>
                            </m:rPr>
                            <a:rPr lang="en-US" sz="2000">
                              <a:effectLst/>
                              <a:latin typeface="Cambria Math" panose="02040503050406030204" pitchFamily="18" charset="0"/>
                              <a:ea typeface="SimSun" panose="02010600030101010101" pitchFamily="2" charset="-122"/>
                              <a:cs typeface="Times New Roman" panose="02020603050405020304" pitchFamily="18" charset="0"/>
                            </a:rPr>
                            <m:t>exp</m:t>
                          </m:r>
                          <m:d>
                            <m:dPr>
                              <m:ctrlPr>
                                <a:rPr lang="en-US" sz="20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20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20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2000" i="1">
                                      <a:effectLst/>
                                      <a:latin typeface="Cambria Math" panose="02040503050406030204" pitchFamily="18" charset="0"/>
                                      <a:ea typeface="SimSun" panose="02010600030101010101" pitchFamily="2" charset="-122"/>
                                      <a:cs typeface="Times New Roman" panose="02020603050405020304" pitchFamily="18" charset="0"/>
                                    </a:rPr>
                                    <m:t>1</m:t>
                                  </m:r>
                                </m:num>
                                <m:den>
                                  <m:r>
                                    <a:rPr lang="en-US" sz="2000" i="1">
                                      <a:effectLst/>
                                      <a:latin typeface="Cambria Math" panose="02040503050406030204" pitchFamily="18" charset="0"/>
                                      <a:ea typeface="SimSun" panose="02010600030101010101" pitchFamily="2" charset="-122"/>
                                      <a:cs typeface="Times New Roman" panose="02020603050405020304" pitchFamily="18" charset="0"/>
                                    </a:rPr>
                                    <m:t>2</m:t>
                                  </m:r>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nary>
                                <m:naryPr>
                                  <m:chr m:val="∑"/>
                                  <m:limLoc m:val="undOvr"/>
                                  <m:ctrlPr>
                                    <a:rPr lang="en-US" sz="2000" i="1">
                                      <a:effectLst/>
                                      <a:latin typeface="Cambria Math" panose="02040503050406030204" pitchFamily="18" charset="0"/>
                                      <a:ea typeface="SimSun" panose="02010600030101010101" pitchFamily="2" charset="-122"/>
                                      <a:cs typeface="Times New Roman" panose="02020603050405020304" pitchFamily="18" charset="0"/>
                                    </a:rPr>
                                  </m:ctrlPr>
                                </m:naryPr>
                                <m:sub>
                                  <m:r>
                                    <a:rPr lang="en-US" sz="2000" i="1">
                                      <a:effectLst/>
                                      <a:latin typeface="Cambria Math" panose="02040503050406030204" pitchFamily="18" charset="0"/>
                                      <a:ea typeface="SimSun" panose="02010600030101010101" pitchFamily="2" charset="-122"/>
                                      <a:cs typeface="Times New Roman" panose="02020603050405020304" pitchFamily="18" charset="0"/>
                                    </a:rPr>
                                    <m:t>𝑖</m:t>
                                  </m:r>
                                  <m:r>
                                    <a:rPr lang="en-US" sz="2000" i="1">
                                      <a:effectLst/>
                                      <a:latin typeface="Cambria Math" panose="02040503050406030204" pitchFamily="18" charset="0"/>
                                      <a:ea typeface="SimSun" panose="02010600030101010101" pitchFamily="2" charset="-122"/>
                                      <a:cs typeface="Times New Roman" panose="02020603050405020304" pitchFamily="18" charset="0"/>
                                    </a:rPr>
                                    <m:t>=1</m:t>
                                  </m:r>
                                </m:sub>
                                <m:sup>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𝑦</m:t>
                                                          </m:r>
                                                        </m:e>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b="1" i="1">
                                                              <a:effectLst/>
                                                              <a:latin typeface="Cambria Math" panose="02040503050406030204" pitchFamily="18" charset="0"/>
                                                              <a:ea typeface="Calibri" panose="020F0502020204030204" pitchFamily="34" charset="0"/>
                                                              <a:cs typeface="Times New Roman" panose="02020603050405020304" pitchFamily="18" charset="0"/>
                                                            </a:rPr>
                                                            <m:t>𝒙</m:t>
                                                          </m:r>
                                                        </m:e>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nary>
                                            </m:e>
                                          </m:d>
                                        </m:e>
                                      </m:d>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e>
                              </m:nary>
                            </m:e>
                          </m:d>
                        </m:e>
                      </m:nary>
                    </m:oMath>
                  </m:oMathPara>
                </a14:m>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log-likelihood function is logarithm function of such joint probability:</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𝑙</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e>
                      </m:d>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den>
                      </m:f>
                      <m:nary>
                        <m:naryPr>
                          <m:chr m:val="∑"/>
                          <m:limLoc m:val="undOv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d>
                            <m:dPr>
                              <m:begChr m:val="|"/>
                              <m:end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𝑆</m:t>
                              </m:r>
                            </m:e>
                          </m:d>
                        </m:sup>
                        <m:e>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r>
                            <m:rPr>
                              <m:sty m:val="p"/>
                            </m:rPr>
                            <a:rPr lang="en-US" sz="2000">
                              <a:effectLst/>
                              <a:latin typeface="Cambria Math" panose="02040503050406030204" pitchFamily="18" charset="0"/>
                              <a:ea typeface="Calibri" panose="020F0502020204030204" pitchFamily="34" charset="0"/>
                              <a:cs typeface="Times New Roman" panose="02020603050405020304" pitchFamily="18" charset="0"/>
                            </a:rPr>
                            <m:t>log</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𝜋</m:t>
                              </m:r>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bSup>
                            </m:e>
                          </m:d>
                        </m:e>
                      </m:nary>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den>
                      </m:f>
                      <m:nary>
                        <m:naryPr>
                          <m:chr m:val="∑"/>
                          <m:limLoc m:val="undOv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d>
                            <m:dPr>
                              <m:begChr m:val="|"/>
                              <m:end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𝑆</m:t>
                              </m:r>
                            </m:e>
                          </m:d>
                        </m:sup>
                        <m:e>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num>
                            <m:den>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nary>
                            <m:naryPr>
                              <m:chr m:val="∑"/>
                              <m:limLoc m:val="undOv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0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𝑦</m:t>
                                                      </m:r>
                                                    </m:e>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b="1" i="1">
                                                          <a:effectLst/>
                                                          <a:latin typeface="Cambria Math" panose="02040503050406030204" pitchFamily="18" charset="0"/>
                                                          <a:ea typeface="Calibri" panose="020F0502020204030204" pitchFamily="34" charset="0"/>
                                                          <a:cs typeface="Times New Roman" panose="02020603050405020304" pitchFamily="18" charset="0"/>
                                                        </a:rPr>
                                                        <m:t>𝒙</m:t>
                                                      </m:r>
                                                    </m:e>
                                                    <m:sub>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nary>
                                        </m:e>
                                      </m:d>
                                    </m:e>
                                  </m:d>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e>
                          </m:nary>
                        </m:e>
                      </m:nary>
                    </m:oMath>
                  </m:oMathPara>
                </a14:m>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Let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20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sk</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be the optimal estimate of regressive coefficients and thus,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20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is a maximizer of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σ</a:t>
                </a:r>
                <a:r>
                  <a:rPr lang="en-US" sz="20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b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unc>
                        <m:func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uncPr>
                        <m:fName>
                          <m:limLow>
                            <m:limLow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limLowPr>
                            <m:e>
                              <m:r>
                                <m:rPr>
                                  <m:sty m:val="p"/>
                                </m:rPr>
                                <a:rPr lang="en-US" sz="2000">
                                  <a:effectLst/>
                                  <a:latin typeface="Cambria Math" panose="02040503050406030204" pitchFamily="18" charset="0"/>
                                  <a:ea typeface="Calibri" panose="020F0502020204030204" pitchFamily="34" charset="0"/>
                                  <a:cs typeface="Times New Roman" panose="02020603050405020304" pitchFamily="18" charset="0"/>
                                </a:rPr>
                                <m:t>argmax</m:t>
                              </m:r>
                            </m:e>
                            <m:lim>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e>
                                <m:sub>
                                  <m:d>
                                    <m:dPr>
                                      <m:begChr m:val="|"/>
                                      <m:end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𝑆</m:t>
                                      </m:r>
                                    </m:e>
                                  </m:d>
                                </m:sub>
                              </m:sSub>
                            </m:lim>
                          </m:limLow>
                        </m:fName>
                        <m:e>
                          <m:r>
                            <a:rPr lang="en-US" sz="2000" i="1">
                              <a:effectLst/>
                              <a:latin typeface="Cambria Math" panose="02040503050406030204" pitchFamily="18" charset="0"/>
                              <a:ea typeface="Calibri" panose="020F0502020204030204" pitchFamily="34" charset="0"/>
                              <a:cs typeface="Times New Roman" panose="02020603050405020304" pitchFamily="18" charset="0"/>
                            </a:rPr>
                            <m:t>𝑙</m:t>
                          </m:r>
                          <m:d>
                            <m:d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𝛼</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e>
                          </m:d>
                        </m:e>
                      </m:func>
                    </m:oMath>
                  </m:oMathPara>
                </a14:m>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3697002E-935C-8D28-454D-92E93E06F28F}"/>
                  </a:ext>
                </a:extLst>
              </p:cNvPr>
              <p:cNvSpPr>
                <a:spLocks noGrp="1" noRot="1" noChangeAspect="1" noMove="1" noResize="1" noEditPoints="1" noAdjustHandles="1" noChangeArrowheads="1" noChangeShapeType="1" noTextEdit="1"/>
              </p:cNvSpPr>
              <p:nvPr>
                <p:ph idx="1"/>
              </p:nvPr>
            </p:nvSpPr>
            <p:spPr>
              <a:xfrm>
                <a:off x="422031" y="914399"/>
                <a:ext cx="11296357" cy="5176066"/>
              </a:xfrm>
              <a:blipFill>
                <a:blip r:embed="rId2"/>
                <a:stretch>
                  <a:fillRect l="-540" t="-589" r="-594" b="-11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F0D3786-6EDE-B40E-543B-61A1519464F4}"/>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0BCDC6E0-73C4-39CF-9167-F03A05AE4C6C}"/>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6F2F6776-7303-9A3D-5491-F415F8FB2A13}"/>
              </a:ext>
            </a:extLst>
          </p:cNvPr>
          <p:cNvSpPr>
            <a:spLocks noGrp="1"/>
          </p:cNvSpPr>
          <p:nvPr>
            <p:ph type="sldNum" sz="quarter" idx="12"/>
          </p:nvPr>
        </p:nvSpPr>
        <p:spPr/>
        <p:txBody>
          <a:bodyPr/>
          <a:lstStyle/>
          <a:p>
            <a:fld id="{5DB5036F-1FF2-46C4-8D2B-59C7E3B91952}" type="slidenum">
              <a:rPr lang="en-US" smtClean="0"/>
              <a:pPr/>
              <a:t>9</a:t>
            </a:fld>
            <a:endParaRPr lang="en-US"/>
          </a:p>
        </p:txBody>
      </p:sp>
    </p:spTree>
    <p:extLst>
      <p:ext uri="{BB962C8B-B14F-4D97-AF65-F5344CB8AC3E}">
        <p14:creationId xmlns:p14="http://schemas.microsoft.com/office/powerpoint/2010/main" val="2357789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B8672-F57D-517C-76E6-CE54B4914D2E}"/>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6EB5D0-BC19-3C57-AD41-03B690C8421B}"/>
                  </a:ext>
                </a:extLst>
              </p:cNvPr>
              <p:cNvSpPr>
                <a:spLocks noGrp="1"/>
              </p:cNvSpPr>
              <p:nvPr>
                <p:ph idx="1"/>
              </p:nvPr>
            </p:nvSpPr>
            <p:spPr>
              <a:xfrm>
                <a:off x="436097" y="914399"/>
                <a:ext cx="11296357" cy="5176066"/>
              </a:xfrm>
            </p:spPr>
            <p:txBody>
              <a:bodyPr>
                <a:noAutofit/>
              </a:bodyPr>
              <a:lstStyle/>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By taking first-order partial derivatives of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σ</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with regard to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we obtain:</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d>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nary>
                                </m:e>
                              </m:d>
                            </m:e>
                          </m:d>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p>
                        </m:e>
                      </m:nary>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the first-order partial derivatives of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σ</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with regard to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are equal to zero, it gets locally maximal. In other words,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solution of the following equation resulted from setting such derivatives to be zero.</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nary>
                                </m:e>
                              </m:d>
                            </m:e>
                          </m:d>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p>
                        </m:e>
                      </m:nary>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p>
                        <m:sSup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pPr>
                        <m:e>
                          <m:r>
                            <a:rPr lang="en-US" sz="1800" b="1" i="1">
                              <a:effectLst/>
                              <a:latin typeface="Cambria Math" panose="02040503050406030204" pitchFamily="18" charset="0"/>
                              <a:ea typeface="SimSun" panose="02010600030101010101" pitchFamily="2" charset="-122"/>
                              <a:cs typeface="Times New Roman" panose="02020603050405020304" pitchFamily="18" charset="0"/>
                            </a:rPr>
                            <m:t>𝟎</m:t>
                          </m:r>
                        </m:e>
                        <m:sup>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sup>
                      </m:sSup>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As a convention,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ss</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0 if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n-US" sz="18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baseline="30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or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x</a:t>
                </a:r>
                <a:r>
                  <a:rPr lang="en-US" sz="1800" i="1" baseline="-250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baseline="30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does not exist. </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The equation above is re-written as follows: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sSubSup>
                        <m:sSubSupPr>
                          <m:ctrlPr>
                            <a:rPr lang="en-US" sz="1800" b="1"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𝒚</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b="1"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𝒚</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e>
                          </m:d>
                        </m:e>
                      </m:nary>
                      <m:r>
                        <a:rPr lang="en-US" sz="1800" i="1">
                          <a:effectLst/>
                          <a:latin typeface="Cambria Math" panose="02040503050406030204" pitchFamily="18" charset="0"/>
                          <a:ea typeface="SimSun" panose="02010600030101010101" pitchFamily="2" charset="-122"/>
                          <a:cs typeface="Times New Roman" panose="02020603050405020304" pitchFamily="18" charset="0"/>
                        </a:rPr>
                        <m:t>=</m:t>
                      </m:r>
                      <m:d>
                        <m:d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dPr>
                        <m:e>
                          <m:sSubSup>
                            <m:sSubSupPr>
                              <m:ctrlPr>
                                <a:rPr lang="en-US" sz="1800" b="1"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𝒚</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r>
                            <a:rPr lang="en-US" sz="1800" b="1"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sSubSup>
                                <m:sSubSupPr>
                                  <m:ctrlPr>
                                    <a:rPr lang="en-US" sz="1800" b="1"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𝒚</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e>
                          </m:nary>
                        </m:e>
                      </m:d>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e>
                          </m:nary>
                        </m:e>
                      </m:d>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p>
                        <m:sSup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sSupPr>
                        <m:e>
                          <m:r>
                            <a:rPr lang="en-US" sz="1800" b="1" i="1">
                              <a:effectLst/>
                              <a:latin typeface="Cambria Math" panose="02040503050406030204" pitchFamily="18" charset="0"/>
                              <a:ea typeface="SimSun" panose="02010600030101010101" pitchFamily="2" charset="-122"/>
                              <a:cs typeface="Times New Roman" panose="02020603050405020304" pitchFamily="18" charset="0"/>
                            </a:rPr>
                            <m:t>𝟎</m:t>
                          </m:r>
                        </m:e>
                        <m:sup>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sup>
                      </m:sSup>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This implies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nary>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e>
                          </m:d>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d>
                        <m:dPr>
                          <m:ctrlPr>
                            <a:rPr lang="en-US"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US" sz="1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𝒚</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b="1"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sSub>
                                <m:sSubPr>
                                  <m:ctrlPr>
                                    <a:rPr lang="en-US" sz="1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𝒚</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nary>
                        </m:e>
                      </m:d>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536EB5D0-BC19-3C57-AD41-03B690C8421B}"/>
                  </a:ext>
                </a:extLst>
              </p:cNvPr>
              <p:cNvSpPr>
                <a:spLocks noGrp="1" noRot="1" noChangeAspect="1" noMove="1" noResize="1" noEditPoints="1" noAdjustHandles="1" noChangeArrowheads="1" noChangeShapeType="1" noTextEdit="1"/>
              </p:cNvSpPr>
              <p:nvPr>
                <p:ph idx="1"/>
              </p:nvPr>
            </p:nvSpPr>
            <p:spPr>
              <a:xfrm>
                <a:off x="436097" y="914399"/>
                <a:ext cx="11296357" cy="5176066"/>
              </a:xfrm>
              <a:blipFill>
                <a:blip r:embed="rId2"/>
                <a:stretch>
                  <a:fillRect l="-486" t="-589" r="-432" b="-353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6B53553-E15A-391A-7245-A123DFCB69E6}"/>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4842065B-B1BB-90B8-9F2B-6823787F82BA}"/>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D488961B-EF17-3167-369C-923656DCB3B6}"/>
              </a:ext>
            </a:extLst>
          </p:cNvPr>
          <p:cNvSpPr>
            <a:spLocks noGrp="1"/>
          </p:cNvSpPr>
          <p:nvPr>
            <p:ph type="sldNum" sz="quarter" idx="12"/>
          </p:nvPr>
        </p:nvSpPr>
        <p:spPr/>
        <p:txBody>
          <a:bodyPr/>
          <a:lstStyle/>
          <a:p>
            <a:fld id="{5DB5036F-1FF2-46C4-8D2B-59C7E3B91952}" type="slidenum">
              <a:rPr lang="en-US" smtClean="0"/>
              <a:pPr/>
              <a:t>10</a:t>
            </a:fld>
            <a:endParaRPr lang="en-US"/>
          </a:p>
        </p:txBody>
      </p:sp>
    </p:spTree>
    <p:extLst>
      <p:ext uri="{BB962C8B-B14F-4D97-AF65-F5344CB8AC3E}">
        <p14:creationId xmlns:p14="http://schemas.microsoft.com/office/powerpoint/2010/main" val="2571696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0AB4D-4FE6-1679-0076-91759DED6E73}"/>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943B02-1A51-628C-C91E-871529C6C0F2}"/>
                  </a:ext>
                </a:extLst>
              </p:cNvPr>
              <p:cNvSpPr>
                <a:spLocks noGrp="1"/>
              </p:cNvSpPr>
              <p:nvPr>
                <p:ph idx="1"/>
              </p:nvPr>
            </p:nvSpPr>
            <p:spPr/>
            <p:txBody>
              <a:bodyPr>
                <a:normAutofit/>
              </a:bodyPr>
              <a:lstStyle/>
              <a:p>
                <a:pPr marL="0" indent="0">
                  <a:buNone/>
                </a:pPr>
                <a:r>
                  <a:rPr lang="en-US" sz="2500" dirty="0">
                    <a:effectLst/>
                    <a:latin typeface="Times New Roman" panose="02020603050405020304" pitchFamily="18" charset="0"/>
                    <a:ea typeface="SimSun" panose="02010600030101010101" pitchFamily="2" charset="-122"/>
                  </a:rPr>
                  <a:t>In general, the estimates </a:t>
                </a:r>
                <a:r>
                  <a:rPr lang="en-US" sz="2500" i="1" dirty="0">
                    <a:effectLst/>
                    <a:latin typeface="Times New Roman" panose="02020603050405020304" pitchFamily="18" charset="0"/>
                    <a:ea typeface="Calibri" panose="020F0502020204030204" pitchFamily="34" charset="0"/>
                  </a:rPr>
                  <a:t>α</a:t>
                </a:r>
                <a:r>
                  <a:rPr lang="en-US" sz="2500" i="1" baseline="-25000" dirty="0">
                    <a:effectLst/>
                    <a:latin typeface="Times New Roman" panose="02020603050405020304" pitchFamily="18" charset="0"/>
                    <a:ea typeface="Calibri" panose="020F0502020204030204" pitchFamily="34" charset="0"/>
                  </a:rPr>
                  <a:t>s</a:t>
                </a:r>
                <a:r>
                  <a:rPr lang="en-US" sz="2500" baseline="30000" dirty="0">
                    <a:effectLst/>
                    <a:latin typeface="Times New Roman" panose="02020603050405020304" pitchFamily="18" charset="0"/>
                    <a:ea typeface="Calibri" panose="020F0502020204030204" pitchFamily="34" charset="0"/>
                  </a:rPr>
                  <a:t>*</a:t>
                </a:r>
                <a:r>
                  <a:rPr lang="en-US" sz="2500" dirty="0">
                    <a:effectLst/>
                    <a:latin typeface="Times New Roman" panose="02020603050405020304" pitchFamily="18" charset="0"/>
                    <a:ea typeface="Calibri" panose="020F0502020204030204" pitchFamily="34" charset="0"/>
                  </a:rPr>
                  <a:t> for all regressive coefficient vector</a:t>
                </a:r>
                <a:r>
                  <a:rPr lang="en-US" sz="2500" dirty="0">
                    <a:effectLst/>
                    <a:latin typeface="Times New Roman" panose="02020603050405020304" pitchFamily="18" charset="0"/>
                    <a:ea typeface="SimSun" panose="02010600030101010101" pitchFamily="2" charset="-122"/>
                  </a:rPr>
                  <a:t>s </a:t>
                </a:r>
                <a:r>
                  <a:rPr lang="en-US" sz="2500" i="1" dirty="0">
                    <a:effectLst/>
                    <a:latin typeface="Times New Roman" panose="02020603050405020304" pitchFamily="18" charset="0"/>
                    <a:ea typeface="Calibri" panose="020F0502020204030204" pitchFamily="34" charset="0"/>
                  </a:rPr>
                  <a:t>α</a:t>
                </a:r>
                <a:r>
                  <a:rPr lang="en-US" sz="2500" i="1" baseline="-25000" dirty="0">
                    <a:effectLst/>
                    <a:latin typeface="Times New Roman" panose="02020603050405020304" pitchFamily="18" charset="0"/>
                    <a:ea typeface="Calibri" panose="020F0502020204030204" pitchFamily="34" charset="0"/>
                  </a:rPr>
                  <a:t>s</a:t>
                </a:r>
                <a:r>
                  <a:rPr lang="en-US" sz="2500" dirty="0">
                    <a:effectLst/>
                    <a:latin typeface="Times New Roman" panose="02020603050405020304" pitchFamily="18" charset="0"/>
                    <a:ea typeface="Calibri" panose="020F0502020204030204" pitchFamily="34" charset="0"/>
                  </a:rPr>
                  <a:t> where </a:t>
                </a:r>
                <a:r>
                  <a:rPr lang="en-US" sz="2500" i="1" dirty="0">
                    <a:effectLst/>
                    <a:latin typeface="Times New Roman" panose="02020603050405020304" pitchFamily="18" charset="0"/>
                    <a:ea typeface="Calibri" panose="020F0502020204030204" pitchFamily="34" charset="0"/>
                  </a:rPr>
                  <a:t>s</a:t>
                </a:r>
                <a:r>
                  <a:rPr lang="en-US" sz="2500" dirty="0">
                    <a:effectLst/>
                    <a:latin typeface="Times New Roman" panose="02020603050405020304" pitchFamily="18" charset="0"/>
                    <a:ea typeface="Calibri" panose="020F0502020204030204" pitchFamily="34" charset="0"/>
                  </a:rPr>
                  <a:t> from 1 to |</a:t>
                </a:r>
                <a:r>
                  <a:rPr lang="en-US" sz="2500" i="1" dirty="0">
                    <a:effectLst/>
                    <a:latin typeface="Times New Roman" panose="02020603050405020304" pitchFamily="18" charset="0"/>
                    <a:ea typeface="Calibri" panose="020F0502020204030204" pitchFamily="34" charset="0"/>
                  </a:rPr>
                  <a:t>S</a:t>
                </a:r>
                <a:r>
                  <a:rPr lang="en-US" sz="2500" dirty="0">
                    <a:effectLst/>
                    <a:latin typeface="Times New Roman" panose="02020603050405020304" pitchFamily="18" charset="0"/>
                    <a:ea typeface="Calibri" panose="020F0502020204030204" pitchFamily="34" charset="0"/>
                  </a:rPr>
                  <a:t>| is solution of the linear equation system consisting of |</a:t>
                </a:r>
                <a:r>
                  <a:rPr lang="en-US" sz="2500" i="1" dirty="0">
                    <a:effectLst/>
                    <a:latin typeface="Times New Roman" panose="02020603050405020304" pitchFamily="18" charset="0"/>
                    <a:ea typeface="Calibri" panose="020F0502020204030204" pitchFamily="34" charset="0"/>
                  </a:rPr>
                  <a:t>S</a:t>
                </a:r>
                <a:r>
                  <a:rPr lang="en-US" sz="2500" dirty="0">
                    <a:effectLst/>
                    <a:latin typeface="Times New Roman" panose="02020603050405020304" pitchFamily="18" charset="0"/>
                    <a:ea typeface="Calibri" panose="020F0502020204030204" pitchFamily="34" charset="0"/>
                  </a:rPr>
                  <a:t>| equations as follows:</a:t>
                </a:r>
              </a:p>
              <a:p>
                <a:pPr marL="0" indent="0">
                  <a:buNone/>
                </a:pPr>
                <a14:m>
                  <m:oMathPara xmlns:m="http://schemas.openxmlformats.org/officeDocument/2006/math">
                    <m:oMathParaPr>
                      <m:jc m:val="right"/>
                    </m:oMathParaPr>
                    <m:oMath xmlns:m="http://schemas.openxmlformats.org/officeDocument/2006/math">
                      <m:sSub>
                        <m:sSubPr>
                          <m:ctrlPr>
                            <a:rPr lang="en-US" sz="2500" i="1" smtClean="0">
                              <a:effectLst/>
                              <a:latin typeface="Cambria Math" panose="02040503050406030204" pitchFamily="18" charset="0"/>
                            </a:rPr>
                          </m:ctrlPr>
                        </m:sSubPr>
                        <m:e>
                          <m:d>
                            <m:dPr>
                              <m:begChr m:val=""/>
                              <m:endChr m:val="|"/>
                              <m:ctrlPr>
                                <a:rPr lang="en-US" sz="2500" i="1">
                                  <a:effectLst/>
                                  <a:latin typeface="Cambria Math" panose="02040503050406030204" pitchFamily="18" charset="0"/>
                                </a:rPr>
                              </m:ctrlPr>
                            </m:dPr>
                            <m:e>
                              <m:sSub>
                                <m:sSubPr>
                                  <m:ctrlPr>
                                    <a:rPr lang="en-US" sz="2500" i="1">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2500" i="1">
                                  <a:effectLst/>
                                  <a:latin typeface="Cambria Math" panose="02040503050406030204" pitchFamily="18" charset="0"/>
                                  <a:ea typeface="Calibri" panose="020F0502020204030204" pitchFamily="34" charset="0"/>
                                  <a:cs typeface="Times New Roman" panose="02020603050405020304" pitchFamily="18" charset="0"/>
                                </a:rPr>
                                <m:t>−</m:t>
                              </m:r>
                              <m:r>
                                <a:rPr lang="en-US" sz="25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2500" i="1">
                                      <a:effectLst/>
                                      <a:latin typeface="Cambria Math" panose="02040503050406030204" pitchFamily="18" charset="0"/>
                                    </a:rPr>
                                  </m:ctrlPr>
                                </m:naryPr>
                                <m:sub>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r>
                                    <a:rPr lang="en-US" sz="2500" i="1">
                                      <a:effectLst/>
                                      <a:latin typeface="Cambria Math" panose="02040503050406030204" pitchFamily="18" charset="0"/>
                                      <a:ea typeface="Calibri" panose="020F0502020204030204" pitchFamily="34" charset="0"/>
                                      <a:cs typeface="Times New Roman" panose="02020603050405020304" pitchFamily="18" charset="0"/>
                                    </a:rPr>
                                    <m:t>𝑛𝑏</m:t>
                                  </m:r>
                                  <m:d>
                                    <m:dPr>
                                      <m:ctrlPr>
                                        <a:rPr lang="en-US" sz="2500" i="1">
                                          <a:effectLst/>
                                          <a:latin typeface="Cambria Math" panose="02040503050406030204" pitchFamily="18" charset="0"/>
                                        </a:rPr>
                                      </m:ctrlPr>
                                    </m:d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2500" i="1">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sub>
                                  </m:sSub>
                                  <m:sSub>
                                    <m:sSubPr>
                                      <m:ctrlPr>
                                        <a:rPr lang="en-US" sz="2500" i="1">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nary>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500" i="1">
                                      <a:effectLst/>
                                      <a:latin typeface="Cambria Math" panose="02040503050406030204" pitchFamily="18" charset="0"/>
                                    </a:rPr>
                                  </m:ctrlPr>
                                </m:sSupPr>
                                <m:e>
                                  <m:d>
                                    <m:dPr>
                                      <m:ctrlPr>
                                        <a:rPr lang="en-US" sz="2500" i="1">
                                          <a:effectLst/>
                                          <a:latin typeface="Cambria Math" panose="02040503050406030204" pitchFamily="18" charset="0"/>
                                        </a:rPr>
                                      </m:ctrlPr>
                                    </m:dPr>
                                    <m:e>
                                      <m:sSubSup>
                                        <m:sSubSupPr>
                                          <m:ctrlPr>
                                            <a:rPr lang="en-US" sz="2500" i="1">
                                              <a:effectLst/>
                                              <a:latin typeface="Cambria Math" panose="02040503050406030204" pitchFamily="18" charset="0"/>
                                            </a:rPr>
                                          </m:ctrlPr>
                                        </m:sSubSupPr>
                                        <m:e>
                                          <m:r>
                                            <a:rPr lang="en-US" sz="25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5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2500" i="1">
                                              <a:effectLst/>
                                              <a:latin typeface="Cambria Math" panose="02040503050406030204" pitchFamily="18" charset="0"/>
                                            </a:rPr>
                                          </m:ctrlPr>
                                        </m:sSubPr>
                                        <m:e>
                                          <m:r>
                                            <a:rPr lang="en-US" sz="25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ub>
                                      </m:sSub>
                                    </m:e>
                                  </m:d>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−1</m:t>
                                  </m:r>
                                </m:sup>
                              </m:sSup>
                              <m:sSubSup>
                                <m:sSubSupPr>
                                  <m:ctrlPr>
                                    <a:rPr lang="en-US" sz="2500" i="1">
                                      <a:effectLst/>
                                      <a:latin typeface="Cambria Math" panose="02040503050406030204" pitchFamily="18" charset="0"/>
                                    </a:rPr>
                                  </m:ctrlPr>
                                </m:sSubSupPr>
                                <m:e>
                                  <m:r>
                                    <a:rPr lang="en-US" sz="2500" b="1" i="1">
                                      <a:effectLst/>
                                      <a:latin typeface="Cambria Math" panose="02040503050406030204" pitchFamily="18" charset="0"/>
                                      <a:ea typeface="Calibri" panose="020F0502020204030204" pitchFamily="34" charset="0"/>
                                      <a:cs typeface="Times New Roman" panose="02020603050405020304" pitchFamily="18" charset="0"/>
                                    </a:rPr>
                                    <m:t>𝑿</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500" i="1">
                                      <a:effectLst/>
                                      <a:latin typeface="Cambria Math" panose="02040503050406030204" pitchFamily="18" charset="0"/>
                                      <a:ea typeface="Calibri" panose="020F0502020204030204" pitchFamily="34" charset="0"/>
                                      <a:cs typeface="Times New Roman" panose="02020603050405020304" pitchFamily="18" charset="0"/>
                                    </a:rPr>
                                    <m:t>𝑇</m:t>
                                  </m:r>
                                </m:sup>
                              </m:sSubSup>
                              <m:d>
                                <m:dPr>
                                  <m:ctrlPr>
                                    <a:rPr lang="en-US" sz="2500" i="1">
                                      <a:effectLst/>
                                      <a:latin typeface="Cambria Math" panose="02040503050406030204" pitchFamily="18" charset="0"/>
                                      <a:ea typeface="SimSun" panose="02010600030101010101" pitchFamily="2" charset="-122"/>
                                    </a:rPr>
                                  </m:ctrlPr>
                                </m:dPr>
                                <m:e>
                                  <m:sSub>
                                    <m:sSubPr>
                                      <m:ctrlPr>
                                        <a:rPr lang="en-US" sz="2500" b="1" i="1">
                                          <a:effectLst/>
                                          <a:latin typeface="Cambria Math" panose="02040503050406030204" pitchFamily="18" charset="0"/>
                                        </a:rPr>
                                      </m:ctrlPr>
                                    </m:sSubPr>
                                    <m:e>
                                      <m:r>
                                        <a:rPr lang="en-US" sz="2500" b="1" i="1">
                                          <a:effectLst/>
                                          <a:latin typeface="Cambria Math" panose="02040503050406030204" pitchFamily="18" charset="0"/>
                                          <a:ea typeface="Calibri" panose="020F0502020204030204" pitchFamily="34" charset="0"/>
                                          <a:cs typeface="Times New Roman" panose="02020603050405020304" pitchFamily="18" charset="0"/>
                                        </a:rPr>
                                        <m:t>𝒚</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2500" b="1" i="1">
                                      <a:effectLst/>
                                      <a:latin typeface="Cambria Math" panose="02040503050406030204" pitchFamily="18" charset="0"/>
                                      <a:ea typeface="Calibri" panose="020F0502020204030204" pitchFamily="34" charset="0"/>
                                      <a:cs typeface="Times New Roman" panose="02020603050405020304" pitchFamily="18" charset="0"/>
                                    </a:rPr>
                                    <m:t>−</m:t>
                                  </m:r>
                                  <m:r>
                                    <a:rPr lang="en-US" sz="25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2500" i="1">
                                          <a:effectLst/>
                                          <a:latin typeface="Cambria Math" panose="02040503050406030204" pitchFamily="18" charset="0"/>
                                        </a:rPr>
                                      </m:ctrlPr>
                                    </m:naryPr>
                                    <m:sub>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r>
                                        <a:rPr lang="en-US" sz="2500" i="1">
                                          <a:effectLst/>
                                          <a:latin typeface="Cambria Math" panose="02040503050406030204" pitchFamily="18" charset="0"/>
                                          <a:ea typeface="Calibri" panose="020F0502020204030204" pitchFamily="34" charset="0"/>
                                          <a:cs typeface="Times New Roman" panose="02020603050405020304" pitchFamily="18" charset="0"/>
                                        </a:rPr>
                                        <m:t>𝑛𝑏</m:t>
                                      </m:r>
                                      <m:d>
                                        <m:dPr>
                                          <m:ctrlPr>
                                            <a:rPr lang="en-US" sz="2500" i="1">
                                              <a:effectLst/>
                                              <a:latin typeface="Cambria Math" panose="02040503050406030204" pitchFamily="18" charset="0"/>
                                            </a:rPr>
                                          </m:ctrlPr>
                                        </m:d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2500" i="1">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sub>
                                      </m:sSub>
                                      <m:sSub>
                                        <m:sSubPr>
                                          <m:ctrlPr>
                                            <a:rPr lang="en-US" sz="2500" b="1" i="1">
                                              <a:effectLst/>
                                              <a:latin typeface="Cambria Math" panose="02040503050406030204" pitchFamily="18" charset="0"/>
                                            </a:rPr>
                                          </m:ctrlPr>
                                        </m:sSubPr>
                                        <m:e>
                                          <m:r>
                                            <a:rPr lang="en-US" sz="2500" b="1" i="1">
                                              <a:effectLst/>
                                              <a:latin typeface="Cambria Math" panose="02040503050406030204" pitchFamily="18" charset="0"/>
                                              <a:ea typeface="Calibri" panose="020F0502020204030204" pitchFamily="34" charset="0"/>
                                              <a:cs typeface="Times New Roman" panose="02020603050405020304" pitchFamily="18" charset="0"/>
                                            </a:rPr>
                                            <m:t>𝒚</m:t>
                                          </m:r>
                                        </m:e>
                                        <m:sub>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nary>
                                </m:e>
                              </m:d>
                            </m:e>
                          </m:d>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r>
                            <a:rPr lang="en-US" sz="2500"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2500" i="1">
                                  <a:effectLst/>
                                  <a:latin typeface="Cambria Math" panose="02040503050406030204" pitchFamily="18" charset="0"/>
                                </a:rPr>
                              </m:ctrlPr>
                            </m:accPr>
                            <m:e>
                              <m:r>
                                <a:rPr lang="en-US" sz="2500" i="1">
                                  <a:effectLst/>
                                  <a:latin typeface="Cambria Math" panose="02040503050406030204" pitchFamily="18" charset="0"/>
                                  <a:ea typeface="Calibri" panose="020F0502020204030204" pitchFamily="34" charset="0"/>
                                  <a:cs typeface="Times New Roman" panose="02020603050405020304" pitchFamily="18" charset="0"/>
                                </a:rPr>
                                <m:t>1,</m:t>
                              </m:r>
                              <m:d>
                                <m:dPr>
                                  <m:begChr m:val="|"/>
                                  <m:endChr m:val="|"/>
                                  <m:ctrlPr>
                                    <a:rPr lang="en-US" sz="2500" i="1">
                                      <a:effectLst/>
                                      <a:latin typeface="Cambria Math" panose="02040503050406030204" pitchFamily="18" charset="0"/>
                                    </a:rPr>
                                  </m:ctrlPr>
                                </m:d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𝑆</m:t>
                                  </m:r>
                                </m:e>
                              </m:d>
                            </m:e>
                          </m:acc>
                        </m:sub>
                      </m:sSub>
                      <m:r>
                        <a:rPr lang="en-US" sz="2500" b="0" i="1" smtClean="0">
                          <a:effectLst/>
                          <a:latin typeface="Cambria Math" panose="02040503050406030204" pitchFamily="18" charset="0"/>
                          <a:ea typeface="Calibri" panose="020F0502020204030204" pitchFamily="34" charset="0"/>
                          <a:cs typeface="Times New Roman" panose="02020603050405020304" pitchFamily="18" charset="0"/>
                        </a:rPr>
                        <m:t>    (1.9)</m:t>
                      </m:r>
                    </m:oMath>
                  </m:oMathPara>
                </a14:m>
                <a:endParaRPr lang="en-US" sz="2500" dirty="0"/>
              </a:p>
              <a:p>
                <a:pPr marL="0" indent="0">
                  <a:buNone/>
                </a:pPr>
                <a:r>
                  <a:rPr lang="en-US" sz="2500" dirty="0">
                    <a:effectLst/>
                    <a:latin typeface="Times New Roman" panose="02020603050405020304" pitchFamily="18" charset="0"/>
                    <a:ea typeface="SimSun" panose="02010600030101010101" pitchFamily="2" charset="-122"/>
                  </a:rPr>
                  <a:t>It is not difficult to solve the linear equation system above. As a result, </a:t>
                </a:r>
                <a:r>
                  <a:rPr lang="en-US" sz="2500" dirty="0">
                    <a:effectLst/>
                    <a:latin typeface="Times New Roman" panose="02020603050405020304" pitchFamily="18" charset="0"/>
                    <a:ea typeface="Calibri" panose="020F0502020204030204" pitchFamily="34" charset="0"/>
                  </a:rPr>
                  <a:t>the spatial autoregressive model is re-written as follows:</a:t>
                </a:r>
              </a:p>
              <a:p>
                <a:pPr marL="0" indent="0">
                  <a:buNone/>
                </a:pPr>
                <a14:m>
                  <m:oMathPara xmlns:m="http://schemas.openxmlformats.org/officeDocument/2006/math">
                    <m:oMathParaPr>
                      <m:jc m:val="right"/>
                    </m:oMathParaPr>
                    <m:oMath xmlns:m="http://schemas.openxmlformats.org/officeDocument/2006/math">
                      <m:sSub>
                        <m:sSubPr>
                          <m:ctrlPr>
                            <a:rPr lang="en-US" sz="2500" i="1" smtClean="0">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500" i="1">
                              <a:effectLst/>
                              <a:latin typeface="Cambria Math" panose="02040503050406030204" pitchFamily="18" charset="0"/>
                            </a:rPr>
                          </m:ctrlPr>
                        </m:sSupPr>
                        <m:e>
                          <m:d>
                            <m:dPr>
                              <m:ctrlPr>
                                <a:rPr lang="en-US" sz="2500" i="1">
                                  <a:effectLst/>
                                  <a:latin typeface="Cambria Math" panose="02040503050406030204" pitchFamily="18" charset="0"/>
                                </a:rPr>
                              </m:ctrlPr>
                            </m:dPr>
                            <m:e>
                              <m:sSubSup>
                                <m:sSubSupPr>
                                  <m:ctrlPr>
                                    <a:rPr lang="en-US" sz="2500" i="1">
                                      <a:effectLst/>
                                      <a:latin typeface="Cambria Math" panose="02040503050406030204" pitchFamily="18" charset="0"/>
                                    </a:rPr>
                                  </m:ctrlPr>
                                </m:sSub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bSup>
                            </m:e>
                          </m:d>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𝑇</m:t>
                          </m:r>
                        </m:sup>
                      </m:sSup>
                      <m:sSub>
                        <m:sSubPr>
                          <m:ctrlPr>
                            <a:rPr lang="en-US" sz="2500" i="1">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2500" i="1">
                          <a:effectLst/>
                          <a:latin typeface="Cambria Math" panose="02040503050406030204" pitchFamily="18" charset="0"/>
                          <a:ea typeface="Calibri" panose="020F0502020204030204" pitchFamily="34" charset="0"/>
                          <a:cs typeface="Times New Roman" panose="02020603050405020304" pitchFamily="18" charset="0"/>
                        </a:rPr>
                        <m:t>+</m:t>
                      </m:r>
                      <m:r>
                        <a:rPr lang="en-US" sz="25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2500" i="1">
                              <a:effectLst/>
                              <a:latin typeface="Cambria Math" panose="02040503050406030204" pitchFamily="18" charset="0"/>
                            </a:rPr>
                          </m:ctrlPr>
                        </m:naryPr>
                        <m:sub>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25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2500" i="1">
                                  <a:effectLst/>
                                  <a:latin typeface="Cambria Math" panose="02040503050406030204" pitchFamily="18" charset="0"/>
                                </a:rPr>
                              </m:ctrlPr>
                            </m:d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2500" i="1">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2500" i="1">
                                  <a:effectLst/>
                                  <a:latin typeface="Cambria Math" panose="02040503050406030204" pitchFamily="18" charset="0"/>
                                </a:rPr>
                              </m:ctrlPr>
                            </m:dPr>
                            <m:e>
                              <m:sSub>
                                <m:sSubPr>
                                  <m:ctrlPr>
                                    <a:rPr lang="en-US" sz="2500" i="1">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𝑌</m:t>
                                  </m:r>
                                </m:e>
                                <m:sub>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500" i="1">
                                      <a:effectLst/>
                                      <a:latin typeface="Cambria Math" panose="02040503050406030204" pitchFamily="18" charset="0"/>
                                    </a:rPr>
                                  </m:ctrlPr>
                                </m:sSupPr>
                                <m:e>
                                  <m:d>
                                    <m:dPr>
                                      <m:ctrlPr>
                                        <a:rPr lang="en-US" sz="2500" i="1">
                                          <a:effectLst/>
                                          <a:latin typeface="Cambria Math" panose="02040503050406030204" pitchFamily="18" charset="0"/>
                                        </a:rPr>
                                      </m:ctrlPr>
                                    </m:dPr>
                                    <m:e>
                                      <m:sSubSup>
                                        <m:sSubSupPr>
                                          <m:ctrlPr>
                                            <a:rPr lang="en-US" sz="2500" i="1">
                                              <a:effectLst/>
                                              <a:latin typeface="Cambria Math" panose="02040503050406030204" pitchFamily="18" charset="0"/>
                                            </a:rPr>
                                          </m:ctrlPr>
                                        </m:sSub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sub>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bSup>
                                    </m:e>
                                  </m:d>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𝑇</m:t>
                                  </m:r>
                                </m:sup>
                              </m:sSup>
                              <m:sSub>
                                <m:sSubPr>
                                  <m:ctrlPr>
                                    <a:rPr lang="en-US" sz="2500" i="1">
                                      <a:effectLst/>
                                      <a:latin typeface="Cambria Math" panose="02040503050406030204" pitchFamily="18" charset="0"/>
                                    </a:rPr>
                                  </m:ctrlPr>
                                </m:sSub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2500" i="1">
                                          <a:effectLst/>
                                          <a:latin typeface="Cambria Math" panose="02040503050406030204" pitchFamily="18" charset="0"/>
                                        </a:rPr>
                                      </m:ctrlPr>
                                    </m:sSupPr>
                                    <m:e>
                                      <m:r>
                                        <a:rPr lang="en-US" sz="25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25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e>
                      </m:nary>
                      <m:r>
                        <a:rPr lang="en-US" sz="2500" b="0" i="1" smtClean="0">
                          <a:effectLst/>
                          <a:latin typeface="Cambria Math" panose="02040503050406030204" pitchFamily="18" charset="0"/>
                          <a:ea typeface="Calibri" panose="020F0502020204030204" pitchFamily="34" charset="0"/>
                          <a:cs typeface="Times New Roman" panose="02020603050405020304" pitchFamily="18" charset="0"/>
                        </a:rPr>
                        <m:t>    (1.10)</m:t>
                      </m:r>
                    </m:oMath>
                  </m:oMathPara>
                </a14:m>
                <a:endParaRPr lang="en-US" sz="2500" dirty="0"/>
              </a:p>
              <a:p>
                <a:pPr marL="0" indent="0">
                  <a:buNone/>
                </a:pPr>
                <a:endParaRPr lang="en-US" sz="2500" dirty="0"/>
              </a:p>
            </p:txBody>
          </p:sp>
        </mc:Choice>
        <mc:Fallback xmlns="">
          <p:sp>
            <p:nvSpPr>
              <p:cNvPr id="3" name="Content Placeholder 2">
                <a:extLst>
                  <a:ext uri="{FF2B5EF4-FFF2-40B4-BE49-F238E27FC236}">
                    <a16:creationId xmlns:a16="http://schemas.microsoft.com/office/drawing/2014/main" id="{69943B02-1A51-628C-C91E-871529C6C0F2}"/>
                  </a:ext>
                </a:extLst>
              </p:cNvPr>
              <p:cNvSpPr>
                <a:spLocks noGrp="1" noRot="1" noChangeAspect="1" noMove="1" noResize="1" noEditPoints="1" noAdjustHandles="1" noChangeArrowheads="1" noChangeShapeType="1" noTextEdit="1"/>
              </p:cNvSpPr>
              <p:nvPr>
                <p:ph idx="1"/>
              </p:nvPr>
            </p:nvSpPr>
            <p:spPr>
              <a:blipFill>
                <a:blip r:embed="rId2"/>
                <a:stretch>
                  <a:fillRect l="-986" t="-942" r="-92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1485BC6-72FA-A88B-F65D-4B7FC87358A6}"/>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4EC2E6E1-EDEF-A77E-B3DC-73838F58F0B5}"/>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0CBC8054-AF9F-C8EF-2735-599F34C48277}"/>
              </a:ext>
            </a:extLst>
          </p:cNvPr>
          <p:cNvSpPr>
            <a:spLocks noGrp="1"/>
          </p:cNvSpPr>
          <p:nvPr>
            <p:ph type="sldNum" sz="quarter" idx="12"/>
          </p:nvPr>
        </p:nvSpPr>
        <p:spPr/>
        <p:txBody>
          <a:bodyPr/>
          <a:lstStyle/>
          <a:p>
            <a:fld id="{5DB5036F-1FF2-46C4-8D2B-59C7E3B91952}" type="slidenum">
              <a:rPr lang="en-US" smtClean="0"/>
              <a:pPr/>
              <a:t>11</a:t>
            </a:fld>
            <a:endParaRPr lang="en-US"/>
          </a:p>
        </p:txBody>
      </p:sp>
    </p:spTree>
    <p:extLst>
      <p:ext uri="{BB962C8B-B14F-4D97-AF65-F5344CB8AC3E}">
        <p14:creationId xmlns:p14="http://schemas.microsoft.com/office/powerpoint/2010/main" val="3631742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07D9C-D396-F3F6-2AED-95F8221B4ABA}"/>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CF430B-AAEA-0AF0-F094-DA9CEA167BB1}"/>
                  </a:ext>
                </a:extLst>
              </p:cNvPr>
              <p:cNvSpPr>
                <a:spLocks noGrp="1"/>
              </p:cNvSpPr>
              <p:nvPr>
                <p:ph idx="1"/>
              </p:nvPr>
            </p:nvSpPr>
            <p:spPr/>
            <p:txBody>
              <a:bodyPr>
                <a:noAutofit/>
              </a:bodyPr>
              <a:lstStyle/>
              <a:p>
                <a:pPr marL="0" indent="0">
                  <a:buNone/>
                </a:pPr>
                <a:r>
                  <a:rPr lang="en-US" sz="1900" dirty="0">
                    <a:effectLst/>
                    <a:latin typeface="Times New Roman" panose="02020603050405020304" pitchFamily="18" charset="0"/>
                    <a:ea typeface="Calibri" panose="020F0502020204030204" pitchFamily="34" charset="0"/>
                  </a:rPr>
                  <a:t>In the second step, temporal autoregressive model is estimated. For simplicity, we follow the Markov condition in which, future cases only depend on current cases. When building up spatial autoregressive model, we ignore environmental features </a:t>
                </a:r>
                <a:r>
                  <a:rPr lang="en-US" sz="1900" i="1" dirty="0" err="1">
                    <a:effectLst/>
                    <a:latin typeface="Times New Roman" panose="02020603050405020304" pitchFamily="18" charset="0"/>
                    <a:ea typeface="Calibri" panose="020F0502020204030204" pitchFamily="34" charset="0"/>
                  </a:rPr>
                  <a:t>X</a:t>
                </a:r>
                <a:r>
                  <a:rPr lang="en-US" sz="1900" i="1" baseline="-25000" dirty="0" err="1">
                    <a:effectLst/>
                    <a:latin typeface="Times New Roman" panose="02020603050405020304" pitchFamily="18" charset="0"/>
                    <a:ea typeface="Calibri" panose="020F0502020204030204" pitchFamily="34" charset="0"/>
                  </a:rPr>
                  <a:t>s</a:t>
                </a:r>
                <a:r>
                  <a:rPr lang="en-US" sz="1900" dirty="0">
                    <a:effectLst/>
                    <a:latin typeface="Times New Roman" panose="02020603050405020304" pitchFamily="18" charset="0"/>
                    <a:ea typeface="Calibri" panose="020F0502020204030204" pitchFamily="34" charset="0"/>
                  </a:rPr>
                  <a:t> in dataset or we focus on a given site </a:t>
                </a:r>
                <a:r>
                  <a:rPr lang="en-US" sz="1900" i="1" dirty="0">
                    <a:effectLst/>
                    <a:latin typeface="Times New Roman" panose="02020603050405020304" pitchFamily="18" charset="0"/>
                    <a:ea typeface="Calibri" panose="020F0502020204030204" pitchFamily="34" charset="0"/>
                  </a:rPr>
                  <a:t>s</a:t>
                </a:r>
                <a:r>
                  <a:rPr lang="en-US" sz="1900" dirty="0">
                    <a:effectLst/>
                    <a:latin typeface="Times New Roman" panose="02020603050405020304" pitchFamily="18" charset="0"/>
                    <a:ea typeface="Calibri" panose="020F0502020204030204" pitchFamily="34" charset="0"/>
                  </a:rPr>
                  <a:t>. Suppose the current number of cases </a:t>
                </a:r>
                <a:r>
                  <a:rPr lang="en-US" sz="1900" i="1" dirty="0" err="1">
                    <a:effectLst/>
                    <a:latin typeface="Times New Roman" panose="02020603050405020304" pitchFamily="18" charset="0"/>
                    <a:ea typeface="Calibri" panose="020F0502020204030204" pitchFamily="34" charset="0"/>
                  </a:rPr>
                  <a:t>Y</a:t>
                </a:r>
                <a:r>
                  <a:rPr lang="en-US" sz="1900" i="1" baseline="-25000" dirty="0" err="1">
                    <a:effectLst/>
                    <a:latin typeface="Times New Roman" panose="02020603050405020304" pitchFamily="18" charset="0"/>
                    <a:ea typeface="Calibri" panose="020F0502020204030204" pitchFamily="34" charset="0"/>
                  </a:rPr>
                  <a:t>st</a:t>
                </a:r>
                <a:r>
                  <a:rPr lang="en-US" sz="1900" dirty="0">
                    <a:effectLst/>
                    <a:latin typeface="Times New Roman" panose="02020603050405020304" pitchFamily="18" charset="0"/>
                    <a:ea typeface="Calibri" panose="020F0502020204030204" pitchFamily="34" charset="0"/>
                  </a:rPr>
                  <a:t> at site </a:t>
                </a:r>
                <a:r>
                  <a:rPr lang="en-US" sz="1900" i="1" dirty="0">
                    <a:effectLst/>
                    <a:latin typeface="Times New Roman" panose="02020603050405020304" pitchFamily="18" charset="0"/>
                    <a:ea typeface="Calibri" panose="020F0502020204030204" pitchFamily="34" charset="0"/>
                  </a:rPr>
                  <a:t>s </a:t>
                </a:r>
                <a:r>
                  <a:rPr lang="en-US" sz="1900" dirty="0">
                    <a:effectLst/>
                    <a:latin typeface="Times New Roman" panose="02020603050405020304" pitchFamily="18" charset="0"/>
                    <a:ea typeface="Calibri" panose="020F0502020204030204" pitchFamily="34" charset="0"/>
                  </a:rPr>
                  <a:t>was determined previously by spatial autoregressive model. As a convention, the “</a:t>
                </a:r>
                <a:r>
                  <a:rPr lang="en-US" sz="1900" i="1" dirty="0">
                    <a:effectLst/>
                    <a:latin typeface="Times New Roman" panose="02020603050405020304" pitchFamily="18" charset="0"/>
                    <a:ea typeface="Calibri" panose="020F0502020204030204" pitchFamily="34" charset="0"/>
                  </a:rPr>
                  <a:t>s</a:t>
                </a:r>
                <a:r>
                  <a:rPr lang="en-US" sz="1900" dirty="0">
                    <a:effectLst/>
                    <a:latin typeface="Times New Roman" panose="02020603050405020304" pitchFamily="18" charset="0"/>
                    <a:ea typeface="Calibri" panose="020F0502020204030204" pitchFamily="34" charset="0"/>
                  </a:rPr>
                  <a:t>” index is removed from the response variable and so we have </a:t>
                </a:r>
                <a:r>
                  <a:rPr lang="en-US" sz="1900" i="1" dirty="0">
                    <a:effectLst/>
                    <a:latin typeface="Times New Roman" panose="02020603050405020304" pitchFamily="18" charset="0"/>
                    <a:ea typeface="Calibri" panose="020F0502020204030204" pitchFamily="34" charset="0"/>
                  </a:rPr>
                  <a:t>Y</a:t>
                </a:r>
                <a:r>
                  <a:rPr lang="en-US" sz="1900" i="1" baseline="-25000" dirty="0">
                    <a:effectLst/>
                    <a:latin typeface="Times New Roman" panose="02020603050405020304" pitchFamily="18" charset="0"/>
                    <a:ea typeface="Calibri" panose="020F0502020204030204" pitchFamily="34" charset="0"/>
                  </a:rPr>
                  <a:t>t</a:t>
                </a:r>
                <a:r>
                  <a:rPr lang="en-US" sz="1900" baseline="-25000" dirty="0">
                    <a:effectLst/>
                    <a:latin typeface="Times New Roman" panose="02020603050405020304" pitchFamily="18" charset="0"/>
                    <a:ea typeface="Calibri" panose="020F0502020204030204" pitchFamily="34" charset="0"/>
                  </a:rPr>
                  <a:t>+1</a:t>
                </a:r>
                <a:r>
                  <a:rPr lang="en-US" sz="1900" dirty="0">
                    <a:effectLst/>
                    <a:latin typeface="Times New Roman" panose="02020603050405020304" pitchFamily="18" charset="0"/>
                    <a:ea typeface="Calibri" panose="020F0502020204030204" pitchFamily="34" charset="0"/>
                  </a:rPr>
                  <a:t> = </a:t>
                </a:r>
                <a:r>
                  <a:rPr lang="en-US" sz="1900" i="1" dirty="0">
                    <a:effectLst/>
                    <a:latin typeface="Times New Roman" panose="02020603050405020304" pitchFamily="18" charset="0"/>
                    <a:ea typeface="Calibri" panose="020F0502020204030204" pitchFamily="34" charset="0"/>
                  </a:rPr>
                  <a:t>Y</a:t>
                </a:r>
                <a:r>
                  <a:rPr lang="en-US" sz="1900" i="1" baseline="-25000" dirty="0">
                    <a:effectLst/>
                    <a:latin typeface="Times New Roman" panose="02020603050405020304" pitchFamily="18" charset="0"/>
                    <a:ea typeface="Calibri" panose="020F0502020204030204" pitchFamily="34" charset="0"/>
                  </a:rPr>
                  <a:t>s</a:t>
                </a:r>
                <a:r>
                  <a:rPr lang="en-US" sz="1900" baseline="-25000" dirty="0">
                    <a:effectLst/>
                    <a:latin typeface="Times New Roman" panose="02020603050405020304" pitchFamily="18" charset="0"/>
                    <a:ea typeface="Calibri" panose="020F0502020204030204" pitchFamily="34" charset="0"/>
                  </a:rPr>
                  <a:t>(</a:t>
                </a:r>
                <a:r>
                  <a:rPr lang="en-US" sz="1900" i="1" baseline="-25000" dirty="0">
                    <a:effectLst/>
                    <a:latin typeface="Times New Roman" panose="02020603050405020304" pitchFamily="18" charset="0"/>
                    <a:ea typeface="Calibri" panose="020F0502020204030204" pitchFamily="34" charset="0"/>
                  </a:rPr>
                  <a:t>t</a:t>
                </a:r>
                <a:r>
                  <a:rPr lang="en-US" sz="1900" baseline="-25000" dirty="0">
                    <a:effectLst/>
                    <a:latin typeface="Times New Roman" panose="02020603050405020304" pitchFamily="18" charset="0"/>
                    <a:ea typeface="Calibri" panose="020F0502020204030204" pitchFamily="34" charset="0"/>
                  </a:rPr>
                  <a:t>+1)</a:t>
                </a:r>
                <a:r>
                  <a:rPr lang="en-US" sz="1900" dirty="0">
                    <a:effectLst/>
                    <a:latin typeface="Times New Roman" panose="02020603050405020304" pitchFamily="18" charset="0"/>
                    <a:ea typeface="Calibri" panose="020F0502020204030204" pitchFamily="34" charset="0"/>
                  </a:rPr>
                  <a:t> and </a:t>
                </a:r>
                <a:r>
                  <a:rPr lang="en-US" sz="1900" i="1" dirty="0" err="1">
                    <a:effectLst/>
                    <a:latin typeface="Times New Roman" panose="02020603050405020304" pitchFamily="18" charset="0"/>
                    <a:ea typeface="Calibri" panose="020F0502020204030204" pitchFamily="34" charset="0"/>
                  </a:rPr>
                  <a:t>Y</a:t>
                </a:r>
                <a:r>
                  <a:rPr lang="en-US" sz="1900" i="1" baseline="-25000" dirty="0" err="1">
                    <a:effectLst/>
                    <a:latin typeface="Times New Roman" panose="02020603050405020304" pitchFamily="18" charset="0"/>
                    <a:ea typeface="Calibri" panose="020F0502020204030204" pitchFamily="34" charset="0"/>
                  </a:rPr>
                  <a:t>t</a:t>
                </a:r>
                <a:r>
                  <a:rPr lang="en-US" sz="1900" dirty="0">
                    <a:effectLst/>
                    <a:latin typeface="Times New Roman" panose="02020603050405020304" pitchFamily="18" charset="0"/>
                    <a:ea typeface="Calibri" panose="020F0502020204030204" pitchFamily="34" charset="0"/>
                  </a:rPr>
                  <a:t> = </a:t>
                </a:r>
                <a:r>
                  <a:rPr lang="en-US" sz="1900" i="1" dirty="0" err="1">
                    <a:effectLst/>
                    <a:latin typeface="Times New Roman" panose="02020603050405020304" pitchFamily="18" charset="0"/>
                    <a:ea typeface="Calibri" panose="020F0502020204030204" pitchFamily="34" charset="0"/>
                  </a:rPr>
                  <a:t>Y</a:t>
                </a:r>
                <a:r>
                  <a:rPr lang="en-US" sz="1900" i="1" baseline="-25000" dirty="0" err="1">
                    <a:effectLst/>
                    <a:latin typeface="Times New Roman" panose="02020603050405020304" pitchFamily="18" charset="0"/>
                    <a:ea typeface="Calibri" panose="020F0502020204030204" pitchFamily="34" charset="0"/>
                  </a:rPr>
                  <a:t>st</a:t>
                </a:r>
                <a:r>
                  <a:rPr lang="en-US" sz="1900" dirty="0">
                    <a:effectLst/>
                    <a:latin typeface="Times New Roman" panose="02020603050405020304" pitchFamily="18" charset="0"/>
                    <a:ea typeface="Calibri" panose="020F0502020204030204" pitchFamily="34" charset="0"/>
                  </a:rPr>
                  <a:t>. We will forecast next (unknown) </a:t>
                </a:r>
                <a:r>
                  <a:rPr lang="en-US" sz="1900" i="1" dirty="0">
                    <a:effectLst/>
                    <a:latin typeface="Times New Roman" panose="02020603050405020304" pitchFamily="18" charset="0"/>
                    <a:ea typeface="Calibri" panose="020F0502020204030204" pitchFamily="34" charset="0"/>
                  </a:rPr>
                  <a:t>Y</a:t>
                </a:r>
                <a:r>
                  <a:rPr lang="en-US" sz="1900" i="1" baseline="-25000" dirty="0">
                    <a:effectLst/>
                    <a:latin typeface="Times New Roman" panose="02020603050405020304" pitchFamily="18" charset="0"/>
                    <a:ea typeface="Calibri" panose="020F0502020204030204" pitchFamily="34" charset="0"/>
                  </a:rPr>
                  <a:t>t</a:t>
                </a:r>
                <a:r>
                  <a:rPr lang="en-US" sz="1900" baseline="-25000" dirty="0">
                    <a:effectLst/>
                    <a:latin typeface="Times New Roman" panose="02020603050405020304" pitchFamily="18" charset="0"/>
                    <a:ea typeface="Calibri" panose="020F0502020204030204" pitchFamily="34" charset="0"/>
                  </a:rPr>
                  <a:t>+1</a:t>
                </a:r>
                <a:r>
                  <a:rPr lang="en-US" sz="1900" dirty="0">
                    <a:effectLst/>
                    <a:latin typeface="Times New Roman" panose="02020603050405020304" pitchFamily="18" charset="0"/>
                    <a:ea typeface="Calibri" panose="020F0502020204030204" pitchFamily="34" charset="0"/>
                  </a:rPr>
                  <a:t> based on current (known) </a:t>
                </a:r>
                <a:r>
                  <a:rPr lang="en-US" sz="1900" i="1" dirty="0" err="1">
                    <a:effectLst/>
                    <a:latin typeface="Times New Roman" panose="02020603050405020304" pitchFamily="18" charset="0"/>
                    <a:ea typeface="Calibri" panose="020F0502020204030204" pitchFamily="34" charset="0"/>
                  </a:rPr>
                  <a:t>Y</a:t>
                </a:r>
                <a:r>
                  <a:rPr lang="en-US" sz="1900" i="1" baseline="-25000" dirty="0" err="1">
                    <a:effectLst/>
                    <a:latin typeface="Times New Roman" panose="02020603050405020304" pitchFamily="18" charset="0"/>
                    <a:ea typeface="Calibri" panose="020F0502020204030204" pitchFamily="34" charset="0"/>
                  </a:rPr>
                  <a:t>t</a:t>
                </a:r>
                <a:r>
                  <a:rPr lang="en-US" sz="1900" dirty="0">
                    <a:effectLst/>
                    <a:latin typeface="Times New Roman" panose="02020603050405020304" pitchFamily="18" charset="0"/>
                    <a:ea typeface="Calibri" panose="020F0502020204030204" pitchFamily="34" charset="0"/>
                  </a:rPr>
                  <a:t>. The temporal autoregressive model is defined as follows (</a:t>
                </a:r>
                <a:r>
                  <a:rPr lang="en-US" sz="1900" dirty="0" err="1">
                    <a:effectLst/>
                    <a:latin typeface="Times New Roman" panose="02020603050405020304" pitchFamily="18" charset="0"/>
                    <a:ea typeface="Calibri" panose="020F0502020204030204" pitchFamily="34" charset="0"/>
                  </a:rPr>
                  <a:t>Eshel</a:t>
                </a:r>
                <a:r>
                  <a:rPr lang="en-US" sz="1900" dirty="0">
                    <a:effectLst/>
                    <a:latin typeface="Times New Roman" panose="02020603050405020304" pitchFamily="18" charset="0"/>
                    <a:ea typeface="Calibri" panose="020F0502020204030204" pitchFamily="34" charset="0"/>
                  </a:rPr>
                  <a:t>, 2003, p. 1):</a:t>
                </a:r>
              </a:p>
              <a:p>
                <a:pPr marL="0" indent="0">
                  <a:buNone/>
                </a:pPr>
                <a14:m>
                  <m:oMathPara xmlns:m="http://schemas.openxmlformats.org/officeDocument/2006/math">
                    <m:oMathParaPr>
                      <m:jc m:val="right"/>
                    </m:oMathParaPr>
                    <m:oMath xmlns:m="http://schemas.openxmlformats.org/officeDocument/2006/math">
                      <m:sSub>
                        <m:sSubPr>
                          <m:ctrlPr>
                            <a:rPr lang="en-US" sz="1900" i="1" smtClean="0">
                              <a:effectLst/>
                              <a:latin typeface="Cambria Math" panose="02040503050406030204" pitchFamily="18" charset="0"/>
                            </a:rPr>
                          </m:ctrlPr>
                        </m:sSubPr>
                        <m:e>
                          <m:r>
                            <a:rPr lang="en-US" sz="19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900" i="1">
                              <a:effectLst/>
                              <a:latin typeface="Cambria Math" panose="02040503050406030204" pitchFamily="18" charset="0"/>
                              <a:ea typeface="Calibri" panose="020F0502020204030204" pitchFamily="34" charset="0"/>
                              <a:cs typeface="Times New Roman" panose="02020603050405020304" pitchFamily="18" charset="0"/>
                            </a:rPr>
                            <m:t>𝑡</m:t>
                          </m:r>
                          <m:r>
                            <a:rPr lang="en-US" sz="19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900" i="1">
                          <a:effectLst/>
                          <a:latin typeface="Cambria Math" panose="02040503050406030204" pitchFamily="18" charset="0"/>
                          <a:ea typeface="Calibri" panose="020F0502020204030204" pitchFamily="34" charset="0"/>
                          <a:cs typeface="Times New Roman" panose="02020603050405020304" pitchFamily="18" charset="0"/>
                        </a:rPr>
                        <m:t>=</m:t>
                      </m:r>
                      <m:r>
                        <a:rPr lang="en-US" sz="1900" i="1">
                          <a:effectLst/>
                          <a:latin typeface="Cambria Math" panose="02040503050406030204" pitchFamily="18" charset="0"/>
                          <a:ea typeface="Calibri" panose="020F0502020204030204" pitchFamily="34" charset="0"/>
                          <a:cs typeface="Times New Roman" panose="02020603050405020304" pitchFamily="18" charset="0"/>
                        </a:rPr>
                        <m:t>𝛽</m:t>
                      </m:r>
                      <m:sSub>
                        <m:sSubPr>
                          <m:ctrlPr>
                            <a:rPr lang="en-US" sz="1900" i="1">
                              <a:effectLst/>
                              <a:latin typeface="Cambria Math" panose="02040503050406030204" pitchFamily="18" charset="0"/>
                            </a:rPr>
                          </m:ctrlPr>
                        </m:sSubPr>
                        <m:e>
                          <m:r>
                            <a:rPr lang="en-US" sz="19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900" i="1">
                              <a:effectLst/>
                              <a:latin typeface="Cambria Math" panose="02040503050406030204" pitchFamily="18" charset="0"/>
                              <a:ea typeface="Calibri" panose="020F0502020204030204" pitchFamily="34" charset="0"/>
                              <a:cs typeface="Times New Roman" panose="02020603050405020304" pitchFamily="18" charset="0"/>
                            </a:rPr>
                            <m:t>𝑡</m:t>
                          </m:r>
                        </m:sub>
                      </m:sSub>
                      <m:r>
                        <a:rPr lang="en-US" sz="1900" i="1">
                          <a:effectLst/>
                          <a:latin typeface="Cambria Math" panose="02040503050406030204" pitchFamily="18" charset="0"/>
                          <a:ea typeface="Calibri" panose="020F0502020204030204" pitchFamily="34" charset="0"/>
                          <a:cs typeface="Times New Roman" panose="02020603050405020304" pitchFamily="18" charset="0"/>
                        </a:rPr>
                        <m:t>+</m:t>
                      </m:r>
                      <m:r>
                        <a:rPr lang="en-US" sz="1900" i="1">
                          <a:effectLst/>
                          <a:latin typeface="Cambria Math" panose="02040503050406030204" pitchFamily="18" charset="0"/>
                          <a:ea typeface="Calibri" panose="020F0502020204030204" pitchFamily="34" charset="0"/>
                          <a:cs typeface="Times New Roman" panose="02020603050405020304" pitchFamily="18" charset="0"/>
                        </a:rPr>
                        <m:t>𝜀</m:t>
                      </m:r>
                      <m:r>
                        <a:rPr lang="en-US" sz="1900" b="0" i="1" smtClean="0">
                          <a:effectLst/>
                          <a:latin typeface="Cambria Math" panose="02040503050406030204" pitchFamily="18" charset="0"/>
                          <a:ea typeface="Calibri" panose="020F0502020204030204" pitchFamily="34" charset="0"/>
                          <a:cs typeface="Times New Roman" panose="02020603050405020304" pitchFamily="18" charset="0"/>
                        </a:rPr>
                        <m:t>    (1.11)</m:t>
                      </m:r>
                    </m:oMath>
                  </m:oMathPara>
                </a14:m>
                <a:endParaRPr lang="en-US" sz="1900" dirty="0"/>
              </a:p>
              <a:p>
                <a:pPr marL="0" marR="0" indent="0" algn="just">
                  <a:spcBef>
                    <a:spcPts val="0"/>
                  </a:spcBef>
                  <a:spcAft>
                    <a:spcPts val="0"/>
                  </a:spcAft>
                  <a:buNone/>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Where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ε</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is the error random variable and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β</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is temporal coefficient with note that mean of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ε</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is 0 such that</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sz="1900" i="1">
                          <a:effectLst/>
                          <a:latin typeface="Cambria Math" panose="02040503050406030204" pitchFamily="18" charset="0"/>
                          <a:ea typeface="Calibri" panose="020F0502020204030204" pitchFamily="34" charset="0"/>
                          <a:cs typeface="Times New Roman" panose="02020603050405020304" pitchFamily="18" charset="0"/>
                        </a:rPr>
                        <m:t>𝐸</m:t>
                      </m:r>
                      <m:d>
                        <m:d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9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900" i="1">
                                  <a:effectLst/>
                                  <a:latin typeface="Cambria Math" panose="02040503050406030204" pitchFamily="18" charset="0"/>
                                  <a:ea typeface="Calibri" panose="020F0502020204030204" pitchFamily="34" charset="0"/>
                                  <a:cs typeface="Times New Roman" panose="02020603050405020304" pitchFamily="18" charset="0"/>
                                </a:rPr>
                                <m:t>𝑡</m:t>
                              </m:r>
                              <m:r>
                                <a:rPr lang="en-US" sz="1900" i="1">
                                  <a:effectLst/>
                                  <a:latin typeface="Cambria Math" panose="02040503050406030204" pitchFamily="18" charset="0"/>
                                  <a:ea typeface="Calibri" panose="020F0502020204030204" pitchFamily="34" charset="0"/>
                                  <a:cs typeface="Times New Roman" panose="02020603050405020304" pitchFamily="18" charset="0"/>
                                </a:rPr>
                                <m:t>+1</m:t>
                              </m:r>
                            </m:sub>
                          </m:sSub>
                        </m:e>
                      </m:d>
                      <m:r>
                        <a:rPr lang="en-US" sz="1900" i="1">
                          <a:effectLst/>
                          <a:latin typeface="Cambria Math" panose="02040503050406030204" pitchFamily="18" charset="0"/>
                          <a:ea typeface="Calibri" panose="020F0502020204030204" pitchFamily="34" charset="0"/>
                          <a:cs typeface="Times New Roman" panose="02020603050405020304" pitchFamily="18" charset="0"/>
                        </a:rPr>
                        <m:t>=</m:t>
                      </m:r>
                      <m:r>
                        <a:rPr lang="en-US" sz="1900" i="1">
                          <a:effectLst/>
                          <a:latin typeface="Cambria Math" panose="02040503050406030204" pitchFamily="18" charset="0"/>
                          <a:ea typeface="Calibri" panose="020F0502020204030204" pitchFamily="34" charset="0"/>
                          <a:cs typeface="Times New Roman" panose="02020603050405020304" pitchFamily="18" charset="0"/>
                        </a:rPr>
                        <m:t>𝛽</m:t>
                      </m:r>
                      <m:sSub>
                        <m:sSub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9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900" i="1">
                              <a:effectLst/>
                              <a:latin typeface="Cambria Math" panose="02040503050406030204" pitchFamily="18" charset="0"/>
                              <a:ea typeface="Calibri" panose="020F0502020204030204" pitchFamily="34" charset="0"/>
                              <a:cs typeface="Times New Roman" panose="02020603050405020304" pitchFamily="18" charset="0"/>
                            </a:rPr>
                            <m:t>𝑡</m:t>
                          </m:r>
                        </m:sub>
                      </m:sSub>
                    </m:oMath>
                  </m:oMathPara>
                </a14:m>
                <a:endParaRPr lang="en-US"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Let </a:t>
                </a:r>
                <a:r>
                  <a:rPr lang="en-US" sz="19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n-US" sz="1900" i="1" baseline="-25000" dirty="0" err="1">
                    <a:effectLst/>
                    <a:latin typeface="Times New Roman" panose="02020603050405020304" pitchFamily="18" charset="0"/>
                    <a:ea typeface="Calibri" panose="020F0502020204030204" pitchFamily="34" charset="0"/>
                    <a:cs typeface="Times New Roman" panose="02020603050405020304" pitchFamily="18" charset="0"/>
                  </a:rPr>
                  <a:t>t</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be the value of </a:t>
                </a:r>
                <a:r>
                  <a:rPr lang="en-US" sz="19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n-US" sz="1900" i="1" baseline="-25000" dirty="0" err="1">
                    <a:effectLst/>
                    <a:latin typeface="Times New Roman" panose="02020603050405020304" pitchFamily="18" charset="0"/>
                    <a:ea typeface="Calibri" panose="020F0502020204030204" pitchFamily="34" charset="0"/>
                    <a:cs typeface="Times New Roman" panose="02020603050405020304" pitchFamily="18" charset="0"/>
                  </a:rPr>
                  <a:t>t</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at timepoint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Suppose there are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timepoints and we have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 1, 2,…,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The sum of squared errors is defined as follows:</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sz="1900" i="1">
                          <a:effectLst/>
                          <a:latin typeface="Cambria Math" panose="02040503050406030204" pitchFamily="18" charset="0"/>
                          <a:ea typeface="Calibri" panose="020F0502020204030204" pitchFamily="34" charset="0"/>
                          <a:cs typeface="Times New Roman" panose="02020603050405020304" pitchFamily="18" charset="0"/>
                        </a:rPr>
                        <m:t>𝑆</m:t>
                      </m:r>
                      <m:d>
                        <m:d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900" i="1">
                              <a:effectLst/>
                              <a:latin typeface="Cambria Math" panose="02040503050406030204" pitchFamily="18" charset="0"/>
                              <a:ea typeface="Calibri" panose="020F0502020204030204" pitchFamily="34" charset="0"/>
                              <a:cs typeface="Times New Roman" panose="02020603050405020304" pitchFamily="18" charset="0"/>
                            </a:rPr>
                            <m:t>𝛽</m:t>
                          </m:r>
                        </m:e>
                      </m:d>
                      <m:r>
                        <a:rPr lang="en-US" sz="19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900" i="1">
                              <a:effectLst/>
                              <a:latin typeface="Cambria Math" panose="02040503050406030204" pitchFamily="18" charset="0"/>
                              <a:ea typeface="Calibri" panose="020F0502020204030204" pitchFamily="34" charset="0"/>
                              <a:cs typeface="Times New Roman" panose="02020603050405020304" pitchFamily="18" charset="0"/>
                            </a:rPr>
                            <m:t>𝑡</m:t>
                          </m:r>
                          <m:r>
                            <a:rPr lang="en-US" sz="19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900" i="1">
                              <a:effectLst/>
                              <a:latin typeface="Cambria Math" panose="02040503050406030204" pitchFamily="18" charset="0"/>
                              <a:ea typeface="Calibri" panose="020F0502020204030204" pitchFamily="34" charset="0"/>
                              <a:cs typeface="Times New Roman" panose="02020603050405020304" pitchFamily="18" charset="0"/>
                            </a:rPr>
                            <m:t>𝑇</m:t>
                          </m:r>
                          <m:r>
                            <a:rPr lang="en-US" sz="1900" i="1">
                              <a:effectLst/>
                              <a:latin typeface="Cambria Math" panose="02040503050406030204" pitchFamily="18" charset="0"/>
                              <a:ea typeface="Calibri" panose="020F0502020204030204" pitchFamily="34" charset="0"/>
                              <a:cs typeface="Times New Roman" panose="02020603050405020304" pitchFamily="18" charset="0"/>
                            </a:rPr>
                            <m:t>−1</m:t>
                          </m:r>
                        </m:sup>
                        <m:e>
                          <m:sSup>
                            <m:sSup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9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900" i="1">
                                          <a:effectLst/>
                                          <a:latin typeface="Cambria Math" panose="02040503050406030204" pitchFamily="18" charset="0"/>
                                          <a:ea typeface="Calibri" panose="020F0502020204030204" pitchFamily="34" charset="0"/>
                                          <a:cs typeface="Times New Roman" panose="02020603050405020304" pitchFamily="18" charset="0"/>
                                        </a:rPr>
                                        <m:t>𝑡</m:t>
                                      </m:r>
                                      <m:r>
                                        <a:rPr lang="en-US" sz="19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900" i="1">
                                      <a:effectLst/>
                                      <a:latin typeface="Cambria Math" panose="02040503050406030204" pitchFamily="18" charset="0"/>
                                      <a:ea typeface="Calibri" panose="020F0502020204030204" pitchFamily="34" charset="0"/>
                                      <a:cs typeface="Times New Roman" panose="02020603050405020304" pitchFamily="18" charset="0"/>
                                    </a:rPr>
                                    <m:t>−</m:t>
                                  </m:r>
                                  <m:r>
                                    <a:rPr lang="en-US" sz="1900" i="1">
                                      <a:effectLst/>
                                      <a:latin typeface="Cambria Math" panose="02040503050406030204" pitchFamily="18" charset="0"/>
                                      <a:ea typeface="Calibri" panose="020F0502020204030204" pitchFamily="34" charset="0"/>
                                      <a:cs typeface="Times New Roman" panose="02020603050405020304" pitchFamily="18" charset="0"/>
                                    </a:rPr>
                                    <m:t>𝛽</m:t>
                                  </m:r>
                                  <m:sSub>
                                    <m:sSub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9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900" i="1">
                                          <a:effectLst/>
                                          <a:latin typeface="Cambria Math" panose="02040503050406030204" pitchFamily="18" charset="0"/>
                                          <a:ea typeface="Calibri" panose="020F0502020204030204" pitchFamily="34" charset="0"/>
                                          <a:cs typeface="Times New Roman" panose="02020603050405020304" pitchFamily="18" charset="0"/>
                                        </a:rPr>
                                        <m:t>𝑡</m:t>
                                      </m:r>
                                    </m:sub>
                                  </m:sSub>
                                </m:e>
                              </m:d>
                            </m:e>
                            <m:sup>
                              <m:r>
                                <a:rPr lang="en-US" sz="1900" i="1">
                                  <a:effectLst/>
                                  <a:latin typeface="Cambria Math" panose="02040503050406030204" pitchFamily="18" charset="0"/>
                                  <a:ea typeface="Calibri" panose="020F0502020204030204" pitchFamily="34" charset="0"/>
                                  <a:cs typeface="Times New Roman" panose="02020603050405020304" pitchFamily="18" charset="0"/>
                                </a:rPr>
                                <m:t>2</m:t>
                              </m:r>
                            </m:sup>
                          </m:sSup>
                        </m:e>
                      </m:nary>
                    </m:oMath>
                  </m:oMathPara>
                </a14:m>
                <a:endParaRPr lang="en-US"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Let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β</a:t>
                </a:r>
                <a:r>
                  <a:rPr lang="en-US" sz="19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be the estimate of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β</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The least squares method sets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β</a:t>
                </a:r>
                <a:r>
                  <a:rPr lang="en-US" sz="19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 as the minimizer of </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900" i="1" dirty="0">
                    <a:effectLst/>
                    <a:latin typeface="Times New Roman" panose="02020603050405020304" pitchFamily="18" charset="0"/>
                    <a:ea typeface="Calibri" panose="020F0502020204030204" pitchFamily="34" charset="0"/>
                    <a:cs typeface="Times New Roman" panose="02020603050405020304" pitchFamily="18" charset="0"/>
                  </a:rPr>
                  <a:t>β</a:t>
                </a: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900" i="1">
                              <a:effectLst/>
                              <a:latin typeface="Cambria Math" panose="02040503050406030204" pitchFamily="18" charset="0"/>
                              <a:ea typeface="Calibri" panose="020F0502020204030204" pitchFamily="34" charset="0"/>
                              <a:cs typeface="Times New Roman" panose="02020603050405020304" pitchFamily="18" charset="0"/>
                            </a:rPr>
                            <m:t>𝛽</m:t>
                          </m:r>
                        </m:e>
                        <m:sup>
                          <m:r>
                            <a:rPr lang="en-US" sz="19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900" i="1">
                          <a:effectLst/>
                          <a:latin typeface="Cambria Math" panose="02040503050406030204" pitchFamily="18" charset="0"/>
                          <a:ea typeface="Calibri" panose="020F0502020204030204" pitchFamily="34" charset="0"/>
                          <a:cs typeface="Times New Roman" panose="02020603050405020304" pitchFamily="18" charset="0"/>
                        </a:rPr>
                        <m:t>=</m:t>
                      </m:r>
                      <m:func>
                        <m:func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funcPr>
                        <m:fName>
                          <m:limLow>
                            <m:limLow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limLowPr>
                            <m:e>
                              <m:r>
                                <m:rPr>
                                  <m:sty m:val="p"/>
                                </m:rPr>
                                <a:rPr lang="en-US" sz="1900">
                                  <a:effectLst/>
                                  <a:latin typeface="Cambria Math" panose="02040503050406030204" pitchFamily="18" charset="0"/>
                                  <a:ea typeface="Calibri" panose="020F0502020204030204" pitchFamily="34" charset="0"/>
                                  <a:cs typeface="Times New Roman" panose="02020603050405020304" pitchFamily="18" charset="0"/>
                                </a:rPr>
                                <m:t>argmin</m:t>
                              </m:r>
                            </m:e>
                            <m:lim>
                              <m:r>
                                <a:rPr lang="en-US" sz="1900" i="1">
                                  <a:effectLst/>
                                  <a:latin typeface="Cambria Math" panose="02040503050406030204" pitchFamily="18" charset="0"/>
                                  <a:ea typeface="Calibri" panose="020F0502020204030204" pitchFamily="34" charset="0"/>
                                  <a:cs typeface="Times New Roman" panose="02020603050405020304" pitchFamily="18" charset="0"/>
                                </a:rPr>
                                <m:t>𝛽</m:t>
                              </m:r>
                            </m:lim>
                          </m:limLow>
                        </m:fName>
                        <m:e>
                          <m:r>
                            <a:rPr lang="en-US" sz="1900" i="1">
                              <a:effectLst/>
                              <a:latin typeface="Cambria Math" panose="02040503050406030204" pitchFamily="18" charset="0"/>
                              <a:ea typeface="Calibri" panose="020F0502020204030204" pitchFamily="34" charset="0"/>
                              <a:cs typeface="Times New Roman" panose="02020603050405020304" pitchFamily="18" charset="0"/>
                            </a:rPr>
                            <m:t>𝑆</m:t>
                          </m:r>
                          <m:d>
                            <m:dPr>
                              <m:ctrlPr>
                                <a:rPr lang="en-US" sz="19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900" i="1">
                                  <a:effectLst/>
                                  <a:latin typeface="Cambria Math" panose="02040503050406030204" pitchFamily="18" charset="0"/>
                                  <a:ea typeface="Calibri" panose="020F0502020204030204" pitchFamily="34" charset="0"/>
                                  <a:cs typeface="Times New Roman" panose="02020603050405020304" pitchFamily="18" charset="0"/>
                                </a:rPr>
                                <m:t>𝛽</m:t>
                              </m:r>
                            </m:e>
                          </m:d>
                        </m:e>
                      </m:func>
                    </m:oMath>
                  </m:oMathPara>
                </a14:m>
                <a:endParaRPr lang="en-US"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900" dirty="0"/>
              </a:p>
            </p:txBody>
          </p:sp>
        </mc:Choice>
        <mc:Fallback xmlns="">
          <p:sp>
            <p:nvSpPr>
              <p:cNvPr id="3" name="Content Placeholder 2">
                <a:extLst>
                  <a:ext uri="{FF2B5EF4-FFF2-40B4-BE49-F238E27FC236}">
                    <a16:creationId xmlns:a16="http://schemas.microsoft.com/office/drawing/2014/main" id="{8DCF430B-AAEA-0AF0-F094-DA9CEA167BB1}"/>
                  </a:ext>
                </a:extLst>
              </p:cNvPr>
              <p:cNvSpPr>
                <a:spLocks noGrp="1" noRot="1" noChangeAspect="1" noMove="1" noResize="1" noEditPoints="1" noAdjustHandles="1" noChangeArrowheads="1" noChangeShapeType="1" noTextEdit="1"/>
              </p:cNvSpPr>
              <p:nvPr>
                <p:ph idx="1"/>
              </p:nvPr>
            </p:nvSpPr>
            <p:spPr>
              <a:blipFill>
                <a:blip r:embed="rId2"/>
                <a:stretch>
                  <a:fillRect l="-580" t="-589" r="-52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7FDDB2C-09E3-F91B-6E43-775DB66DC053}"/>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0B43CE06-35BE-CE59-FA01-62916CC7D31A}"/>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433E768D-316D-D08D-6816-448036B149ED}"/>
              </a:ext>
            </a:extLst>
          </p:cNvPr>
          <p:cNvSpPr>
            <a:spLocks noGrp="1"/>
          </p:cNvSpPr>
          <p:nvPr>
            <p:ph type="sldNum" sz="quarter" idx="12"/>
          </p:nvPr>
        </p:nvSpPr>
        <p:spPr/>
        <p:txBody>
          <a:bodyPr/>
          <a:lstStyle/>
          <a:p>
            <a:fld id="{5DB5036F-1FF2-46C4-8D2B-59C7E3B91952}" type="slidenum">
              <a:rPr lang="en-US" smtClean="0"/>
              <a:pPr/>
              <a:t>12</a:t>
            </a:fld>
            <a:endParaRPr lang="en-US"/>
          </a:p>
        </p:txBody>
      </p:sp>
    </p:spTree>
    <p:extLst>
      <p:ext uri="{BB962C8B-B14F-4D97-AF65-F5344CB8AC3E}">
        <p14:creationId xmlns:p14="http://schemas.microsoft.com/office/powerpoint/2010/main" val="1545747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7023-9E50-0D74-174C-5E26E2E0ADD6}"/>
              </a:ext>
            </a:extLst>
          </p:cNvPr>
          <p:cNvSpPr>
            <a:spLocks noGrp="1"/>
          </p:cNvSpPr>
          <p:nvPr>
            <p:ph type="title"/>
          </p:nvPr>
        </p:nvSpPr>
        <p:spPr/>
        <p:txBody>
          <a:bodyPr/>
          <a:lstStyle/>
          <a:p>
            <a:r>
              <a:rPr lang="en-US" dirty="0"/>
              <a:t>1. Two-step autoregressive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A4226B-B60D-67C0-B143-BFDECFCF6600}"/>
                  </a:ext>
                </a:extLst>
              </p:cNvPr>
              <p:cNvSpPr>
                <a:spLocks noGrp="1"/>
              </p:cNvSpPr>
              <p:nvPr>
                <p:ph idx="1"/>
              </p:nvPr>
            </p:nvSpPr>
            <p:spPr/>
            <p:txBody>
              <a:bodyPr>
                <a:noAutofit/>
              </a:bodyPr>
              <a:lstStyle/>
              <a:p>
                <a:pPr marL="0" marR="0" indent="0" algn="just">
                  <a:spcBef>
                    <a:spcPts val="0"/>
                  </a:spcBef>
                  <a:spcAft>
                    <a:spcPts val="0"/>
                  </a:spcAft>
                  <a:buNone/>
                </a:pP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By taking first-order derivative of </a:t>
                </a:r>
                <a:r>
                  <a:rPr lang="en-US" sz="21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100" i="1" dirty="0">
                    <a:effectLst/>
                    <a:latin typeface="Times New Roman" panose="02020603050405020304" pitchFamily="18" charset="0"/>
                    <a:ea typeface="Calibri" panose="020F0502020204030204" pitchFamily="34" charset="0"/>
                    <a:cs typeface="Times New Roman" panose="02020603050405020304" pitchFamily="18" charset="0"/>
                  </a:rPr>
                  <a:t>β</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with regard to </a:t>
                </a:r>
                <a:r>
                  <a:rPr lang="en-US" sz="2100" i="1" dirty="0">
                    <a:effectLst/>
                    <a:latin typeface="Times New Roman" panose="02020603050405020304" pitchFamily="18" charset="0"/>
                    <a:ea typeface="Calibri" panose="020F0502020204030204" pitchFamily="34" charset="0"/>
                    <a:cs typeface="Times New Roman" panose="02020603050405020304" pitchFamily="18" charset="0"/>
                  </a:rPr>
                  <a:t>β</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we obtain (</a:t>
                </a:r>
                <a:r>
                  <a:rPr lang="en-US" sz="2100" dirty="0" err="1">
                    <a:effectLst/>
                    <a:latin typeface="Times New Roman" panose="02020603050405020304" pitchFamily="18" charset="0"/>
                    <a:ea typeface="Calibri" panose="020F0502020204030204" pitchFamily="34" charset="0"/>
                    <a:cs typeface="Times New Roman" panose="02020603050405020304" pitchFamily="18" charset="0"/>
                  </a:rPr>
                  <a:t>Eshel</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2003, p. 1):</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100" i="1">
                              <a:effectLst/>
                              <a:latin typeface="Cambria Math" panose="02040503050406030204" pitchFamily="18" charset="0"/>
                              <a:ea typeface="Calibri" panose="020F0502020204030204" pitchFamily="34" charset="0"/>
                              <a:cs typeface="Times New Roman" panose="02020603050405020304" pitchFamily="18" charset="0"/>
                            </a:rPr>
                            <m:t>𝑑𝑆</m:t>
                          </m:r>
                          <m:d>
                            <m:d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100" i="1">
                                  <a:effectLst/>
                                  <a:latin typeface="Cambria Math" panose="02040503050406030204" pitchFamily="18" charset="0"/>
                                  <a:ea typeface="Calibri" panose="020F0502020204030204" pitchFamily="34" charset="0"/>
                                  <a:cs typeface="Times New Roman" panose="02020603050405020304" pitchFamily="18" charset="0"/>
                                </a:rPr>
                                <m:t>𝛽</m:t>
                              </m:r>
                            </m:e>
                          </m:d>
                        </m:num>
                        <m:den>
                          <m:r>
                            <a:rPr lang="en-US" sz="2100" i="1">
                              <a:effectLst/>
                              <a:latin typeface="Cambria Math" panose="02040503050406030204" pitchFamily="18" charset="0"/>
                              <a:ea typeface="Calibri" panose="020F0502020204030204" pitchFamily="34" charset="0"/>
                              <a:cs typeface="Times New Roman" panose="02020603050405020304" pitchFamily="18" charset="0"/>
                            </a:rPr>
                            <m:t>𝑑</m:t>
                          </m:r>
                          <m:r>
                            <a:rPr lang="en-US" sz="2100" i="1">
                              <a:effectLst/>
                              <a:latin typeface="Cambria Math" panose="02040503050406030204" pitchFamily="18" charset="0"/>
                              <a:ea typeface="Calibri" panose="020F0502020204030204" pitchFamily="34" charset="0"/>
                              <a:cs typeface="Times New Roman" panose="02020603050405020304" pitchFamily="18" charset="0"/>
                            </a:rPr>
                            <m:t>𝛽</m:t>
                          </m:r>
                        </m:den>
                      </m:f>
                      <m:r>
                        <a:rPr lang="en-US" sz="2100" i="1">
                          <a:effectLst/>
                          <a:latin typeface="Cambria Math" panose="02040503050406030204" pitchFamily="18" charset="0"/>
                          <a:ea typeface="Calibri" panose="020F0502020204030204" pitchFamily="34" charset="0"/>
                          <a:cs typeface="Times New Roman" panose="02020603050405020304" pitchFamily="18" charset="0"/>
                        </a:rPr>
                        <m:t>=−2</m:t>
                      </m:r>
                      <m:nary>
                        <m:naryPr>
                          <m:chr m:val="∑"/>
                          <m:limLoc m:val="undOv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100" i="1">
                              <a:effectLst/>
                              <a:latin typeface="Cambria Math" panose="02040503050406030204" pitchFamily="18" charset="0"/>
                              <a:ea typeface="Calibri" panose="020F0502020204030204" pitchFamily="34" charset="0"/>
                              <a:cs typeface="Times New Roman" panose="02020603050405020304" pitchFamily="18" charset="0"/>
                            </a:rPr>
                            <m:t>𝑇</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p>
                        <m:e>
                          <m:d>
                            <m:d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2100" i="1">
                                  <a:effectLst/>
                                  <a:latin typeface="Cambria Math" panose="02040503050406030204" pitchFamily="18" charset="0"/>
                                  <a:ea typeface="Calibri" panose="020F0502020204030204" pitchFamily="34" charset="0"/>
                                  <a:cs typeface="Times New Roman" panose="02020603050405020304" pitchFamily="18" charset="0"/>
                                </a:rPr>
                                <m:t>−</m:t>
                              </m:r>
                              <m:r>
                                <a:rPr lang="en-US" sz="2100" i="1">
                                  <a:effectLst/>
                                  <a:latin typeface="Cambria Math" panose="02040503050406030204" pitchFamily="18" charset="0"/>
                                  <a:ea typeface="Calibri" panose="020F0502020204030204" pitchFamily="34" charset="0"/>
                                  <a:cs typeface="Times New Roman" panose="02020603050405020304" pitchFamily="18" charset="0"/>
                                </a:rPr>
                                <m:t>𝛽</m:t>
                              </m:r>
                              <m:sSub>
                                <m:sSub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sub>
                              </m:sSub>
                            </m:e>
                          </m:d>
                          <m:sSub>
                            <m:sSub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sub>
                          </m:sSub>
                        </m:e>
                      </m:nary>
                    </m:oMath>
                  </m:oMathPara>
                </a14:m>
                <a:endParaRPr lang="en-US" sz="2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The temporal coefficient</a:t>
                </a:r>
                <a:r>
                  <a:rPr lang="en-US" sz="2100" i="1" dirty="0">
                    <a:effectLst/>
                    <a:latin typeface="Times New Roman" panose="02020603050405020304" pitchFamily="18" charset="0"/>
                    <a:ea typeface="Calibri" panose="020F0502020204030204" pitchFamily="34" charset="0"/>
                    <a:cs typeface="Times New Roman" panose="02020603050405020304" pitchFamily="18" charset="0"/>
                  </a:rPr>
                  <a:t> β</a:t>
                </a:r>
                <a:r>
                  <a:rPr lang="en-US" sz="2100" baseline="30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is solution of the following equation resulted from setting such derivative to be zero.</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sz="2100" i="1">
                          <a:effectLst/>
                          <a:latin typeface="Cambria Math" panose="02040503050406030204" pitchFamily="18" charset="0"/>
                          <a:ea typeface="Calibri" panose="020F0502020204030204" pitchFamily="34" charset="0"/>
                          <a:cs typeface="Times New Roman" panose="02020603050405020304" pitchFamily="18" charset="0"/>
                        </a:rPr>
                        <m:t>−2</m:t>
                      </m:r>
                      <m:nary>
                        <m:naryPr>
                          <m:chr m:val="∑"/>
                          <m:limLoc m:val="undOv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100" i="1">
                              <a:effectLst/>
                              <a:latin typeface="Cambria Math" panose="02040503050406030204" pitchFamily="18" charset="0"/>
                              <a:ea typeface="Calibri" panose="020F0502020204030204" pitchFamily="34" charset="0"/>
                              <a:cs typeface="Times New Roman" panose="02020603050405020304" pitchFamily="18" charset="0"/>
                            </a:rPr>
                            <m:t>𝑇</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p>
                        <m:e>
                          <m:d>
                            <m:d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2100" i="1">
                                  <a:effectLst/>
                                  <a:latin typeface="Cambria Math" panose="02040503050406030204" pitchFamily="18" charset="0"/>
                                  <a:ea typeface="Calibri" panose="020F0502020204030204" pitchFamily="34" charset="0"/>
                                  <a:cs typeface="Times New Roman" panose="02020603050405020304" pitchFamily="18" charset="0"/>
                                </a:rPr>
                                <m:t>−</m:t>
                              </m:r>
                              <m:r>
                                <a:rPr lang="en-US" sz="2100" i="1">
                                  <a:effectLst/>
                                  <a:latin typeface="Cambria Math" panose="02040503050406030204" pitchFamily="18" charset="0"/>
                                  <a:ea typeface="Calibri" panose="020F0502020204030204" pitchFamily="34" charset="0"/>
                                  <a:cs typeface="Times New Roman" panose="02020603050405020304" pitchFamily="18" charset="0"/>
                                </a:rPr>
                                <m:t>𝛽</m:t>
                              </m:r>
                              <m:sSub>
                                <m:sSub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sub>
                              </m:sSub>
                            </m:e>
                          </m:d>
                          <m:sSub>
                            <m:sSubPr>
                              <m:ctrlPr>
                                <a:rPr lang="en-US" sz="21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sub>
                          </m:sSub>
                        </m:e>
                      </m:nary>
                      <m:r>
                        <a:rPr lang="en-US" sz="21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2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2100" dirty="0">
                    <a:effectLst/>
                    <a:latin typeface="Times New Roman" panose="02020603050405020304" pitchFamily="18" charset="0"/>
                    <a:ea typeface="Calibri" panose="020F0502020204030204" pitchFamily="34" charset="0"/>
                  </a:rPr>
                  <a:t>It is easy to determine the formula for calculating </a:t>
                </a:r>
                <a:r>
                  <a:rPr lang="en-US" sz="2100" i="1" dirty="0">
                    <a:effectLst/>
                    <a:latin typeface="Times New Roman" panose="02020603050405020304" pitchFamily="18" charset="0"/>
                    <a:ea typeface="Calibri" panose="020F0502020204030204" pitchFamily="34" charset="0"/>
                  </a:rPr>
                  <a:t>β</a:t>
                </a:r>
                <a:r>
                  <a:rPr lang="en-US" sz="2100" baseline="30000" dirty="0">
                    <a:effectLst/>
                    <a:latin typeface="Times New Roman" panose="02020603050405020304" pitchFamily="18" charset="0"/>
                    <a:ea typeface="Calibri" panose="020F0502020204030204" pitchFamily="34" charset="0"/>
                  </a:rPr>
                  <a:t>*</a:t>
                </a:r>
                <a:r>
                  <a:rPr lang="en-US" sz="2100" dirty="0">
                    <a:effectLst/>
                    <a:latin typeface="Times New Roman" panose="02020603050405020304" pitchFamily="18" charset="0"/>
                    <a:ea typeface="Calibri" panose="020F0502020204030204" pitchFamily="34" charset="0"/>
                  </a:rPr>
                  <a:t> (</a:t>
                </a:r>
                <a:r>
                  <a:rPr lang="en-US" sz="2100" dirty="0" err="1">
                    <a:effectLst/>
                    <a:latin typeface="Times New Roman" panose="02020603050405020304" pitchFamily="18" charset="0"/>
                    <a:ea typeface="Calibri" panose="020F0502020204030204" pitchFamily="34" charset="0"/>
                  </a:rPr>
                  <a:t>Eshel</a:t>
                </a:r>
                <a:r>
                  <a:rPr lang="en-US" sz="2100" dirty="0">
                    <a:effectLst/>
                    <a:latin typeface="Times New Roman" panose="02020603050405020304" pitchFamily="18" charset="0"/>
                    <a:ea typeface="Calibri" panose="020F0502020204030204" pitchFamily="34" charset="0"/>
                  </a:rPr>
                  <a:t>, 2003, p. 1).</a:t>
                </a:r>
              </a:p>
              <a:p>
                <a:pPr marL="0" indent="0">
                  <a:buNone/>
                </a:pPr>
                <a14:m>
                  <m:oMathPara xmlns:m="http://schemas.openxmlformats.org/officeDocument/2006/math">
                    <m:oMathParaPr>
                      <m:jc m:val="right"/>
                    </m:oMathParaPr>
                    <m:oMath xmlns:m="http://schemas.openxmlformats.org/officeDocument/2006/math">
                      <m:sSup>
                        <m:sSupPr>
                          <m:ctrlPr>
                            <a:rPr lang="en-US" sz="2100" i="1" smtClean="0">
                              <a:effectLst/>
                              <a:latin typeface="Cambria Math" panose="02040503050406030204" pitchFamily="18" charset="0"/>
                            </a:rPr>
                          </m:ctrlPr>
                        </m:sSupPr>
                        <m:e>
                          <m:r>
                            <a:rPr lang="en-US" sz="2100" i="1">
                              <a:effectLst/>
                              <a:latin typeface="Cambria Math" panose="02040503050406030204" pitchFamily="18" charset="0"/>
                              <a:ea typeface="Calibri" panose="020F0502020204030204" pitchFamily="34" charset="0"/>
                              <a:cs typeface="Times New Roman" panose="02020603050405020304" pitchFamily="18" charset="0"/>
                            </a:rPr>
                            <m:t>𝛽</m:t>
                          </m:r>
                        </m:e>
                        <m:sup>
                          <m:r>
                            <a:rPr lang="en-US" sz="21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21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100" i="1">
                              <a:effectLst/>
                              <a:latin typeface="Cambria Math" panose="02040503050406030204" pitchFamily="18" charset="0"/>
                            </a:rPr>
                          </m:ctrlPr>
                        </m:fPr>
                        <m:num>
                          <m:nary>
                            <m:naryPr>
                              <m:chr m:val="∑"/>
                              <m:limLoc m:val="undOvr"/>
                              <m:ctrlPr>
                                <a:rPr lang="en-US" sz="2100" i="1">
                                  <a:effectLst/>
                                  <a:latin typeface="Cambria Math" panose="02040503050406030204" pitchFamily="18" charset="0"/>
                                </a:rPr>
                              </m:ctrlPr>
                            </m:naryPr>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100" i="1">
                                  <a:effectLst/>
                                  <a:latin typeface="Cambria Math" panose="02040503050406030204" pitchFamily="18" charset="0"/>
                                  <a:ea typeface="Calibri" panose="020F0502020204030204" pitchFamily="34" charset="0"/>
                                  <a:cs typeface="Times New Roman" panose="02020603050405020304" pitchFamily="18" charset="0"/>
                                </a:rPr>
                                <m:t>𝑇</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p>
                            <m:e>
                              <m:sSub>
                                <m:sSubPr>
                                  <m:ctrlPr>
                                    <a:rPr lang="en-US" sz="2100" i="1">
                                      <a:effectLst/>
                                      <a:latin typeface="Cambria Math" panose="020405030504060302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sub>
                              </m:sSub>
                              <m:sSub>
                                <m:sSubPr>
                                  <m:ctrlPr>
                                    <a:rPr lang="en-US" sz="2100" i="1">
                                      <a:effectLst/>
                                      <a:latin typeface="Cambria Math" panose="020405030504060302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b>
                              </m:sSub>
                            </m:e>
                          </m:nary>
                        </m:num>
                        <m:den>
                          <m:nary>
                            <m:naryPr>
                              <m:chr m:val="∑"/>
                              <m:limLoc m:val="undOvr"/>
                              <m:ctrlPr>
                                <a:rPr lang="en-US" sz="2100" i="1">
                                  <a:effectLst/>
                                  <a:latin typeface="Cambria Math" panose="02040503050406030204" pitchFamily="18" charset="0"/>
                                </a:rPr>
                              </m:ctrlPr>
                            </m:naryPr>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100" i="1">
                                  <a:effectLst/>
                                  <a:latin typeface="Cambria Math" panose="02040503050406030204" pitchFamily="18" charset="0"/>
                                  <a:ea typeface="Calibri" panose="020F0502020204030204" pitchFamily="34" charset="0"/>
                                  <a:cs typeface="Times New Roman" panose="02020603050405020304" pitchFamily="18" charset="0"/>
                                </a:rPr>
                                <m:t>𝑇</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sup>
                            <m:e>
                              <m:sSubSup>
                                <m:sSubSupPr>
                                  <m:ctrlPr>
                                    <a:rPr lang="en-US" sz="2100" i="1">
                                      <a:effectLst/>
                                      <a:latin typeface="Cambria Math" panose="02040503050406030204" pitchFamily="18" charset="0"/>
                                    </a:rPr>
                                  </m:ctrlPr>
                                </m:sSubSup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sub>
                                <m:sup>
                                  <m:r>
                                    <a:rPr lang="en-US" sz="2100" i="1">
                                      <a:effectLst/>
                                      <a:latin typeface="Cambria Math" panose="02040503050406030204" pitchFamily="18" charset="0"/>
                                      <a:ea typeface="Calibri" panose="020F0502020204030204" pitchFamily="34" charset="0"/>
                                      <a:cs typeface="Times New Roman" panose="02020603050405020304" pitchFamily="18" charset="0"/>
                                    </a:rPr>
                                    <m:t>2</m:t>
                                  </m:r>
                                </m:sup>
                              </m:sSubSup>
                            </m:e>
                          </m:nary>
                        </m:den>
                      </m:f>
                      <m:r>
                        <a:rPr lang="en-US" sz="2100" b="0" i="1" smtClean="0">
                          <a:effectLst/>
                          <a:latin typeface="Cambria Math" panose="02040503050406030204" pitchFamily="18" charset="0"/>
                          <a:ea typeface="Calibri" panose="020F0502020204030204" pitchFamily="34" charset="0"/>
                          <a:cs typeface="Times New Roman" panose="02020603050405020304" pitchFamily="18" charset="0"/>
                        </a:rPr>
                        <m:t>    (1.12)</m:t>
                      </m:r>
                    </m:oMath>
                  </m:oMathPara>
                </a14:m>
                <a:endParaRPr lang="en-US" sz="2100" dirty="0"/>
              </a:p>
              <a:p>
                <a:pPr marL="0" indent="0">
                  <a:buNone/>
                </a:pPr>
                <a:r>
                  <a:rPr lang="en-US" sz="2100" dirty="0">
                    <a:effectLst/>
                    <a:latin typeface="Times New Roman" panose="02020603050405020304" pitchFamily="18" charset="0"/>
                    <a:ea typeface="Calibri" panose="020F0502020204030204" pitchFamily="34" charset="0"/>
                  </a:rPr>
                  <a:t>Please pay attention that values </a:t>
                </a:r>
                <a:r>
                  <a:rPr lang="en-US" sz="2100" i="1" dirty="0" err="1">
                    <a:effectLst/>
                    <a:latin typeface="Times New Roman" panose="02020603050405020304" pitchFamily="18" charset="0"/>
                    <a:ea typeface="Calibri" panose="020F0502020204030204" pitchFamily="34" charset="0"/>
                  </a:rPr>
                  <a:t>y</a:t>
                </a:r>
                <a:r>
                  <a:rPr lang="en-US" sz="2100" i="1" baseline="-25000" dirty="0" err="1">
                    <a:effectLst/>
                    <a:latin typeface="Times New Roman" panose="02020603050405020304" pitchFamily="18" charset="0"/>
                    <a:ea typeface="Calibri" panose="020F0502020204030204" pitchFamily="34" charset="0"/>
                  </a:rPr>
                  <a:t>t</a:t>
                </a:r>
                <a:r>
                  <a:rPr lang="en-US" sz="2100" dirty="0">
                    <a:effectLst/>
                    <a:latin typeface="Times New Roman" panose="02020603050405020304" pitchFamily="18" charset="0"/>
                    <a:ea typeface="Calibri" panose="020F0502020204030204" pitchFamily="34" charset="0"/>
                  </a:rPr>
                  <a:t> are calculated by CAR model estimated in the first step. The temporal autoregressive model is re-written as follows:</a:t>
                </a:r>
              </a:p>
              <a:p>
                <a:pPr marL="0" indent="0">
                  <a:buNone/>
                </a:pPr>
                <a14:m>
                  <m:oMathPara xmlns:m="http://schemas.openxmlformats.org/officeDocument/2006/math">
                    <m:oMathParaPr>
                      <m:jc m:val="right"/>
                    </m:oMathParaPr>
                    <m:oMath xmlns:m="http://schemas.openxmlformats.org/officeDocument/2006/math">
                      <m:sSub>
                        <m:sSubPr>
                          <m:ctrlPr>
                            <a:rPr lang="en-US" sz="2100" i="1" smtClean="0">
                              <a:effectLst/>
                              <a:latin typeface="Cambria Math" panose="020405030504060302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𝑠</m:t>
                          </m:r>
                          <m:d>
                            <m:dPr>
                              <m:ctrlPr>
                                <a:rPr lang="en-US" sz="2100" i="1">
                                  <a:effectLst/>
                                  <a:latin typeface="Cambria Math" panose="02040503050406030204" pitchFamily="18" charset="0"/>
                                </a:rPr>
                              </m:ctrlPr>
                            </m:d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𝑡</m:t>
                              </m:r>
                              <m:r>
                                <a:rPr lang="en-US" sz="2100" i="1">
                                  <a:effectLst/>
                                  <a:latin typeface="Cambria Math" panose="02040503050406030204" pitchFamily="18" charset="0"/>
                                  <a:ea typeface="Calibri" panose="020F0502020204030204" pitchFamily="34" charset="0"/>
                                  <a:cs typeface="Times New Roman" panose="02020603050405020304" pitchFamily="18" charset="0"/>
                                </a:rPr>
                                <m:t>+1</m:t>
                              </m:r>
                            </m:e>
                          </m:d>
                        </m:sub>
                      </m:sSub>
                      <m:r>
                        <a:rPr lang="en-US" sz="21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100" i="1">
                              <a:effectLst/>
                              <a:latin typeface="Cambria Math" panose="02040503050406030204" pitchFamily="18" charset="0"/>
                            </a:rPr>
                          </m:ctrlPr>
                        </m:sSupPr>
                        <m:e>
                          <m:r>
                            <a:rPr lang="en-US" sz="2100" i="1">
                              <a:effectLst/>
                              <a:latin typeface="Cambria Math" panose="02040503050406030204" pitchFamily="18" charset="0"/>
                              <a:ea typeface="Calibri" panose="020F0502020204030204" pitchFamily="34" charset="0"/>
                              <a:cs typeface="Times New Roman" panose="02020603050405020304" pitchFamily="18" charset="0"/>
                            </a:rPr>
                            <m:t>𝛽</m:t>
                          </m:r>
                        </m:e>
                        <m:sup>
                          <m:r>
                            <a:rPr lang="en-US" sz="2100" i="1">
                              <a:effectLst/>
                              <a:latin typeface="Cambria Math" panose="02040503050406030204" pitchFamily="18" charset="0"/>
                              <a:ea typeface="Calibri" panose="020F0502020204030204" pitchFamily="34" charset="0"/>
                              <a:cs typeface="Times New Roman" panose="02020603050405020304" pitchFamily="18" charset="0"/>
                            </a:rPr>
                            <m:t>∗</m:t>
                          </m:r>
                        </m:sup>
                      </m:sSup>
                      <m:sSub>
                        <m:sSubPr>
                          <m:ctrlPr>
                            <a:rPr lang="en-US" sz="2100" i="1">
                              <a:effectLst/>
                              <a:latin typeface="Cambria Math" panose="02040503050406030204" pitchFamily="18" charset="0"/>
                            </a:rPr>
                          </m:ctrlPr>
                        </m:sSubPr>
                        <m:e>
                          <m:r>
                            <a:rPr lang="en-US" sz="210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2100" i="1">
                              <a:effectLst/>
                              <a:latin typeface="Cambria Math" panose="02040503050406030204" pitchFamily="18" charset="0"/>
                              <a:ea typeface="Calibri" panose="020F0502020204030204" pitchFamily="34" charset="0"/>
                              <a:cs typeface="Times New Roman" panose="02020603050405020304" pitchFamily="18" charset="0"/>
                            </a:rPr>
                            <m:t>𝑠𝑡</m:t>
                          </m:r>
                        </m:sub>
                      </m:sSub>
                      <m:r>
                        <a:rPr lang="en-US" sz="2100" b="0" i="1" smtClean="0">
                          <a:effectLst/>
                          <a:latin typeface="Cambria Math" panose="02040503050406030204" pitchFamily="18" charset="0"/>
                          <a:ea typeface="Calibri" panose="020F0502020204030204" pitchFamily="34" charset="0"/>
                          <a:cs typeface="Times New Roman" panose="02020603050405020304" pitchFamily="18" charset="0"/>
                        </a:rPr>
                        <m:t>    (1.13)</m:t>
                      </m:r>
                    </m:oMath>
                  </m:oMathPara>
                </a14:m>
                <a:endParaRPr lang="en-US" sz="2100" dirty="0"/>
              </a:p>
              <a:p>
                <a:pPr marL="0" indent="0">
                  <a:buNone/>
                </a:pPr>
                <a:r>
                  <a:rPr lang="en-US" sz="2100" dirty="0">
                    <a:effectLst/>
                    <a:latin typeface="Times New Roman" panose="02020603050405020304" pitchFamily="18" charset="0"/>
                    <a:ea typeface="Calibri" panose="020F0502020204030204" pitchFamily="34" charset="0"/>
                  </a:rPr>
                  <a:t>Equation 1.12 to calculate </a:t>
                </a:r>
                <a:r>
                  <a:rPr lang="en-US" sz="2100" i="1" dirty="0">
                    <a:effectLst/>
                    <a:latin typeface="Times New Roman" panose="02020603050405020304" pitchFamily="18" charset="0"/>
                    <a:ea typeface="Calibri" panose="020F0502020204030204" pitchFamily="34" charset="0"/>
                  </a:rPr>
                  <a:t>β</a:t>
                </a:r>
                <a:r>
                  <a:rPr lang="en-US" sz="2100" baseline="30000" dirty="0">
                    <a:effectLst/>
                    <a:latin typeface="Times New Roman" panose="02020603050405020304" pitchFamily="18" charset="0"/>
                    <a:ea typeface="Calibri" panose="020F0502020204030204" pitchFamily="34" charset="0"/>
                  </a:rPr>
                  <a:t>*</a:t>
                </a:r>
                <a:r>
                  <a:rPr lang="en-US" sz="2100" dirty="0">
                    <a:effectLst/>
                    <a:latin typeface="Times New Roman" panose="02020603050405020304" pitchFamily="18" charset="0"/>
                    <a:ea typeface="Calibri" panose="020F0502020204030204" pitchFamily="34" charset="0"/>
                  </a:rPr>
                  <a:t> is simplest form of the well-known Yule-Walker equation.</a:t>
                </a:r>
                <a:endParaRPr lang="en-US" sz="2100" dirty="0"/>
              </a:p>
              <a:p>
                <a:pPr marL="0" indent="0">
                  <a:buNone/>
                </a:pPr>
                <a:endParaRPr lang="en-US" sz="2100" dirty="0"/>
              </a:p>
            </p:txBody>
          </p:sp>
        </mc:Choice>
        <mc:Fallback xmlns="">
          <p:sp>
            <p:nvSpPr>
              <p:cNvPr id="3" name="Content Placeholder 2">
                <a:extLst>
                  <a:ext uri="{FF2B5EF4-FFF2-40B4-BE49-F238E27FC236}">
                    <a16:creationId xmlns:a16="http://schemas.microsoft.com/office/drawing/2014/main" id="{3FA4226B-B60D-67C0-B143-BFDECFCF6600}"/>
                  </a:ext>
                </a:extLst>
              </p:cNvPr>
              <p:cNvSpPr>
                <a:spLocks noGrp="1" noRot="1" noChangeAspect="1" noMove="1" noResize="1" noEditPoints="1" noAdjustHandles="1" noChangeArrowheads="1" noChangeShapeType="1" noTextEdit="1"/>
              </p:cNvSpPr>
              <p:nvPr>
                <p:ph idx="1"/>
              </p:nvPr>
            </p:nvSpPr>
            <p:spPr>
              <a:blipFill>
                <a:blip r:embed="rId2"/>
                <a:stretch>
                  <a:fillRect l="-696" t="-707" r="-638" b="-282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5D3078F-B822-8052-B44C-630F6353091F}"/>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B2A8C408-C8EE-60B7-7BEA-F61710B3E5E1}"/>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3E4A3C0A-4CE4-BEF2-3F49-4F175A39A037}"/>
              </a:ext>
            </a:extLst>
          </p:cNvPr>
          <p:cNvSpPr>
            <a:spLocks noGrp="1"/>
          </p:cNvSpPr>
          <p:nvPr>
            <p:ph type="sldNum" sz="quarter" idx="12"/>
          </p:nvPr>
        </p:nvSpPr>
        <p:spPr/>
        <p:txBody>
          <a:bodyPr/>
          <a:lstStyle/>
          <a:p>
            <a:fld id="{5DB5036F-1FF2-46C4-8D2B-59C7E3B91952}" type="slidenum">
              <a:rPr lang="en-US" smtClean="0"/>
              <a:pPr/>
              <a:t>13</a:t>
            </a:fld>
            <a:endParaRPr lang="en-US"/>
          </a:p>
        </p:txBody>
      </p:sp>
    </p:spTree>
    <p:extLst>
      <p:ext uri="{BB962C8B-B14F-4D97-AF65-F5344CB8AC3E}">
        <p14:creationId xmlns:p14="http://schemas.microsoft.com/office/powerpoint/2010/main" val="1487190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Integrated with logistic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2880" y="815923"/>
                <a:ext cx="11802793" cy="5176066"/>
              </a:xfrm>
            </p:spPr>
            <p:txBody>
              <a:bodyPr>
                <a:noAutofit/>
              </a:bodyPr>
              <a:lstStyle/>
              <a:p>
                <a:pPr marL="0" indent="0">
                  <a:buNone/>
                </a:pPr>
                <a:r>
                  <a:rPr lang="en-US" sz="1850" dirty="0">
                    <a:effectLst/>
                    <a:latin typeface="Times New Roman" panose="02020603050405020304" pitchFamily="18" charset="0"/>
                    <a:ea typeface="Calibri" panose="020F0502020204030204" pitchFamily="34" charset="0"/>
                  </a:rPr>
                  <a:t>In normal CAR model, the </a:t>
                </a:r>
                <a:r>
                  <a:rPr lang="en-US" sz="1850" dirty="0" err="1">
                    <a:effectLst/>
                    <a:latin typeface="Times New Roman" panose="02020603050405020304" pitchFamily="18" charset="0"/>
                    <a:ea typeface="Calibri" panose="020F0502020204030204" pitchFamily="34" charset="0"/>
                  </a:rPr>
                  <a:t>responsor</a:t>
                </a:r>
                <a:r>
                  <a:rPr lang="en-US" sz="1850" dirty="0">
                    <a:effectLst/>
                    <a:latin typeface="Times New Roman" panose="02020603050405020304" pitchFamily="18" charset="0"/>
                    <a:ea typeface="Calibri" panose="020F0502020204030204" pitchFamily="34" charset="0"/>
                  </a:rPr>
                  <a:t> </a:t>
                </a:r>
                <a:r>
                  <a:rPr lang="en-US" sz="1850" i="1" dirty="0">
                    <a:effectLst/>
                    <a:latin typeface="Times New Roman" panose="02020603050405020304" pitchFamily="18" charset="0"/>
                    <a:ea typeface="Calibri" panose="020F0502020204030204" pitchFamily="34" charset="0"/>
                  </a:rPr>
                  <a:t>Y</a:t>
                </a:r>
                <a:r>
                  <a:rPr lang="en-US" sz="1850" i="1" baseline="-25000" dirty="0">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 which is the outcome number of cases at site </a:t>
                </a:r>
                <a:r>
                  <a:rPr lang="en-US" sz="1850" i="1" dirty="0">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 is real variable but in the situation that </a:t>
                </a:r>
                <a:r>
                  <a:rPr lang="en-US" sz="1850" i="1" dirty="0">
                    <a:effectLst/>
                    <a:latin typeface="Times New Roman" panose="02020603050405020304" pitchFamily="18" charset="0"/>
                    <a:ea typeface="Calibri" panose="020F0502020204030204" pitchFamily="34" charset="0"/>
                  </a:rPr>
                  <a:t>Y</a:t>
                </a:r>
                <a:r>
                  <a:rPr lang="en-US" sz="1850" i="1" baseline="-25000" dirty="0">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 is category variable whose </a:t>
                </a:r>
                <a:r>
                  <a:rPr lang="en-US" sz="1850" i="1" dirty="0">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ordered values are </a:t>
                </a:r>
                <a:r>
                  <a:rPr lang="en-US" sz="1850" i="1" dirty="0">
                    <a:effectLst/>
                    <a:latin typeface="Times New Roman" panose="02020603050405020304" pitchFamily="18" charset="0"/>
                    <a:ea typeface="Calibri" panose="020F0502020204030204" pitchFamily="34" charset="0"/>
                  </a:rPr>
                  <a:t>v</a:t>
                </a:r>
                <a:r>
                  <a:rPr lang="en-US" sz="1850" baseline="-25000" dirty="0">
                    <a:effectLst/>
                    <a:latin typeface="Times New Roman" panose="02020603050405020304" pitchFamily="18" charset="0"/>
                    <a:ea typeface="Calibri" panose="020F0502020204030204" pitchFamily="34" charset="0"/>
                  </a:rPr>
                  <a:t>1</a:t>
                </a:r>
                <a:r>
                  <a:rPr lang="en-US" sz="1850" dirty="0">
                    <a:effectLst/>
                    <a:latin typeface="Times New Roman" panose="02020603050405020304" pitchFamily="18" charset="0"/>
                    <a:ea typeface="Calibri" panose="020F0502020204030204" pitchFamily="34" charset="0"/>
                  </a:rPr>
                  <a:t>, </a:t>
                </a:r>
                <a:r>
                  <a:rPr lang="en-US" sz="1850" i="1" dirty="0">
                    <a:effectLst/>
                    <a:latin typeface="Times New Roman" panose="02020603050405020304" pitchFamily="18" charset="0"/>
                    <a:ea typeface="Calibri" panose="020F0502020204030204" pitchFamily="34" charset="0"/>
                  </a:rPr>
                  <a:t>v</a:t>
                </a:r>
                <a:r>
                  <a:rPr lang="en-US" sz="1850" baseline="-25000" dirty="0">
                    <a:effectLst/>
                    <a:latin typeface="Times New Roman" panose="02020603050405020304" pitchFamily="18" charset="0"/>
                    <a:ea typeface="Calibri" panose="020F0502020204030204" pitchFamily="34" charset="0"/>
                  </a:rPr>
                  <a:t>2</a:t>
                </a:r>
                <a:r>
                  <a:rPr lang="en-US" sz="1850" dirty="0">
                    <a:effectLst/>
                    <a:latin typeface="Times New Roman" panose="02020603050405020304" pitchFamily="18" charset="0"/>
                    <a:ea typeface="Calibri" panose="020F0502020204030204" pitchFamily="34" charset="0"/>
                  </a:rPr>
                  <a:t>,…, </a:t>
                </a:r>
                <a:r>
                  <a:rPr lang="en-US" sz="1850" i="1" dirty="0" err="1">
                    <a:effectLst/>
                    <a:latin typeface="Times New Roman" panose="02020603050405020304" pitchFamily="18" charset="0"/>
                    <a:ea typeface="Calibri" panose="020F0502020204030204" pitchFamily="34" charset="0"/>
                  </a:rPr>
                  <a:t>v</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new modification of CAR model is required. The multinomial logistic function of </a:t>
                </a:r>
                <a:r>
                  <a:rPr lang="en-US" sz="1850" i="1" dirty="0">
                    <a:effectLst/>
                    <a:latin typeface="Times New Roman" panose="02020603050405020304" pitchFamily="18" charset="0"/>
                    <a:ea typeface="Calibri" panose="020F0502020204030204" pitchFamily="34" charset="0"/>
                  </a:rPr>
                  <a:t>Y</a:t>
                </a:r>
                <a:r>
                  <a:rPr lang="en-US" sz="1850" i="1" baseline="-25000" dirty="0">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 with regard to value </a:t>
                </a:r>
                <a:r>
                  <a:rPr lang="en-US" sz="1850" i="1" dirty="0">
                    <a:effectLst/>
                    <a:latin typeface="Times New Roman" panose="02020603050405020304" pitchFamily="18" charset="0"/>
                    <a:ea typeface="Calibri" panose="020F0502020204030204" pitchFamily="34" charset="0"/>
                  </a:rPr>
                  <a:t>v</a:t>
                </a:r>
                <a:r>
                  <a:rPr lang="en-US" sz="1850" i="1" baseline="-25000" dirty="0">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at site </a:t>
                </a:r>
                <a:r>
                  <a:rPr lang="en-US" sz="1850" i="1" dirty="0">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 which is associated spatial autoregression, is proposed as follows:</a:t>
                </a:r>
              </a:p>
              <a:p>
                <a:pPr marL="0" indent="0">
                  <a:buNone/>
                </a:pPr>
                <a14:m>
                  <m:oMathPara xmlns:m="http://schemas.openxmlformats.org/officeDocument/2006/math">
                    <m:oMathParaPr>
                      <m:jc m:val="right"/>
                    </m:oMathParaPr>
                    <m:oMath xmlns:m="http://schemas.openxmlformats.org/officeDocument/2006/math">
                      <m:sSub>
                        <m:sSubPr>
                          <m:ctrlPr>
                            <a:rPr lang="en-US" sz="1850" i="1" smtClean="0">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𝑔</m:t>
                          </m:r>
                        </m:sub>
                      </m:sSub>
                      <m:d>
                        <m:dPr>
                          <m:ctrlPr>
                            <a:rPr lang="en-US" sz="1850" i="1">
                              <a:effectLst/>
                              <a:latin typeface="Cambria Math" panose="02040503050406030204" pitchFamily="18" charset="0"/>
                            </a:rPr>
                          </m:ctrlPr>
                        </m:dPr>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Sub>
                        </m:e>
                      </m:d>
                      <m:r>
                        <a:rPr lang="en-US" sz="185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50" i="1">
                              <a:effectLst/>
                              <a:latin typeface="Cambria Math" panose="02040503050406030204" pitchFamily="18" charset="0"/>
                            </a:rPr>
                          </m:ctrlPr>
                        </m:fPr>
                        <m:num>
                          <m:r>
                            <a:rPr lang="en-US" sz="185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50" i="1">
                              <a:effectLst/>
                              <a:latin typeface="Cambria Math" panose="02040503050406030204" pitchFamily="18" charset="0"/>
                              <a:ea typeface="Calibri" panose="020F0502020204030204" pitchFamily="34" charset="0"/>
                              <a:cs typeface="Times New Roman" panose="02020603050405020304" pitchFamily="18" charset="0"/>
                            </a:rPr>
                            <m:t>1+</m:t>
                          </m:r>
                          <m:r>
                            <m:rPr>
                              <m:sty m:val="p"/>
                            </m:rPr>
                            <a:rPr lang="en-US" sz="1850">
                              <a:effectLst/>
                              <a:latin typeface="Cambria Math" panose="02040503050406030204" pitchFamily="18" charset="0"/>
                              <a:ea typeface="Calibri" panose="020F0502020204030204" pitchFamily="34" charset="0"/>
                              <a:cs typeface="Times New Roman" panose="02020603050405020304" pitchFamily="18" charset="0"/>
                            </a:rPr>
                            <m:t>exp</m:t>
                          </m:r>
                          <m:d>
                            <m:dPr>
                              <m:ctrlPr>
                                <a:rPr lang="en-US" sz="1850" i="1">
                                  <a:effectLst/>
                                  <a:latin typeface="Cambria Math" panose="02040503050406030204" pitchFamily="18" charset="0"/>
                                </a:rPr>
                              </m:ctrlPr>
                            </m:dPr>
                            <m:e>
                              <m:r>
                                <a:rPr lang="en-US" sz="185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850" i="1">
                                      <a:effectLst/>
                                      <a:latin typeface="Cambria Math" panose="02040503050406030204" pitchFamily="18" charset="0"/>
                                    </a:rPr>
                                  </m:ctrlPr>
                                </m:dPr>
                                <m:e>
                                  <m:sSubSup>
                                    <m:sSubSupPr>
                                      <m:ctrlPr>
                                        <a:rPr lang="en-US" sz="1850" i="1">
                                          <a:effectLst/>
                                          <a:latin typeface="Cambria Math" panose="02040503050406030204" pitchFamily="18" charset="0"/>
                                        </a:rPr>
                                      </m:ctrlPr>
                                    </m:sSub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up>
                                      <m:r>
                                        <a:rPr lang="en-US" sz="185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r>
                                    <a:rPr lang="en-US" sz="185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50" i="1">
                                          <a:effectLst/>
                                          <a:latin typeface="Cambria Math" panose="02040503050406030204" pitchFamily="18" charset="0"/>
                                        </a:rPr>
                                      </m:ctrlPr>
                                    </m:naryPr>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5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50" i="1">
                                              <a:effectLst/>
                                              <a:latin typeface="Cambria Math" panose="02040503050406030204" pitchFamily="18" charset="0"/>
                                            </a:rPr>
                                          </m:ctrlPr>
                                        </m:d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50" i="1">
                                              <a:effectLst/>
                                              <a:latin typeface="Cambria Math" panose="02040503050406030204" pitchFamily="18" charset="0"/>
                                            </a:rPr>
                                          </m:ctrlPr>
                                        </m:dPr>
                                        <m:e>
                                          <m:sSubSup>
                                            <m:sSubSupPr>
                                              <m:ctrlPr>
                                                <a:rPr lang="en-US" sz="1850" i="1">
                                                  <a:effectLst/>
                                                  <a:latin typeface="Cambria Math" panose="02040503050406030204" pitchFamily="18" charset="0"/>
                                                </a:rPr>
                                              </m:ctrlPr>
                                            </m:sSub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up>
                                              <m:r>
                                                <a:rPr lang="en-US" sz="185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50" i="1">
                                                  <a:effectLst/>
                                                  <a:latin typeface="Cambria Math" panose="02040503050406030204" pitchFamily="18" charset="0"/>
                                                </a:rPr>
                                              </m:ctrlPr>
                                            </m:sSub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50" i="1">
                                                  <a:effectLst/>
                                                  <a:latin typeface="Cambria Math" panose="02040503050406030204" pitchFamily="18" charset="0"/>
                                                  <a:ea typeface="Calibri" panose="020F0502020204030204" pitchFamily="34" charset="0"/>
                                                  <a:cs typeface="Times New Roman" panose="02020603050405020304" pitchFamily="18" charset="0"/>
                                                </a:rPr>
                                                <m:t>𝑔</m:t>
                                              </m:r>
                                            </m:sub>
                                            <m:sup>
                                              <m:r>
                                                <a:rPr lang="en-US" sz="185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e>
                                  </m:nary>
                                </m:e>
                              </m:d>
                            </m:e>
                          </m:d>
                        </m:den>
                      </m:f>
                      <m:r>
                        <a:rPr lang="en-US" sz="1850" b="0" i="1" smtClean="0">
                          <a:effectLst/>
                          <a:latin typeface="Cambria Math" panose="02040503050406030204" pitchFamily="18" charset="0"/>
                          <a:ea typeface="Calibri" panose="020F0502020204030204" pitchFamily="34" charset="0"/>
                          <a:cs typeface="Times New Roman" panose="02020603050405020304" pitchFamily="18" charset="0"/>
                        </a:rPr>
                        <m:t>    (2.1)</m:t>
                      </m:r>
                    </m:oMath>
                  </m:oMathPara>
                </a14:m>
                <a:endParaRPr lang="en-US" sz="1850" dirty="0"/>
              </a:p>
              <a:p>
                <a:pPr marL="0" indent="0">
                  <a:buNone/>
                </a:pPr>
                <a:r>
                  <a:rPr lang="en-US" sz="1850" dirty="0">
                    <a:effectLst/>
                    <a:latin typeface="Times New Roman" panose="02020603050405020304" pitchFamily="18" charset="0"/>
                    <a:ea typeface="Calibri" panose="020F0502020204030204" pitchFamily="34" charset="0"/>
                  </a:rPr>
                  <a:t>Note that </a:t>
                </a:r>
                <a:r>
                  <a:rPr lang="en-US" sz="1850" i="1" dirty="0">
                    <a:effectLst/>
                    <a:latin typeface="Times New Roman" panose="02020603050405020304" pitchFamily="18" charset="0"/>
                    <a:ea typeface="Calibri" panose="020F0502020204030204" pitchFamily="34" charset="0"/>
                  </a:rPr>
                  <a:t>α</a:t>
                </a:r>
                <a:r>
                  <a:rPr lang="en-US" sz="1850" i="1" baseline="-25000" dirty="0">
                    <a:effectLst/>
                    <a:latin typeface="Times New Roman" panose="02020603050405020304" pitchFamily="18" charset="0"/>
                    <a:ea typeface="Calibri" panose="020F0502020204030204" pitchFamily="34" charset="0"/>
                  </a:rPr>
                  <a:t>sg</a:t>
                </a:r>
                <a:r>
                  <a:rPr lang="en-US" sz="1850" dirty="0">
                    <a:effectLst/>
                    <a:latin typeface="Times New Roman" panose="02020603050405020304" pitchFamily="18" charset="0"/>
                    <a:ea typeface="Calibri" panose="020F0502020204030204" pitchFamily="34" charset="0"/>
                  </a:rPr>
                  <a:t> = (</a:t>
                </a:r>
                <a:r>
                  <a:rPr lang="en-US" sz="1850" i="1" dirty="0">
                    <a:effectLst/>
                    <a:latin typeface="Times New Roman" panose="02020603050405020304" pitchFamily="18" charset="0"/>
                    <a:ea typeface="Calibri" panose="020F0502020204030204" pitchFamily="34" charset="0"/>
                  </a:rPr>
                  <a:t>α</a:t>
                </a:r>
                <a:r>
                  <a:rPr lang="en-US" sz="1850" i="1" baseline="-25000" dirty="0">
                    <a:effectLst/>
                    <a:latin typeface="Times New Roman" panose="02020603050405020304" pitchFamily="18" charset="0"/>
                    <a:ea typeface="Calibri" panose="020F0502020204030204" pitchFamily="34" charset="0"/>
                  </a:rPr>
                  <a:t>sg</a:t>
                </a:r>
                <a:r>
                  <a:rPr lang="en-US" sz="1850" baseline="-25000" dirty="0">
                    <a:effectLst/>
                    <a:latin typeface="Times New Roman" panose="02020603050405020304" pitchFamily="18" charset="0"/>
                    <a:ea typeface="Calibri" panose="020F0502020204030204" pitchFamily="34" charset="0"/>
                  </a:rPr>
                  <a:t>1</a:t>
                </a:r>
                <a:r>
                  <a:rPr lang="en-US" sz="1850" dirty="0">
                    <a:effectLst/>
                    <a:latin typeface="Times New Roman" panose="02020603050405020304" pitchFamily="18" charset="0"/>
                    <a:ea typeface="Calibri" panose="020F0502020204030204" pitchFamily="34" charset="0"/>
                  </a:rPr>
                  <a:t>, </a:t>
                </a:r>
                <a:r>
                  <a:rPr lang="en-US" sz="1850" i="1" dirty="0">
                    <a:effectLst/>
                    <a:latin typeface="Times New Roman" panose="02020603050405020304" pitchFamily="18" charset="0"/>
                    <a:ea typeface="Calibri" panose="020F0502020204030204" pitchFamily="34" charset="0"/>
                  </a:rPr>
                  <a:t>α</a:t>
                </a:r>
                <a:r>
                  <a:rPr lang="en-US" sz="1850" i="1" baseline="-25000" dirty="0">
                    <a:effectLst/>
                    <a:latin typeface="Times New Roman" panose="02020603050405020304" pitchFamily="18" charset="0"/>
                    <a:ea typeface="Calibri" panose="020F0502020204030204" pitchFamily="34" charset="0"/>
                  </a:rPr>
                  <a:t>sg</a:t>
                </a:r>
                <a:r>
                  <a:rPr lang="en-US" sz="1850" baseline="-25000" dirty="0">
                    <a:effectLst/>
                    <a:latin typeface="Times New Roman" panose="02020603050405020304" pitchFamily="18" charset="0"/>
                    <a:ea typeface="Calibri" panose="020F0502020204030204" pitchFamily="34" charset="0"/>
                  </a:rPr>
                  <a:t>2</a:t>
                </a:r>
                <a:r>
                  <a:rPr lang="en-US" sz="1850" dirty="0">
                    <a:effectLst/>
                    <a:latin typeface="Times New Roman" panose="02020603050405020304" pitchFamily="18" charset="0"/>
                    <a:ea typeface="Calibri" panose="020F0502020204030204" pitchFamily="34" charset="0"/>
                  </a:rPr>
                  <a:t>,…, </a:t>
                </a:r>
                <a:r>
                  <a:rPr lang="en-US" sz="1850" i="1" dirty="0">
                    <a:effectLst/>
                    <a:latin typeface="Times New Roman" panose="02020603050405020304" pitchFamily="18" charset="0"/>
                    <a:ea typeface="Calibri" panose="020F0502020204030204" pitchFamily="34" charset="0"/>
                  </a:rPr>
                  <a:t>α</a:t>
                </a:r>
                <a:r>
                  <a:rPr lang="en-US" sz="1850" i="1" baseline="-25000" dirty="0" err="1">
                    <a:effectLst/>
                    <a:latin typeface="Times New Roman" panose="02020603050405020304" pitchFamily="18" charset="0"/>
                    <a:ea typeface="Calibri" panose="020F0502020204030204" pitchFamily="34" charset="0"/>
                  </a:rPr>
                  <a:t>sgk</a:t>
                </a:r>
                <a:r>
                  <a:rPr lang="en-US" sz="1850" dirty="0">
                    <a:effectLst/>
                    <a:latin typeface="Times New Roman" panose="02020603050405020304" pitchFamily="18" charset="0"/>
                    <a:ea typeface="Calibri" panose="020F0502020204030204" pitchFamily="34" charset="0"/>
                  </a:rPr>
                  <a:t>) which is site regressive coefficient vector with regard to value </a:t>
                </a:r>
                <a:r>
                  <a:rPr lang="en-US" sz="1850" i="1" dirty="0" err="1">
                    <a:effectLst/>
                    <a:latin typeface="Times New Roman" panose="02020603050405020304" pitchFamily="18" charset="0"/>
                    <a:ea typeface="Calibri" panose="020F0502020204030204" pitchFamily="34" charset="0"/>
                  </a:rPr>
                  <a:t>y</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is the main parameter which is estimated here. Let </a:t>
                </a:r>
                <a:r>
                  <a:rPr lang="en-US" sz="1850" i="1" dirty="0" err="1">
                    <a:effectLst/>
                    <a:latin typeface="Times New Roman" panose="02020603050405020304" pitchFamily="18" charset="0"/>
                    <a:ea typeface="Calibri" panose="020F0502020204030204" pitchFamily="34" charset="0"/>
                  </a:rPr>
                  <a:t>p</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be the probability that </a:t>
                </a:r>
                <a:r>
                  <a:rPr lang="en-US" sz="1850" i="1" dirty="0">
                    <a:effectLst/>
                    <a:latin typeface="Times New Roman" panose="02020603050405020304" pitchFamily="18" charset="0"/>
                    <a:ea typeface="Calibri" panose="020F0502020204030204" pitchFamily="34" charset="0"/>
                  </a:rPr>
                  <a:t>Y</a:t>
                </a:r>
                <a:r>
                  <a:rPr lang="en-US" sz="1850" i="1" baseline="-25000" dirty="0">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 receives value </a:t>
                </a:r>
                <a:r>
                  <a:rPr lang="en-US" sz="1850" i="1" dirty="0" err="1">
                    <a:effectLst/>
                    <a:latin typeface="Times New Roman" panose="02020603050405020304" pitchFamily="18" charset="0"/>
                    <a:ea typeface="Calibri" panose="020F0502020204030204" pitchFamily="34" charset="0"/>
                  </a:rPr>
                  <a:t>y</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where </a:t>
                </a:r>
                <a:r>
                  <a:rPr lang="en-US" sz="1850" i="1" dirty="0">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is from 1 to </a:t>
                </a:r>
                <a:r>
                  <a:rPr lang="en-US" sz="1850" i="1" dirty="0">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If </a:t>
                </a:r>
                <a:r>
                  <a:rPr lang="en-US" sz="1850" i="1" dirty="0">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values </a:t>
                </a:r>
                <a:r>
                  <a:rPr lang="en-US" sz="1850" i="1" dirty="0">
                    <a:effectLst/>
                    <a:latin typeface="Times New Roman" panose="02020603050405020304" pitchFamily="18" charset="0"/>
                    <a:ea typeface="Calibri" panose="020F0502020204030204" pitchFamily="34" charset="0"/>
                  </a:rPr>
                  <a:t>v</a:t>
                </a:r>
                <a:r>
                  <a:rPr lang="en-US" sz="1850" baseline="-25000" dirty="0">
                    <a:effectLst/>
                    <a:latin typeface="Times New Roman" panose="02020603050405020304" pitchFamily="18" charset="0"/>
                    <a:ea typeface="Calibri" panose="020F0502020204030204" pitchFamily="34" charset="0"/>
                  </a:rPr>
                  <a:t>1</a:t>
                </a:r>
                <a:r>
                  <a:rPr lang="en-US" sz="1850" dirty="0">
                    <a:effectLst/>
                    <a:latin typeface="Times New Roman" panose="02020603050405020304" pitchFamily="18" charset="0"/>
                    <a:ea typeface="Calibri" panose="020F0502020204030204" pitchFamily="34" charset="0"/>
                  </a:rPr>
                  <a:t>, </a:t>
                </a:r>
                <a:r>
                  <a:rPr lang="en-US" sz="1850" i="1" dirty="0">
                    <a:effectLst/>
                    <a:latin typeface="Times New Roman" panose="02020603050405020304" pitchFamily="18" charset="0"/>
                    <a:ea typeface="Calibri" panose="020F0502020204030204" pitchFamily="34" charset="0"/>
                  </a:rPr>
                  <a:t>v</a:t>
                </a:r>
                <a:r>
                  <a:rPr lang="en-US" sz="1850" baseline="-25000" dirty="0">
                    <a:effectLst/>
                    <a:latin typeface="Times New Roman" panose="02020603050405020304" pitchFamily="18" charset="0"/>
                    <a:ea typeface="Calibri" panose="020F0502020204030204" pitchFamily="34" charset="0"/>
                  </a:rPr>
                  <a:t>2</a:t>
                </a:r>
                <a:r>
                  <a:rPr lang="en-US" sz="1850" dirty="0">
                    <a:effectLst/>
                    <a:latin typeface="Times New Roman" panose="02020603050405020304" pitchFamily="18" charset="0"/>
                    <a:ea typeface="Calibri" panose="020F0502020204030204" pitchFamily="34" charset="0"/>
                  </a:rPr>
                  <a:t>,…, </a:t>
                </a:r>
                <a:r>
                  <a:rPr lang="en-US" sz="1850" i="1" dirty="0" err="1">
                    <a:effectLst/>
                    <a:latin typeface="Times New Roman" panose="02020603050405020304" pitchFamily="18" charset="0"/>
                    <a:ea typeface="Calibri" panose="020F0502020204030204" pitchFamily="34" charset="0"/>
                  </a:rPr>
                  <a:t>v</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are not ordered, </a:t>
                </a:r>
                <a:r>
                  <a:rPr lang="en-US" sz="1850" i="1" dirty="0" err="1">
                    <a:effectLst/>
                    <a:latin typeface="Times New Roman" panose="02020603050405020304" pitchFamily="18" charset="0"/>
                    <a:ea typeface="Calibri" panose="020F0502020204030204" pitchFamily="34" charset="0"/>
                  </a:rPr>
                  <a:t>p</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is the same to the proposed multinomial logistic function of </a:t>
                </a:r>
                <a:r>
                  <a:rPr lang="en-US" sz="1850" i="1" dirty="0">
                    <a:effectLst/>
                    <a:latin typeface="Times New Roman" panose="02020603050405020304" pitchFamily="18" charset="0"/>
                    <a:ea typeface="Calibri" panose="020F0502020204030204" pitchFamily="34" charset="0"/>
                  </a:rPr>
                  <a:t>Y</a:t>
                </a:r>
                <a:r>
                  <a:rPr lang="en-US" sz="1850" i="1" baseline="-25000" dirty="0">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a:t>
                </a:r>
              </a:p>
              <a:p>
                <a:pPr marL="0" indent="0">
                  <a:buNone/>
                </a:pPr>
                <a14:m>
                  <m:oMathPara xmlns:m="http://schemas.openxmlformats.org/officeDocument/2006/math">
                    <m:oMathParaPr>
                      <m:jc m:val="right"/>
                    </m:oMathParaPr>
                    <m:oMath xmlns:m="http://schemas.openxmlformats.org/officeDocument/2006/math">
                      <m:r>
                        <a:rPr lang="en-US" sz="1850" i="1" smtClean="0">
                          <a:effectLst/>
                          <a:latin typeface="Cambria Math" panose="02040503050406030204" pitchFamily="18" charset="0"/>
                          <a:ea typeface="Calibri" panose="020F0502020204030204" pitchFamily="34" charset="0"/>
                          <a:cs typeface="Times New Roman" panose="02020603050405020304" pitchFamily="18" charset="0"/>
                        </a:rPr>
                        <m:t>𝑝</m:t>
                      </m:r>
                      <m:d>
                        <m:dPr>
                          <m:ctrlPr>
                            <a:rPr lang="en-US" sz="1850" i="1">
                              <a:effectLst/>
                              <a:latin typeface="Cambria Math" panose="02040503050406030204" pitchFamily="18" charset="0"/>
                            </a:rPr>
                          </m:ctrlPr>
                        </m:dPr>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Sub>
                        </m:e>
                      </m:d>
                      <m:r>
                        <a:rPr lang="en-US" sz="1850" i="1">
                          <a:effectLst/>
                          <a:latin typeface="Cambria Math" panose="02040503050406030204" pitchFamily="18" charset="0"/>
                          <a:ea typeface="Calibri" panose="020F0502020204030204" pitchFamily="34" charset="0"/>
                          <a:cs typeface="Times New Roman" panose="02020603050405020304" pitchFamily="18" charset="0"/>
                        </a:rPr>
                        <m:t>=</m:t>
                      </m:r>
                      <m:r>
                        <a:rPr lang="en-US" sz="185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50" i="1">
                              <a:effectLst/>
                              <a:latin typeface="Cambria Math" panose="02040503050406030204" pitchFamily="18" charset="0"/>
                            </a:rPr>
                          </m:ctrlPr>
                        </m:dPr>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𝑔</m:t>
                              </m:r>
                            </m:sub>
                          </m:sSub>
                        </m:e>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Sub>
                        </m:e>
                      </m:d>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𝑔</m:t>
                          </m:r>
                        </m:sub>
                      </m:sSub>
                      <m:d>
                        <m:dPr>
                          <m:ctrlPr>
                            <a:rPr lang="en-US" sz="1850" i="1">
                              <a:effectLst/>
                              <a:latin typeface="Cambria Math" panose="02040503050406030204" pitchFamily="18" charset="0"/>
                            </a:rPr>
                          </m:ctrlPr>
                        </m:dPr>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Sub>
                        </m:e>
                      </m:d>
                      <m:r>
                        <a:rPr lang="en-US" sz="185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50" i="1">
                              <a:effectLst/>
                              <a:latin typeface="Cambria Math" panose="02040503050406030204" pitchFamily="18" charset="0"/>
                            </a:rPr>
                          </m:ctrlPr>
                        </m:fPr>
                        <m:num>
                          <m:r>
                            <a:rPr lang="en-US" sz="185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50" i="1">
                              <a:effectLst/>
                              <a:latin typeface="Cambria Math" panose="02040503050406030204" pitchFamily="18" charset="0"/>
                              <a:ea typeface="Calibri" panose="020F0502020204030204" pitchFamily="34" charset="0"/>
                              <a:cs typeface="Times New Roman" panose="02020603050405020304" pitchFamily="18" charset="0"/>
                            </a:rPr>
                            <m:t>1+</m:t>
                          </m:r>
                          <m:r>
                            <m:rPr>
                              <m:sty m:val="p"/>
                            </m:rPr>
                            <a:rPr lang="en-US" sz="1850">
                              <a:effectLst/>
                              <a:latin typeface="Cambria Math" panose="02040503050406030204" pitchFamily="18" charset="0"/>
                              <a:ea typeface="Calibri" panose="020F0502020204030204" pitchFamily="34" charset="0"/>
                              <a:cs typeface="Times New Roman" panose="02020603050405020304" pitchFamily="18" charset="0"/>
                            </a:rPr>
                            <m:t>exp</m:t>
                          </m:r>
                          <m:d>
                            <m:dPr>
                              <m:ctrlPr>
                                <a:rPr lang="en-US" sz="1850" i="1">
                                  <a:effectLst/>
                                  <a:latin typeface="Cambria Math" panose="02040503050406030204" pitchFamily="18" charset="0"/>
                                </a:rPr>
                              </m:ctrlPr>
                            </m:dPr>
                            <m:e>
                              <m:r>
                                <a:rPr lang="en-US" sz="185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850" i="1">
                                      <a:effectLst/>
                                      <a:latin typeface="Cambria Math" panose="02040503050406030204" pitchFamily="18" charset="0"/>
                                    </a:rPr>
                                  </m:ctrlPr>
                                </m:dPr>
                                <m:e>
                                  <m:sSubSup>
                                    <m:sSubSupPr>
                                      <m:ctrlPr>
                                        <a:rPr lang="en-US" sz="1850" i="1">
                                          <a:effectLst/>
                                          <a:latin typeface="Cambria Math" panose="02040503050406030204" pitchFamily="18" charset="0"/>
                                        </a:rPr>
                                      </m:ctrlPr>
                                    </m:sSub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up>
                                      <m:r>
                                        <a:rPr lang="en-US" sz="185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r>
                                    <a:rPr lang="en-US" sz="185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50" i="1">
                                          <a:effectLst/>
                                          <a:latin typeface="Cambria Math" panose="02040503050406030204" pitchFamily="18" charset="0"/>
                                        </a:rPr>
                                      </m:ctrlPr>
                                    </m:naryPr>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5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50" i="1">
                                              <a:effectLst/>
                                              <a:latin typeface="Cambria Math" panose="02040503050406030204" pitchFamily="18" charset="0"/>
                                            </a:rPr>
                                          </m:ctrlPr>
                                        </m:d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50" i="1">
                                              <a:effectLst/>
                                              <a:latin typeface="Cambria Math" panose="02040503050406030204" pitchFamily="18" charset="0"/>
                                            </a:rPr>
                                          </m:ctrlPr>
                                        </m:dPr>
                                        <m:e>
                                          <m:sSubSup>
                                            <m:sSubSupPr>
                                              <m:ctrlPr>
                                                <a:rPr lang="en-US" sz="1850" i="1">
                                                  <a:effectLst/>
                                                  <a:latin typeface="Cambria Math" panose="02040503050406030204" pitchFamily="18" charset="0"/>
                                                </a:rPr>
                                              </m:ctrlPr>
                                            </m:sSub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up>
                                              <m:r>
                                                <a:rPr lang="en-US" sz="185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50" i="1">
                                                  <a:effectLst/>
                                                  <a:latin typeface="Cambria Math" panose="02040503050406030204" pitchFamily="18" charset="0"/>
                                                </a:rPr>
                                              </m:ctrlPr>
                                            </m:sSub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50" i="1">
                                                  <a:effectLst/>
                                                  <a:latin typeface="Cambria Math" panose="02040503050406030204" pitchFamily="18" charset="0"/>
                                                  <a:ea typeface="Calibri" panose="020F0502020204030204" pitchFamily="34" charset="0"/>
                                                  <a:cs typeface="Times New Roman" panose="02020603050405020304" pitchFamily="18" charset="0"/>
                                                </a:rPr>
                                                <m:t>𝑔</m:t>
                                              </m:r>
                                            </m:sub>
                                            <m:sup>
                                              <m:r>
                                                <a:rPr lang="en-US" sz="185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e>
                                  </m:nary>
                                </m:e>
                              </m:d>
                            </m:e>
                          </m:d>
                        </m:den>
                      </m:f>
                      <m:r>
                        <a:rPr lang="en-US" sz="1850" b="0" i="1" smtClean="0">
                          <a:effectLst/>
                          <a:latin typeface="Cambria Math" panose="02040503050406030204" pitchFamily="18" charset="0"/>
                          <a:ea typeface="Calibri" panose="020F0502020204030204" pitchFamily="34" charset="0"/>
                          <a:cs typeface="Times New Roman" panose="02020603050405020304" pitchFamily="18" charset="0"/>
                        </a:rPr>
                        <m:t>    (2.2)</m:t>
                      </m:r>
                    </m:oMath>
                  </m:oMathPara>
                </a14:m>
                <a:endParaRPr lang="en-US" sz="1850" dirty="0"/>
              </a:p>
              <a:p>
                <a:pPr marL="0" indent="0">
                  <a:buNone/>
                </a:pPr>
                <a:r>
                  <a:rPr lang="en-US" sz="1850" dirty="0">
                    <a:effectLst/>
                    <a:latin typeface="Times New Roman" panose="02020603050405020304" pitchFamily="18" charset="0"/>
                    <a:ea typeface="Calibri" panose="020F0502020204030204" pitchFamily="34" charset="0"/>
                  </a:rPr>
                  <a:t>If </a:t>
                </a:r>
                <a:r>
                  <a:rPr lang="en-US" sz="1850" i="1" dirty="0">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values </a:t>
                </a:r>
                <a:r>
                  <a:rPr lang="en-US" sz="1850" i="1" dirty="0">
                    <a:effectLst/>
                    <a:latin typeface="Times New Roman" panose="02020603050405020304" pitchFamily="18" charset="0"/>
                    <a:ea typeface="Calibri" panose="020F0502020204030204" pitchFamily="34" charset="0"/>
                  </a:rPr>
                  <a:t>v</a:t>
                </a:r>
                <a:r>
                  <a:rPr lang="en-US" sz="1850" baseline="-25000" dirty="0">
                    <a:effectLst/>
                    <a:latin typeface="Times New Roman" panose="02020603050405020304" pitchFamily="18" charset="0"/>
                    <a:ea typeface="Calibri" panose="020F0502020204030204" pitchFamily="34" charset="0"/>
                  </a:rPr>
                  <a:t>1</a:t>
                </a:r>
                <a:r>
                  <a:rPr lang="en-US" sz="1850" dirty="0">
                    <a:effectLst/>
                    <a:latin typeface="Times New Roman" panose="02020603050405020304" pitchFamily="18" charset="0"/>
                    <a:ea typeface="Calibri" panose="020F0502020204030204" pitchFamily="34" charset="0"/>
                  </a:rPr>
                  <a:t>, </a:t>
                </a:r>
                <a:r>
                  <a:rPr lang="en-US" sz="1850" i="1" dirty="0">
                    <a:effectLst/>
                    <a:latin typeface="Times New Roman" panose="02020603050405020304" pitchFamily="18" charset="0"/>
                    <a:ea typeface="Calibri" panose="020F0502020204030204" pitchFamily="34" charset="0"/>
                  </a:rPr>
                  <a:t>v</a:t>
                </a:r>
                <a:r>
                  <a:rPr lang="en-US" sz="1850" baseline="-25000" dirty="0">
                    <a:effectLst/>
                    <a:latin typeface="Times New Roman" panose="02020603050405020304" pitchFamily="18" charset="0"/>
                    <a:ea typeface="Calibri" panose="020F0502020204030204" pitchFamily="34" charset="0"/>
                  </a:rPr>
                  <a:t>2</a:t>
                </a:r>
                <a:r>
                  <a:rPr lang="en-US" sz="1850" dirty="0">
                    <a:effectLst/>
                    <a:latin typeface="Times New Roman" panose="02020603050405020304" pitchFamily="18" charset="0"/>
                    <a:ea typeface="Calibri" panose="020F0502020204030204" pitchFamily="34" charset="0"/>
                  </a:rPr>
                  <a:t>,…, </a:t>
                </a:r>
                <a:r>
                  <a:rPr lang="en-US" sz="1850" i="1" dirty="0" err="1">
                    <a:effectLst/>
                    <a:latin typeface="Times New Roman" panose="02020603050405020304" pitchFamily="18" charset="0"/>
                    <a:ea typeface="Calibri" panose="020F0502020204030204" pitchFamily="34" charset="0"/>
                  </a:rPr>
                  <a:t>v</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are ordered such that </a:t>
                </a:r>
                <a:r>
                  <a:rPr lang="en-US" sz="1850" i="1" dirty="0">
                    <a:effectLst/>
                    <a:latin typeface="Times New Roman" panose="02020603050405020304" pitchFamily="18" charset="0"/>
                    <a:ea typeface="Calibri" panose="020F0502020204030204" pitchFamily="34" charset="0"/>
                  </a:rPr>
                  <a:t>v</a:t>
                </a:r>
                <a:r>
                  <a:rPr lang="en-US" sz="1850" baseline="-25000" dirty="0">
                    <a:effectLst/>
                    <a:latin typeface="Times New Roman" panose="02020603050405020304" pitchFamily="18" charset="0"/>
                    <a:ea typeface="Calibri" panose="020F0502020204030204" pitchFamily="34" charset="0"/>
                  </a:rPr>
                  <a:t>1</a:t>
                </a:r>
                <a:r>
                  <a:rPr lang="en-US" sz="1850" dirty="0">
                    <a:effectLst/>
                    <a:latin typeface="Times New Roman" panose="02020603050405020304" pitchFamily="18" charset="0"/>
                    <a:ea typeface="Calibri" panose="020F0502020204030204" pitchFamily="34" charset="0"/>
                  </a:rPr>
                  <a:t> ≤ </a:t>
                </a:r>
                <a:r>
                  <a:rPr lang="en-US" sz="1850" i="1" dirty="0">
                    <a:effectLst/>
                    <a:latin typeface="Times New Roman" panose="02020603050405020304" pitchFamily="18" charset="0"/>
                    <a:ea typeface="Calibri" panose="020F0502020204030204" pitchFamily="34" charset="0"/>
                  </a:rPr>
                  <a:t>v</a:t>
                </a:r>
                <a:r>
                  <a:rPr lang="en-US" sz="1850" baseline="-25000" dirty="0">
                    <a:effectLst/>
                    <a:latin typeface="Times New Roman" panose="02020603050405020304" pitchFamily="18" charset="0"/>
                    <a:ea typeface="Calibri" panose="020F0502020204030204" pitchFamily="34" charset="0"/>
                  </a:rPr>
                  <a:t>2</a:t>
                </a:r>
                <a:r>
                  <a:rPr lang="en-US" sz="1850" dirty="0">
                    <a:effectLst/>
                    <a:latin typeface="Times New Roman" panose="02020603050405020304" pitchFamily="18" charset="0"/>
                    <a:ea typeface="Calibri" panose="020F0502020204030204" pitchFamily="34" charset="0"/>
                  </a:rPr>
                  <a:t> ≤ … ≤ </a:t>
                </a:r>
                <a:r>
                  <a:rPr lang="en-US" sz="1850" i="1" dirty="0" err="1">
                    <a:effectLst/>
                    <a:latin typeface="Times New Roman" panose="02020603050405020304" pitchFamily="18" charset="0"/>
                    <a:ea typeface="Calibri" panose="020F0502020204030204" pitchFamily="34" charset="0"/>
                  </a:rPr>
                  <a:t>v</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then, according to Bender and </a:t>
                </a:r>
                <a:r>
                  <a:rPr lang="en-US" sz="1850" dirty="0" err="1">
                    <a:effectLst/>
                    <a:latin typeface="Times New Roman" panose="02020603050405020304" pitchFamily="18" charset="0"/>
                    <a:ea typeface="Calibri" panose="020F0502020204030204" pitchFamily="34" charset="0"/>
                  </a:rPr>
                  <a:t>Grouven</a:t>
                </a:r>
                <a:r>
                  <a:rPr lang="en-US" sz="1850" dirty="0">
                    <a:effectLst/>
                    <a:latin typeface="Times New Roman" panose="02020603050405020304" pitchFamily="18" charset="0"/>
                    <a:ea typeface="Calibri" panose="020F0502020204030204" pitchFamily="34" charset="0"/>
                  </a:rPr>
                  <a:t> (Bender &amp; </a:t>
                </a:r>
                <a:r>
                  <a:rPr lang="en-US" sz="1850" dirty="0" err="1">
                    <a:effectLst/>
                    <a:latin typeface="Times New Roman" panose="02020603050405020304" pitchFamily="18" charset="0"/>
                    <a:ea typeface="Calibri" panose="020F0502020204030204" pitchFamily="34" charset="0"/>
                  </a:rPr>
                  <a:t>Grouven</a:t>
                </a:r>
                <a:r>
                  <a:rPr lang="en-US" sz="1850" dirty="0">
                    <a:effectLst/>
                    <a:latin typeface="Times New Roman" panose="02020603050405020304" pitchFamily="18" charset="0"/>
                    <a:ea typeface="Calibri" panose="020F0502020204030204" pitchFamily="34" charset="0"/>
                  </a:rPr>
                  <a:t>, 1997, p. 547), </a:t>
                </a:r>
                <a:r>
                  <a:rPr lang="en-US" sz="1850" i="1" dirty="0" err="1">
                    <a:effectLst/>
                    <a:latin typeface="Times New Roman" panose="02020603050405020304" pitchFamily="18" charset="0"/>
                    <a:ea typeface="Calibri" panose="020F0502020204030204" pitchFamily="34" charset="0"/>
                  </a:rPr>
                  <a:t>p</a:t>
                </a:r>
                <a:r>
                  <a:rPr lang="en-US" sz="1850" i="1" baseline="-25000" dirty="0" err="1">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becomes the cumulative probability such that </a:t>
                </a:r>
                <a:r>
                  <a:rPr lang="en-US" sz="1850" i="1" dirty="0">
                    <a:effectLst/>
                    <a:latin typeface="Times New Roman" panose="02020603050405020304" pitchFamily="18" charset="0"/>
                    <a:ea typeface="Calibri" panose="020F0502020204030204" pitchFamily="34" charset="0"/>
                  </a:rPr>
                  <a:t>Y</a:t>
                </a:r>
                <a:r>
                  <a:rPr lang="en-US" sz="1850" i="1" baseline="-25000" dirty="0">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 ≤ </a:t>
                </a:r>
                <a:r>
                  <a:rPr lang="en-US" sz="1850" i="1" dirty="0">
                    <a:effectLst/>
                    <a:latin typeface="Times New Roman" panose="02020603050405020304" pitchFamily="18" charset="0"/>
                    <a:ea typeface="Calibri" panose="020F0502020204030204" pitchFamily="34" charset="0"/>
                  </a:rPr>
                  <a:t>v</a:t>
                </a:r>
                <a:r>
                  <a:rPr lang="en-US" sz="1850" i="1" baseline="-25000" dirty="0">
                    <a:effectLst/>
                    <a:latin typeface="Times New Roman" panose="02020603050405020304" pitchFamily="18" charset="0"/>
                    <a:ea typeface="Calibri" panose="020F0502020204030204" pitchFamily="34" charset="0"/>
                  </a:rPr>
                  <a:t>g</a:t>
                </a:r>
                <a:r>
                  <a:rPr lang="en-US" sz="1850" dirty="0">
                    <a:effectLst/>
                    <a:latin typeface="Times New Roman" panose="02020603050405020304" pitchFamily="18" charset="0"/>
                    <a:ea typeface="Calibri" panose="020F0502020204030204" pitchFamily="34" charset="0"/>
                  </a:rPr>
                  <a:t> as follows:</a:t>
                </a:r>
              </a:p>
              <a:p>
                <a:pPr marL="0" indent="0">
                  <a:buNone/>
                </a:pPr>
                <a14:m>
                  <m:oMathPara xmlns:m="http://schemas.openxmlformats.org/officeDocument/2006/math">
                    <m:oMathParaPr>
                      <m:jc m:val="right"/>
                    </m:oMathParaPr>
                    <m:oMath xmlns:m="http://schemas.openxmlformats.org/officeDocument/2006/math">
                      <m:r>
                        <a:rPr lang="en-US" sz="1850" i="1" smtClean="0">
                          <a:effectLst/>
                          <a:latin typeface="Cambria Math" panose="02040503050406030204" pitchFamily="18" charset="0"/>
                          <a:ea typeface="Calibri" panose="020F0502020204030204" pitchFamily="34" charset="0"/>
                          <a:cs typeface="Times New Roman" panose="02020603050405020304" pitchFamily="18" charset="0"/>
                        </a:rPr>
                        <m:t>𝑝</m:t>
                      </m:r>
                      <m:d>
                        <m:dPr>
                          <m:ctrlPr>
                            <a:rPr lang="en-US" sz="1850" i="1">
                              <a:effectLst/>
                              <a:latin typeface="Cambria Math" panose="02040503050406030204" pitchFamily="18" charset="0"/>
                            </a:rPr>
                          </m:ctrlPr>
                        </m:dPr>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Sub>
                        </m:e>
                      </m:d>
                      <m:r>
                        <a:rPr lang="en-US" sz="1850" i="1">
                          <a:effectLst/>
                          <a:latin typeface="Cambria Math" panose="02040503050406030204" pitchFamily="18" charset="0"/>
                          <a:ea typeface="Calibri" panose="020F0502020204030204" pitchFamily="34" charset="0"/>
                          <a:cs typeface="Times New Roman" panose="02020603050405020304" pitchFamily="18" charset="0"/>
                        </a:rPr>
                        <m:t>=</m:t>
                      </m:r>
                      <m:r>
                        <a:rPr lang="en-US" sz="185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US" sz="1850" i="1">
                              <a:effectLst/>
                              <a:latin typeface="Cambria Math" panose="02040503050406030204" pitchFamily="18" charset="0"/>
                            </a:rPr>
                          </m:ctrlPr>
                        </m:dPr>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𝑔</m:t>
                              </m:r>
                            </m:sub>
                          </m:sSub>
                        </m:e>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𝑠𝑔</m:t>
                              </m:r>
                            </m:sub>
                          </m:sSub>
                        </m:e>
                      </m:d>
                      <m:r>
                        <a:rPr lang="en-US" sz="185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1850" i="1">
                              <a:effectLst/>
                              <a:latin typeface="Cambria Math" panose="02040503050406030204" pitchFamily="18" charset="0"/>
                            </a:rPr>
                          </m:ctrlPr>
                        </m:naryPr>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5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50" i="1">
                              <a:effectLst/>
                              <a:latin typeface="Cambria Math" panose="02040503050406030204" pitchFamily="18" charset="0"/>
                              <a:ea typeface="Calibri" panose="020F0502020204030204" pitchFamily="34" charset="0"/>
                              <a:cs typeface="Times New Roman" panose="02020603050405020304" pitchFamily="18" charset="0"/>
                            </a:rPr>
                            <m:t>𝑔</m:t>
                          </m:r>
                        </m:sup>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𝑖</m:t>
                              </m:r>
                            </m:sub>
                          </m:sSub>
                          <m:d>
                            <m:dPr>
                              <m:ctrlPr>
                                <a:rPr lang="en-US" sz="1850" i="1">
                                  <a:effectLst/>
                                  <a:latin typeface="Cambria Math" panose="02040503050406030204" pitchFamily="18" charset="0"/>
                                </a:rPr>
                              </m:ctrlPr>
                            </m:dPr>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50" i="1">
                                          <a:effectLst/>
                                          <a:latin typeface="Cambria Math" panose="02040503050406030204" pitchFamily="18" charset="0"/>
                                        </a:rPr>
                                      </m:ctrlPr>
                                    </m:sSupPr>
                                    <m:e>
                                      <m:r>
                                        <a:rPr lang="en-US" sz="185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5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50" i="1">
                                      <a:effectLst/>
                                      <a:latin typeface="Cambria Math" panose="02040503050406030204" pitchFamily="18" charset="0"/>
                                    </a:rPr>
                                  </m:ctrlPr>
                                </m:sSubPr>
                                <m:e>
                                  <m:r>
                                    <a:rPr lang="en-US" sz="185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50" i="1">
                                      <a:effectLst/>
                                      <a:latin typeface="Cambria Math" panose="02040503050406030204" pitchFamily="18" charset="0"/>
                                      <a:ea typeface="Calibri" panose="020F0502020204030204" pitchFamily="34" charset="0"/>
                                      <a:cs typeface="Times New Roman" panose="02020603050405020304" pitchFamily="18" charset="0"/>
                                    </a:rPr>
                                    <m:t>𝑠𝑖</m:t>
                                  </m:r>
                                </m:sub>
                              </m:sSub>
                            </m:e>
                          </m:d>
                        </m:e>
                      </m:nary>
                      <m:r>
                        <a:rPr lang="en-US" sz="1850" b="0" i="1" smtClean="0">
                          <a:effectLst/>
                          <a:latin typeface="Cambria Math" panose="02040503050406030204" pitchFamily="18" charset="0"/>
                          <a:ea typeface="Calibri" panose="020F0502020204030204" pitchFamily="34" charset="0"/>
                          <a:cs typeface="Times New Roman" panose="02020603050405020304" pitchFamily="18" charset="0"/>
                        </a:rPr>
                        <m:t>    (2.3)</m:t>
                      </m:r>
                    </m:oMath>
                  </m:oMathPara>
                </a14:m>
                <a:endParaRPr lang="en-US" sz="1850" dirty="0"/>
              </a:p>
              <a:p>
                <a:pPr marL="0" indent="0">
                  <a:buNone/>
                </a:pPr>
                <a:r>
                  <a:rPr lang="en-US" sz="1850" dirty="0">
                    <a:effectLst/>
                    <a:latin typeface="Times New Roman" panose="02020603050405020304" pitchFamily="18" charset="0"/>
                    <a:ea typeface="Calibri" panose="020F0502020204030204" pitchFamily="34" charset="0"/>
                  </a:rPr>
                  <a:t>Obviously, </a:t>
                </a:r>
                <a:r>
                  <a:rPr lang="en-US" sz="1850" i="1" dirty="0">
                    <a:effectLst/>
                    <a:latin typeface="Times New Roman" panose="02020603050405020304" pitchFamily="18" charset="0"/>
                    <a:ea typeface="Calibri" panose="020F0502020204030204" pitchFamily="34" charset="0"/>
                  </a:rPr>
                  <a:t>p</a:t>
                </a:r>
                <a:r>
                  <a:rPr lang="en-US" sz="1850" dirty="0">
                    <a:effectLst/>
                    <a:latin typeface="Times New Roman" panose="02020603050405020304" pitchFamily="18" charset="0"/>
                    <a:ea typeface="Calibri" panose="020F0502020204030204" pitchFamily="34" charset="0"/>
                  </a:rPr>
                  <a:t>(</a:t>
                </a:r>
                <a:r>
                  <a:rPr lang="en-US" sz="1850" i="1" dirty="0" err="1">
                    <a:effectLst/>
                    <a:latin typeface="Times New Roman" panose="02020603050405020304" pitchFamily="18" charset="0"/>
                    <a:ea typeface="Calibri" panose="020F0502020204030204" pitchFamily="34" charset="0"/>
                  </a:rPr>
                  <a:t>X</a:t>
                </a:r>
                <a:r>
                  <a:rPr lang="en-US" sz="1850" i="1" baseline="-25000" dirty="0" err="1">
                    <a:effectLst/>
                    <a:latin typeface="Times New Roman" panose="02020603050405020304" pitchFamily="18" charset="0"/>
                    <a:ea typeface="Calibri" panose="020F0502020204030204" pitchFamily="34" charset="0"/>
                  </a:rPr>
                  <a:t>s</a:t>
                </a:r>
                <a:r>
                  <a:rPr lang="en-US" sz="1850" dirty="0">
                    <a:effectLst/>
                    <a:latin typeface="Times New Roman" panose="02020603050405020304" pitchFamily="18" charset="0"/>
                    <a:ea typeface="Calibri" panose="020F0502020204030204" pitchFamily="34" charset="0"/>
                  </a:rPr>
                  <a:t>|</a:t>
                </a:r>
                <a:r>
                  <a:rPr lang="en-US" sz="1850" i="1" dirty="0">
                    <a:effectLst/>
                    <a:latin typeface="Times New Roman" panose="02020603050405020304" pitchFamily="18" charset="0"/>
                    <a:ea typeface="Calibri" panose="020F0502020204030204" pitchFamily="34" charset="0"/>
                  </a:rPr>
                  <a:t>α</a:t>
                </a:r>
                <a:r>
                  <a:rPr lang="en-US" sz="1850" i="1" baseline="-25000" dirty="0">
                    <a:effectLst/>
                    <a:latin typeface="Times New Roman" panose="02020603050405020304" pitchFamily="18" charset="0"/>
                    <a:ea typeface="Calibri" panose="020F0502020204030204" pitchFamily="34" charset="0"/>
                  </a:rPr>
                  <a:t>sg</a:t>
                </a:r>
                <a:r>
                  <a:rPr lang="en-US" sz="1850" dirty="0">
                    <a:effectLst/>
                    <a:latin typeface="Times New Roman" panose="02020603050405020304" pitchFamily="18" charset="0"/>
                    <a:ea typeface="Calibri" panose="020F0502020204030204" pitchFamily="34" charset="0"/>
                  </a:rPr>
                  <a:t>)  is the CAR model integrated with logistic function, which is called LCAR model.</a:t>
                </a:r>
                <a:endParaRPr lang="en-US" sz="185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2880" y="815923"/>
                <a:ext cx="11802793" cy="5176066"/>
              </a:xfrm>
              <a:blipFill>
                <a:blip r:embed="rId3"/>
                <a:stretch>
                  <a:fillRect l="-465" t="-707" r="-465" b="-742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a:t>14/12/2022</a:t>
            </a:r>
          </a:p>
        </p:txBody>
      </p:sp>
      <p:sp>
        <p:nvSpPr>
          <p:cNvPr id="5" name="Footer Placeholder 4"/>
          <p:cNvSpPr>
            <a:spLocks noGrp="1"/>
          </p:cNvSpPr>
          <p:nvPr>
            <p:ph type="ftr" sz="quarter" idx="11"/>
          </p:nvPr>
        </p:nvSpPr>
        <p:spPr/>
        <p:txBody>
          <a:bodyPr/>
          <a:lstStyle/>
          <a:p>
            <a:r>
              <a:rPr lang="en-US"/>
              <a:t>Two-step Autoregressive Model - Loc Nguyen</a:t>
            </a:r>
          </a:p>
        </p:txBody>
      </p:sp>
      <p:sp>
        <p:nvSpPr>
          <p:cNvPr id="6" name="Slide Number Placeholder 5"/>
          <p:cNvSpPr>
            <a:spLocks noGrp="1"/>
          </p:cNvSpPr>
          <p:nvPr>
            <p:ph type="sldNum" sz="quarter" idx="12"/>
          </p:nvPr>
        </p:nvSpPr>
        <p:spPr/>
        <p:txBody>
          <a:bodyPr/>
          <a:lstStyle/>
          <a:p>
            <a:fld id="{5DB5036F-1FF2-46C4-8D2B-59C7E3B91952}" type="slidenum">
              <a:rPr lang="en-US" smtClean="0"/>
              <a:pPr/>
              <a:t>14</a:t>
            </a:fld>
            <a:endParaRPr lang="en-US"/>
          </a:p>
        </p:txBody>
      </p:sp>
    </p:spTree>
    <p:extLst>
      <p:ext uri="{BB962C8B-B14F-4D97-AF65-F5344CB8AC3E}">
        <p14:creationId xmlns:p14="http://schemas.microsoft.com/office/powerpoint/2010/main" val="1047971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FC606-3EB1-B555-C737-10C41F393D2D}"/>
              </a:ext>
            </a:extLst>
          </p:cNvPr>
          <p:cNvSpPr>
            <a:spLocks noGrp="1"/>
          </p:cNvSpPr>
          <p:nvPr>
            <p:ph type="title"/>
          </p:nvPr>
        </p:nvSpPr>
        <p:spPr>
          <a:xfrm>
            <a:off x="838200" y="47646"/>
            <a:ext cx="10515600" cy="660486"/>
          </a:xfrm>
        </p:spPr>
        <p:txBody>
          <a:bodyPr/>
          <a:lstStyle/>
          <a:p>
            <a:r>
              <a:rPr lang="en-US" dirty="0"/>
              <a:t>2. Integrated with logistic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5E7C59-CCAE-FB3F-D785-70884E18736E}"/>
                  </a:ext>
                </a:extLst>
              </p:cNvPr>
              <p:cNvSpPr>
                <a:spLocks noGrp="1"/>
              </p:cNvSpPr>
              <p:nvPr>
                <p:ph idx="1"/>
              </p:nvPr>
            </p:nvSpPr>
            <p:spPr>
              <a:xfrm>
                <a:off x="295421" y="745583"/>
                <a:ext cx="11563643" cy="5176066"/>
              </a:xfrm>
            </p:spPr>
            <p:txBody>
              <a:bodyPr>
                <a:noAutofit/>
              </a:bodyPr>
              <a:lstStyle/>
              <a:p>
                <a:pPr marL="0" indent="0">
                  <a:buNone/>
                </a:pPr>
                <a:r>
                  <a:rPr lang="en-US" sz="1800" dirty="0">
                    <a:effectLst/>
                    <a:latin typeface="Times New Roman" panose="02020603050405020304" pitchFamily="18" charset="0"/>
                    <a:ea typeface="Calibri" panose="020F0502020204030204" pitchFamily="34" charset="0"/>
                  </a:rPr>
                  <a:t>Essentially, LCAR is determined by estimating parameters </a:t>
                </a:r>
                <a:r>
                  <a:rPr lang="en-US" sz="1800" i="1" dirty="0">
                    <a:effectLst/>
                    <a:latin typeface="Times New Roman" panose="02020603050405020304" pitchFamily="18" charset="0"/>
                    <a:ea typeface="Calibri" panose="020F0502020204030204" pitchFamily="34" charset="0"/>
                  </a:rPr>
                  <a:t>α</a:t>
                </a:r>
                <a:r>
                  <a:rPr lang="en-US" sz="1800" i="1" baseline="-25000" dirty="0">
                    <a:effectLst/>
                    <a:latin typeface="Times New Roman" panose="02020603050405020304" pitchFamily="18" charset="0"/>
                    <a:ea typeface="Calibri" panose="020F0502020204030204" pitchFamily="34" charset="0"/>
                  </a:rPr>
                  <a:t>sg</a:t>
                </a:r>
                <a:r>
                  <a:rPr lang="en-US" sz="1800" dirty="0">
                    <a:effectLst/>
                    <a:latin typeface="Times New Roman" panose="02020603050405020304" pitchFamily="18" charset="0"/>
                    <a:ea typeface="Calibri" panose="020F0502020204030204" pitchFamily="34" charset="0"/>
                  </a:rPr>
                  <a:t>. As a convention, let</a:t>
                </a:r>
              </a:p>
              <a:p>
                <a:pPr marL="0" indent="0">
                  <a:buNone/>
                </a:pPr>
                <a14:m>
                  <m:oMathPara xmlns:m="http://schemas.openxmlformats.org/officeDocument/2006/math">
                    <m:oMathParaPr>
                      <m:jc m:val="right"/>
                    </m:oMathParaPr>
                    <m:oMath xmlns:m="http://schemas.openxmlformats.org/officeDocument/2006/math">
                      <m:m>
                        <m:mPr>
                          <m:mcs>
                            <m:mc>
                              <m:mcPr>
                                <m:count m:val="1"/>
                                <m:mcJc m:val="center"/>
                              </m:mcPr>
                            </m:mc>
                          </m:mcs>
                          <m:ctrlPr>
                            <a:rPr lang="en-US" sz="1800" i="1" smtClean="0">
                              <a:effectLst/>
                              <a:latin typeface="Cambria Math" panose="02040503050406030204" pitchFamily="18" charset="0"/>
                            </a:rPr>
                          </m:ctrlPr>
                        </m:mPr>
                        <m:m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e>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e>
                            </m:d>
                          </m:e>
                        </m:mr>
                        <m:mr>
                          <m:e>
                            <m:nary>
                              <m:naryPr>
                                <m:chr m:val="∑"/>
                                <m:limLoc m:val="undOvr"/>
                                <m:ctrlPr>
                                  <a:rPr lang="en-US" sz="1800" i="1">
                                    <a:effectLst/>
                                    <a:latin typeface="Cambria Math" panose="020405030504060302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𝐺</m:t>
                                </m:r>
                              </m:sup>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e>
                            </m:nary>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mr>
                      </m:m>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    (2.4)</m:t>
                      </m:r>
                    </m:oMath>
                  </m:oMathPara>
                </a14:m>
                <a:endParaRPr lang="en-US" sz="1800" dirty="0">
                  <a:effectLst/>
                  <a:latin typeface="Times New Roman" panose="02020603050405020304" pitchFamily="18" charset="0"/>
                  <a:ea typeface="Calibri" panose="020F0502020204030204" pitchFamily="34" charset="0"/>
                </a:endParaRPr>
              </a:p>
              <a:p>
                <a:pPr marL="0" indent="0">
                  <a:buNone/>
                </a:pPr>
                <a:r>
                  <a:rPr lang="en-US" sz="1800" dirty="0">
                    <a:effectLst/>
                    <a:latin typeface="Times New Roman" panose="02020603050405020304" pitchFamily="18" charset="0"/>
                    <a:ea typeface="Calibri" panose="020F0502020204030204" pitchFamily="34" charset="0"/>
                  </a:rPr>
                  <a:t>The logarithm of </a:t>
                </a:r>
                <a:r>
                  <a:rPr lang="en-US" sz="1800" i="1" dirty="0" err="1">
                    <a:effectLst/>
                    <a:latin typeface="Times New Roman" panose="02020603050405020304" pitchFamily="18" charset="0"/>
                    <a:ea typeface="Calibri" panose="020F0502020204030204" pitchFamily="34" charset="0"/>
                  </a:rPr>
                  <a:t>p</a:t>
                </a:r>
                <a:r>
                  <a:rPr lang="en-US" sz="1800" i="1" baseline="-25000" dirty="0" err="1">
                    <a:effectLst/>
                    <a:latin typeface="Times New Roman" panose="02020603050405020304" pitchFamily="18" charset="0"/>
                    <a:ea typeface="Calibri" panose="020F0502020204030204" pitchFamily="34" charset="0"/>
                  </a:rPr>
                  <a:t>sg</a:t>
                </a:r>
                <a:r>
                  <a:rPr lang="en-US" sz="1800" dirty="0">
                    <a:effectLst/>
                    <a:latin typeface="Times New Roman" panose="02020603050405020304" pitchFamily="18" charset="0"/>
                    <a:ea typeface="Calibri" panose="020F0502020204030204" pitchFamily="34" charset="0"/>
                  </a:rPr>
                  <a:t> which is called logit of </a:t>
                </a:r>
                <a:r>
                  <a:rPr lang="en-US" sz="1800" i="1" dirty="0" err="1">
                    <a:effectLst/>
                    <a:latin typeface="Times New Roman" panose="02020603050405020304" pitchFamily="18" charset="0"/>
                    <a:ea typeface="Calibri" panose="020F0502020204030204" pitchFamily="34" charset="0"/>
                  </a:rPr>
                  <a:t>p</a:t>
                </a:r>
                <a:r>
                  <a:rPr lang="en-US" sz="1800" i="1" baseline="-25000" dirty="0" err="1">
                    <a:effectLst/>
                    <a:latin typeface="Times New Roman" panose="02020603050405020304" pitchFamily="18" charset="0"/>
                    <a:ea typeface="Calibri" panose="020F0502020204030204" pitchFamily="34" charset="0"/>
                  </a:rPr>
                  <a:t>sg</a:t>
                </a:r>
                <a:r>
                  <a:rPr lang="en-US" sz="1800" dirty="0">
                    <a:effectLst/>
                    <a:latin typeface="Times New Roman" panose="02020603050405020304" pitchFamily="18" charset="0"/>
                    <a:ea typeface="Calibri" panose="020F0502020204030204" pitchFamily="34" charset="0"/>
                  </a:rPr>
                  <a:t> is defined as follows:</a:t>
                </a:r>
                <a:endParaRPr lang="en-US" sz="1800" dirty="0">
                  <a:ea typeface="Calibri" panose="020F0502020204030204" pitchFamily="34" charset="0"/>
                </a:endParaRPr>
              </a:p>
              <a:p>
                <a:pPr marL="0" indent="0">
                  <a:buNone/>
                </a:pPr>
                <a14:m>
                  <m:oMathPara xmlns:m="http://schemas.openxmlformats.org/officeDocument/2006/math">
                    <m:oMathParaPr>
                      <m:jc m:val="right"/>
                    </m:oMathParaPr>
                    <m:oMath xmlns:m="http://schemas.openxmlformats.org/officeDocument/2006/math">
                      <m:r>
                        <m:rPr>
                          <m:sty m:val="p"/>
                        </m:rPr>
                        <a:rPr lang="en-US" sz="1800" smtClean="0">
                          <a:effectLst/>
                          <a:latin typeface="Cambria Math" panose="02040503050406030204" pitchFamily="18" charset="0"/>
                          <a:ea typeface="Calibri" panose="020F0502020204030204" pitchFamily="34" charset="0"/>
                          <a:cs typeface="Times New Roman" panose="02020603050405020304" pitchFamily="18" charset="0"/>
                        </a:rPr>
                        <m:t>logit</m:t>
                      </m:r>
                      <m:d>
                        <m:dPr>
                          <m:ctrlPr>
                            <a:rPr lang="en-US" sz="1800" i="1">
                              <a:effectLst/>
                              <a:latin typeface="Cambria Math" panose="02040503050406030204" pitchFamily="18" charset="0"/>
                            </a:rPr>
                          </m:ctrlPr>
                        </m:dPr>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d>
                        <m:dPr>
                          <m:ctrlPr>
                            <a:rPr lang="en-US" sz="1800" i="1">
                              <a:effectLst/>
                              <a:latin typeface="Cambria Math" panose="02040503050406030204" pitchFamily="18" charset="0"/>
                              <a:ea typeface="SimSun" panose="02010600030101010101" pitchFamily="2" charset="-122"/>
                            </a:rPr>
                          </m:ctrlPr>
                        </m:dPr>
                        <m:e>
                          <m:f>
                            <m:fPr>
                              <m:ctrlPr>
                                <a:rPr lang="en-US" sz="1800" i="1">
                                  <a:effectLst/>
                                  <a:latin typeface="Cambria Math" panose="02040503050406030204" pitchFamily="18" charset="0"/>
                                  <a:ea typeface="SimSun" panose="02010600030101010101" pitchFamily="2" charset="-122"/>
                                </a:rPr>
                              </m:ctrlPr>
                            </m:fPr>
                            <m:num>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num>
                            <m:den>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den>
                          </m:f>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rPr>
                          </m:ctrlPr>
                        </m:naryPr>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00" i="1">
                                  <a:effectLst/>
                                  <a:latin typeface="Cambria Math" panose="02040503050406030204" pitchFamily="18" charset="0"/>
                                </a:rPr>
                              </m:ctrlPr>
                            </m:dPr>
                            <m:e>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𝑋</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e>
                          </m:d>
                        </m:e>
                      </m:nary>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    (2.5)</m:t>
                      </m:r>
                    </m:oMath>
                  </m:oMathPara>
                </a14:m>
                <a:endParaRPr lang="en-US" sz="1800" dirty="0">
                  <a:effectLst/>
                  <a:latin typeface="Times New Roman" panose="02020603050405020304" pitchFamily="18" charset="0"/>
                  <a:ea typeface="Calibri" panose="020F0502020204030204" pitchFamily="34" charset="0"/>
                </a:endParaRPr>
              </a:p>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Suppose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obeys multinomial distribution so that the parameters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site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are determined by maximum likelihood estimation (MLE) method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Czepiel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2002). The joint probability of the global dataset (</a:t>
                </a: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X</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 reduced form is:</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𝑿</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b="1" i="1">
                              <a:effectLst/>
                              <a:latin typeface="Cambria Math" panose="02040503050406030204" pitchFamily="18" charset="0"/>
                              <a:ea typeface="Calibri" panose="020F0502020204030204" pitchFamily="34" charset="0"/>
                              <a:cs typeface="Times New Roman" panose="02020603050405020304" pitchFamily="18" charset="0"/>
                            </a:rPr>
                            <m:t>𝒀</m:t>
                          </m:r>
                        </m:e>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d>
                            <m:dPr>
                              <m:begChr m:val="|"/>
                              <m:endChr m:val="|"/>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𝑆</m:t>
                              </m:r>
                            </m:e>
                          </m:d>
                        </m:sup>
                        <m:e>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𝐺</m:t>
                              </m:r>
                            </m:sup>
                            <m:e>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sub>
                                  </m:sSub>
                                </m:sub>
                                <m: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nary>
                            </m:e>
                          </m:nary>
                        </m:e>
                      </m:nary>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rPr>
                  <a:t>Where </a:t>
                </a:r>
                <a:r>
                  <a:rPr lang="en-US" sz="1800" i="1" dirty="0" err="1">
                    <a:effectLst/>
                    <a:latin typeface="Times New Roman" panose="02020603050405020304" pitchFamily="18" charset="0"/>
                    <a:ea typeface="Calibri" panose="020F0502020204030204" pitchFamily="34" charset="0"/>
                  </a:rPr>
                  <a:t>p</a:t>
                </a:r>
                <a:r>
                  <a:rPr lang="en-US" sz="1800" i="1" baseline="-25000" dirty="0" err="1">
                    <a:effectLst/>
                    <a:latin typeface="Times New Roman" panose="02020603050405020304" pitchFamily="18" charset="0"/>
                    <a:ea typeface="Calibri" panose="020F0502020204030204" pitchFamily="34" charset="0"/>
                  </a:rPr>
                  <a:t>sg</a:t>
                </a:r>
                <a:r>
                  <a:rPr lang="en-US" sz="1800" baseline="30000" dirty="0">
                    <a:effectLst/>
                    <a:latin typeface="Times New Roman" panose="02020603050405020304" pitchFamily="18" charset="0"/>
                    <a:ea typeface="Calibri" panose="020F0502020204030204" pitchFamily="34" charset="0"/>
                  </a:rPr>
                  <a:t>(</a:t>
                </a:r>
                <a:r>
                  <a:rPr lang="en-US" sz="1800" i="1" baseline="30000" dirty="0" err="1">
                    <a:effectLst/>
                    <a:latin typeface="Times New Roman" panose="02020603050405020304" pitchFamily="18" charset="0"/>
                    <a:ea typeface="Calibri" panose="020F0502020204030204" pitchFamily="34" charset="0"/>
                  </a:rPr>
                  <a:t>i</a:t>
                </a:r>
                <a:r>
                  <a:rPr lang="en-US" sz="1800" baseline="30000" dirty="0">
                    <a:effectLst/>
                    <a:latin typeface="Times New Roman" panose="02020603050405020304" pitchFamily="18" charset="0"/>
                    <a:ea typeface="Calibri" panose="020F0502020204030204" pitchFamily="34" charset="0"/>
                  </a:rPr>
                  <a:t>)</a:t>
                </a:r>
                <a:r>
                  <a:rPr lang="en-US" sz="1800" dirty="0">
                    <a:effectLst/>
                    <a:latin typeface="Times New Roman" panose="02020603050405020304" pitchFamily="18" charset="0"/>
                    <a:ea typeface="Calibri" panose="020F0502020204030204" pitchFamily="34" charset="0"/>
                  </a:rPr>
                  <a:t> is the evaluation of </a:t>
                </a:r>
                <a:r>
                  <a:rPr lang="en-US" sz="1800" i="1" dirty="0" err="1">
                    <a:effectLst/>
                    <a:latin typeface="Times New Roman" panose="02020603050405020304" pitchFamily="18" charset="0"/>
                    <a:ea typeface="Calibri" panose="020F0502020204030204" pitchFamily="34" charset="0"/>
                  </a:rPr>
                  <a:t>p</a:t>
                </a:r>
                <a:r>
                  <a:rPr lang="en-US" sz="1800" i="1" baseline="-25000" dirty="0" err="1">
                    <a:effectLst/>
                    <a:latin typeface="Times New Roman" panose="02020603050405020304" pitchFamily="18" charset="0"/>
                    <a:ea typeface="Calibri" panose="020F0502020204030204" pitchFamily="34" charset="0"/>
                  </a:rPr>
                  <a:t>sg</a:t>
                </a:r>
                <a:r>
                  <a:rPr lang="en-US" sz="1800" dirty="0">
                    <a:effectLst/>
                    <a:latin typeface="Times New Roman" panose="02020603050405020304" pitchFamily="18" charset="0"/>
                    <a:ea typeface="Calibri" panose="020F0502020204030204" pitchFamily="34" charset="0"/>
                  </a:rPr>
                  <a:t> with the instance </a:t>
                </a:r>
                <a:r>
                  <a:rPr lang="en-US" sz="1800" i="1" dirty="0" err="1">
                    <a:effectLst/>
                    <a:latin typeface="Times New Roman" panose="02020603050405020304" pitchFamily="18" charset="0"/>
                    <a:ea typeface="Calibri" panose="020F0502020204030204" pitchFamily="34" charset="0"/>
                  </a:rPr>
                  <a:t>X</a:t>
                </a:r>
                <a:r>
                  <a:rPr lang="en-US" sz="1800" i="1" baseline="-25000" dirty="0" err="1">
                    <a:effectLst/>
                    <a:latin typeface="Times New Roman" panose="02020603050405020304" pitchFamily="18" charset="0"/>
                    <a:ea typeface="Calibri" panose="020F0502020204030204" pitchFamily="34" charset="0"/>
                  </a:rPr>
                  <a:t>s</a:t>
                </a:r>
                <a:r>
                  <a:rPr lang="en-US" sz="1800" dirty="0">
                    <a:effectLst/>
                    <a:latin typeface="Times New Roman" panose="02020603050405020304" pitchFamily="18" charset="0"/>
                    <a:ea typeface="Calibri" panose="020F0502020204030204" pitchFamily="34" charset="0"/>
                  </a:rPr>
                  <a:t> = </a:t>
                </a:r>
                <a:r>
                  <a:rPr lang="en-US" sz="1800" b="1" i="1" dirty="0" err="1">
                    <a:effectLst/>
                    <a:latin typeface="Times New Roman" panose="02020603050405020304" pitchFamily="18" charset="0"/>
                    <a:ea typeface="Calibri" panose="020F0502020204030204" pitchFamily="34" charset="0"/>
                  </a:rPr>
                  <a:t>x</a:t>
                </a:r>
                <a:r>
                  <a:rPr lang="en-US" sz="1800" i="1" baseline="-25000" dirty="0" err="1">
                    <a:effectLst/>
                    <a:latin typeface="Times New Roman" panose="02020603050405020304" pitchFamily="18" charset="0"/>
                    <a:ea typeface="Calibri" panose="020F0502020204030204" pitchFamily="34" charset="0"/>
                  </a:rPr>
                  <a:t>s</a:t>
                </a:r>
                <a:r>
                  <a:rPr lang="en-US" sz="1800" baseline="30000" dirty="0">
                    <a:effectLst/>
                    <a:latin typeface="Times New Roman" panose="02020603050405020304" pitchFamily="18" charset="0"/>
                    <a:ea typeface="Calibri" panose="020F0502020204030204" pitchFamily="34" charset="0"/>
                  </a:rPr>
                  <a:t>(</a:t>
                </a:r>
                <a:r>
                  <a:rPr lang="en-US" sz="1800" i="1" baseline="30000" dirty="0" err="1">
                    <a:effectLst/>
                    <a:latin typeface="Times New Roman" panose="02020603050405020304" pitchFamily="18" charset="0"/>
                    <a:ea typeface="Calibri" panose="020F0502020204030204" pitchFamily="34" charset="0"/>
                  </a:rPr>
                  <a:t>i</a:t>
                </a:r>
                <a:r>
                  <a:rPr lang="en-US" sz="1800" baseline="30000" dirty="0">
                    <a:effectLst/>
                    <a:latin typeface="Times New Roman" panose="02020603050405020304" pitchFamily="18" charset="0"/>
                    <a:ea typeface="Calibri" panose="020F0502020204030204" pitchFamily="34" charset="0"/>
                  </a:rPr>
                  <a:t>)</a:t>
                </a:r>
                <a:r>
                  <a:rPr lang="en-US" sz="1800" dirty="0">
                    <a:effectLst/>
                    <a:latin typeface="Times New Roman" panose="02020603050405020304" pitchFamily="18" charset="0"/>
                    <a:ea typeface="Calibri" panose="020F0502020204030204" pitchFamily="34"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log-likelihood function is logarithm function of such joint probability:</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d>
                            <m:dPr>
                              <m:begChr m:val="|"/>
                              <m:endChr m:val="|"/>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𝑆</m:t>
                              </m:r>
                            </m:e>
                          </m:d>
                        </m:sup>
                        <m:e>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𝐺</m:t>
                              </m:r>
                            </m:sup>
                            <m:e>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sub>
                                  </m:sSub>
                                </m:sub>
                                <m: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exp</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bSup>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nary>
                                            </m:e>
                                          </m:d>
                                        </m:e>
                                      </m:d>
                                    </m:e>
                                  </m:d>
                                </m:e>
                              </m:nary>
                            </m:e>
                          </m:nary>
                        </m:e>
                      </m:nary>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effectLst/>
                  <a:latin typeface="Times New Roman" panose="02020603050405020304" pitchFamily="18" charset="0"/>
                  <a:ea typeface="Calibri" panose="020F0502020204030204" pitchFamily="34" charset="0"/>
                </a:endParaRPr>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C45E7C59-CCAE-FB3F-D785-70884E18736E}"/>
                  </a:ext>
                </a:extLst>
              </p:cNvPr>
              <p:cNvSpPr>
                <a:spLocks noGrp="1" noRot="1" noChangeAspect="1" noMove="1" noResize="1" noEditPoints="1" noAdjustHandles="1" noChangeArrowheads="1" noChangeShapeType="1" noTextEdit="1"/>
              </p:cNvSpPr>
              <p:nvPr>
                <p:ph idx="1"/>
              </p:nvPr>
            </p:nvSpPr>
            <p:spPr>
              <a:xfrm>
                <a:off x="295421" y="745583"/>
                <a:ext cx="11563643" cy="5176066"/>
              </a:xfrm>
              <a:blipFill>
                <a:blip r:embed="rId2"/>
                <a:stretch>
                  <a:fillRect l="-422" t="-589" r="-474" b="-659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225AC4A3-FCD5-ED46-E490-CB977514FD9A}"/>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AABBF8D1-DBAB-7766-636C-5078EF1D183C}"/>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D5F92553-89CB-2C30-7354-9DD65A15F59F}"/>
              </a:ext>
            </a:extLst>
          </p:cNvPr>
          <p:cNvSpPr>
            <a:spLocks noGrp="1"/>
          </p:cNvSpPr>
          <p:nvPr>
            <p:ph type="sldNum" sz="quarter" idx="12"/>
          </p:nvPr>
        </p:nvSpPr>
        <p:spPr/>
        <p:txBody>
          <a:bodyPr/>
          <a:lstStyle/>
          <a:p>
            <a:fld id="{5DB5036F-1FF2-46C4-8D2B-59C7E3B91952}" type="slidenum">
              <a:rPr lang="en-US" smtClean="0"/>
              <a:pPr/>
              <a:t>15</a:t>
            </a:fld>
            <a:endParaRPr lang="en-US"/>
          </a:p>
        </p:txBody>
      </p:sp>
    </p:spTree>
    <p:extLst>
      <p:ext uri="{BB962C8B-B14F-4D97-AF65-F5344CB8AC3E}">
        <p14:creationId xmlns:p14="http://schemas.microsoft.com/office/powerpoint/2010/main" val="1882754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4C94B-E9A2-0AAC-F23E-1107FC58C0CE}"/>
              </a:ext>
            </a:extLst>
          </p:cNvPr>
          <p:cNvSpPr>
            <a:spLocks noGrp="1"/>
          </p:cNvSpPr>
          <p:nvPr>
            <p:ph type="title"/>
          </p:nvPr>
        </p:nvSpPr>
        <p:spPr/>
        <p:txBody>
          <a:bodyPr/>
          <a:lstStyle/>
          <a:p>
            <a:r>
              <a:rPr lang="en-US" dirty="0"/>
              <a:t>2. Integrated with logistic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9A8FB6-82EA-0D03-F2EB-E25441989F06}"/>
                  </a:ext>
                </a:extLst>
              </p:cNvPr>
              <p:cNvSpPr>
                <a:spLocks noGrp="1"/>
              </p:cNvSpPr>
              <p:nvPr>
                <p:ph idx="1"/>
              </p:nvPr>
            </p:nvSpPr>
            <p:spPr>
              <a:xfrm>
                <a:off x="309489" y="914399"/>
                <a:ext cx="11535508" cy="5176066"/>
              </a:xfrm>
            </p:spPr>
            <p:txBody>
              <a:bodyPr>
                <a:noAutofit/>
              </a:bodyPr>
              <a:lstStyle/>
              <a:p>
                <a:pPr marL="0" marR="0" indent="0" algn="just">
                  <a:spcBef>
                    <a:spcPts val="0"/>
                  </a:spcBef>
                  <a:spcAft>
                    <a:spcPts val="0"/>
                  </a:spcAft>
                  <a:buNone/>
                </a:pPr>
                <a:r>
                  <a:rPr lang="en-US" sz="2000" dirty="0">
                    <a:effectLst/>
                    <a:ea typeface="Calibri" panose="020F0502020204030204" pitchFamily="34" charset="0"/>
                  </a:rPr>
                  <a:t>Let </a:t>
                </a:r>
                <a:r>
                  <a:rPr lang="en-US" sz="2000" i="1" dirty="0">
                    <a:effectLst/>
                    <a:ea typeface="Calibri" panose="020F0502020204030204" pitchFamily="34" charset="0"/>
                  </a:rPr>
                  <a:t>α</a:t>
                </a:r>
                <a:r>
                  <a:rPr lang="en-US" sz="2000" i="1" baseline="-25000" dirty="0">
                    <a:effectLst/>
                    <a:ea typeface="Calibri" panose="020F0502020204030204" pitchFamily="34" charset="0"/>
                  </a:rPr>
                  <a:t>sg</a:t>
                </a:r>
                <a:r>
                  <a:rPr lang="en-US" sz="2000" baseline="30000" dirty="0">
                    <a:effectLst/>
                    <a:ea typeface="Calibri" panose="020F0502020204030204" pitchFamily="34" charset="0"/>
                  </a:rPr>
                  <a:t>*</a:t>
                </a:r>
                <a:r>
                  <a:rPr lang="en-US" sz="2000" dirty="0">
                    <a:effectLst/>
                    <a:ea typeface="Calibri" panose="020F0502020204030204" pitchFamily="34" charset="0"/>
                  </a:rPr>
                  <a:t> = (</a:t>
                </a:r>
                <a:r>
                  <a:rPr lang="en-US" sz="2000" i="1" dirty="0">
                    <a:effectLst/>
                    <a:ea typeface="Calibri" panose="020F0502020204030204" pitchFamily="34" charset="0"/>
                  </a:rPr>
                  <a:t>α</a:t>
                </a:r>
                <a:r>
                  <a:rPr lang="en-US" sz="2000" i="1" baseline="-25000" dirty="0">
                    <a:effectLst/>
                    <a:ea typeface="Calibri" panose="020F0502020204030204" pitchFamily="34" charset="0"/>
                  </a:rPr>
                  <a:t>sg</a:t>
                </a:r>
                <a:r>
                  <a:rPr lang="en-US" sz="2000" baseline="-25000" dirty="0">
                    <a:effectLst/>
                    <a:ea typeface="Calibri" panose="020F0502020204030204" pitchFamily="34" charset="0"/>
                  </a:rPr>
                  <a:t>1</a:t>
                </a:r>
                <a:r>
                  <a:rPr lang="en-US" sz="2000" baseline="30000" dirty="0">
                    <a:effectLst/>
                    <a:ea typeface="Calibri" panose="020F0502020204030204" pitchFamily="34" charset="0"/>
                  </a:rPr>
                  <a:t>*</a:t>
                </a:r>
                <a:r>
                  <a:rPr lang="en-US" sz="2000" dirty="0">
                    <a:effectLst/>
                    <a:ea typeface="Calibri" panose="020F0502020204030204" pitchFamily="34" charset="0"/>
                  </a:rPr>
                  <a:t>, </a:t>
                </a:r>
                <a:r>
                  <a:rPr lang="en-US" sz="2000" i="1" dirty="0">
                    <a:effectLst/>
                    <a:ea typeface="Calibri" panose="020F0502020204030204" pitchFamily="34" charset="0"/>
                  </a:rPr>
                  <a:t>α</a:t>
                </a:r>
                <a:r>
                  <a:rPr lang="en-US" sz="2000" i="1" baseline="-25000" dirty="0">
                    <a:effectLst/>
                    <a:ea typeface="Calibri" panose="020F0502020204030204" pitchFamily="34" charset="0"/>
                  </a:rPr>
                  <a:t>sg</a:t>
                </a:r>
                <a:r>
                  <a:rPr lang="en-US" sz="2000" baseline="-25000" dirty="0">
                    <a:effectLst/>
                    <a:ea typeface="Calibri" panose="020F0502020204030204" pitchFamily="34" charset="0"/>
                  </a:rPr>
                  <a:t>2</a:t>
                </a:r>
                <a:r>
                  <a:rPr lang="en-US" sz="2000" baseline="30000" dirty="0">
                    <a:effectLst/>
                    <a:ea typeface="Calibri" panose="020F0502020204030204" pitchFamily="34" charset="0"/>
                  </a:rPr>
                  <a:t>*</a:t>
                </a:r>
                <a:r>
                  <a:rPr lang="en-US" sz="2000" dirty="0">
                    <a:effectLst/>
                    <a:ea typeface="Calibri" panose="020F0502020204030204" pitchFamily="34" charset="0"/>
                  </a:rPr>
                  <a:t>,…, </a:t>
                </a:r>
                <a:r>
                  <a:rPr lang="en-US" sz="2000" i="1" dirty="0">
                    <a:effectLst/>
                    <a:ea typeface="Calibri" panose="020F0502020204030204" pitchFamily="34" charset="0"/>
                  </a:rPr>
                  <a:t>α</a:t>
                </a:r>
                <a:r>
                  <a:rPr lang="en-US" sz="2000" i="1" baseline="-25000" dirty="0" err="1">
                    <a:effectLst/>
                    <a:ea typeface="Calibri" panose="020F0502020204030204" pitchFamily="34" charset="0"/>
                  </a:rPr>
                  <a:t>sgk</a:t>
                </a:r>
                <a:r>
                  <a:rPr lang="en-US" sz="2000" baseline="30000" dirty="0">
                    <a:effectLst/>
                    <a:ea typeface="Calibri" panose="020F0502020204030204" pitchFamily="34" charset="0"/>
                  </a:rPr>
                  <a:t>*</a:t>
                </a:r>
                <a:r>
                  <a:rPr lang="en-US" sz="2000" dirty="0">
                    <a:effectLst/>
                    <a:ea typeface="Calibri" panose="020F0502020204030204" pitchFamily="34" charset="0"/>
                  </a:rPr>
                  <a:t>) be the optimal estimate of regressive coefficients which is a maximizer of </a:t>
                </a:r>
                <a:r>
                  <a:rPr lang="en-US" sz="2000" i="1" dirty="0">
                    <a:effectLst/>
                    <a:ea typeface="Calibri" panose="020F0502020204030204" pitchFamily="34" charset="0"/>
                  </a:rPr>
                  <a:t>l</a:t>
                </a:r>
                <a:r>
                  <a:rPr lang="en-US" sz="2000" dirty="0">
                    <a:effectLst/>
                    <a:ea typeface="Calibri" panose="020F0502020204030204" pitchFamily="34" charset="0"/>
                  </a:rPr>
                  <a:t>(</a:t>
                </a:r>
                <a:r>
                  <a:rPr lang="en-US" sz="2000" i="1" dirty="0">
                    <a:effectLst/>
                    <a:ea typeface="Calibri" panose="020F0502020204030204" pitchFamily="34" charset="0"/>
                  </a:rPr>
                  <a:t>α</a:t>
                </a:r>
                <a:r>
                  <a:rPr lang="en-US" sz="2000" dirty="0">
                    <a:effectLst/>
                    <a:ea typeface="Calibri" panose="020F0502020204030204" pitchFamily="34" charset="0"/>
                  </a:rPr>
                  <a:t>) with the constraint </a:t>
                </a:r>
                <a14:m>
                  <m:oMath xmlns:m="http://schemas.openxmlformats.org/officeDocument/2006/math">
                    <m:nary>
                      <m:naryPr>
                        <m:chr m:val="∑"/>
                        <m:limLoc m:val="undOvr"/>
                        <m:ctrlPr>
                          <a:rPr lang="en-US" sz="2000" i="1">
                            <a:effectLst/>
                            <a:latin typeface="Cambria Math" panose="02040503050406030204" pitchFamily="18" charset="0"/>
                            <a:ea typeface="Calibri" panose="020F0502020204030204" pitchFamily="34" charset="0"/>
                          </a:rPr>
                        </m:ctrlPr>
                      </m:naryPr>
                      <m:sub>
                        <m:r>
                          <a:rPr lang="en-US" sz="2000" i="1">
                            <a:effectLst/>
                            <a:latin typeface="Cambria Math" panose="02040503050406030204" pitchFamily="18" charset="0"/>
                            <a:ea typeface="Calibri" panose="020F0502020204030204" pitchFamily="34" charset="0"/>
                          </a:rPr>
                          <m:t>𝑔</m:t>
                        </m:r>
                        <m:r>
                          <a:rPr lang="en-US" sz="2000" i="1">
                            <a:effectLst/>
                            <a:latin typeface="Cambria Math" panose="02040503050406030204" pitchFamily="18" charset="0"/>
                            <a:ea typeface="Calibri" panose="020F0502020204030204" pitchFamily="34" charset="0"/>
                          </a:rPr>
                          <m:t>=1</m:t>
                        </m:r>
                      </m:sub>
                      <m:sup>
                        <m:r>
                          <a:rPr lang="en-US" sz="2000" i="1">
                            <a:effectLst/>
                            <a:latin typeface="Cambria Math" panose="02040503050406030204" pitchFamily="18" charset="0"/>
                            <a:ea typeface="Calibri" panose="020F0502020204030204" pitchFamily="34" charset="0"/>
                          </a:rPr>
                          <m:t>𝐺</m:t>
                        </m:r>
                      </m:sup>
                      <m:e>
                        <m:sSub>
                          <m:sSubPr>
                            <m:ctrlPr>
                              <a:rPr lang="en-US" sz="2000" i="1">
                                <a:effectLst/>
                                <a:latin typeface="Cambria Math" panose="02040503050406030204" pitchFamily="18" charset="0"/>
                                <a:ea typeface="Calibri" panose="020F0502020204030204" pitchFamily="34" charset="0"/>
                              </a:rPr>
                            </m:ctrlPr>
                          </m:sSubPr>
                          <m:e>
                            <m:r>
                              <a:rPr lang="en-US" sz="2000" i="1">
                                <a:effectLst/>
                                <a:latin typeface="Cambria Math" panose="02040503050406030204" pitchFamily="18" charset="0"/>
                                <a:ea typeface="Calibri" panose="020F0502020204030204" pitchFamily="34" charset="0"/>
                              </a:rPr>
                              <m:t>𝑝</m:t>
                            </m:r>
                          </m:e>
                          <m:sub>
                            <m:r>
                              <a:rPr lang="en-US" sz="2000" i="1">
                                <a:effectLst/>
                                <a:latin typeface="Cambria Math" panose="02040503050406030204" pitchFamily="18" charset="0"/>
                                <a:ea typeface="Calibri" panose="020F0502020204030204" pitchFamily="34" charset="0"/>
                              </a:rPr>
                              <m:t>𝑠𝑔</m:t>
                            </m:r>
                          </m:sub>
                        </m:sSub>
                      </m:e>
                    </m:nary>
                    <m:r>
                      <a:rPr lang="en-US" sz="2000" i="1">
                        <a:effectLst/>
                        <a:latin typeface="Cambria Math" panose="02040503050406030204" pitchFamily="18" charset="0"/>
                        <a:ea typeface="Calibri" panose="020F0502020204030204" pitchFamily="34" charset="0"/>
                      </a:rPr>
                      <m:t>=1</m:t>
                    </m:r>
                  </m:oMath>
                </a14:m>
                <a:r>
                  <a:rPr lang="en-US" sz="2000" dirty="0">
                    <a:effectLst/>
                    <a:ea typeface="Calibri" panose="020F0502020204030204" pitchFamily="34" charset="0"/>
                  </a:rPr>
                  <a:t> which is equivalent to:</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r>
                        <m:rPr>
                          <m:sty m:val="p"/>
                        </m:rPr>
                        <a:rPr lang="en-US" sz="2000">
                          <a:effectLst/>
                          <a:latin typeface="Cambria Math" panose="02040503050406030204" pitchFamily="18" charset="0"/>
                          <a:ea typeface="Calibri" panose="020F0502020204030204" pitchFamily="34" charset="0"/>
                        </a:rPr>
                        <m:t>log</m:t>
                      </m:r>
                      <m:d>
                        <m:dPr>
                          <m:ctrlPr>
                            <a:rPr lang="en-US" sz="2000" i="1">
                              <a:effectLst/>
                              <a:latin typeface="Cambria Math" panose="02040503050406030204" pitchFamily="18" charset="0"/>
                              <a:ea typeface="Calibri" panose="020F0502020204030204" pitchFamily="34" charset="0"/>
                            </a:rPr>
                          </m:ctrlPr>
                        </m:dPr>
                        <m:e>
                          <m:nary>
                            <m:naryPr>
                              <m:chr m:val="∑"/>
                              <m:limLoc m:val="undOvr"/>
                              <m:ctrlPr>
                                <a:rPr lang="en-US" sz="2000" i="1">
                                  <a:effectLst/>
                                  <a:latin typeface="Cambria Math" panose="02040503050406030204" pitchFamily="18" charset="0"/>
                                  <a:ea typeface="Calibri" panose="020F0502020204030204" pitchFamily="34" charset="0"/>
                                </a:rPr>
                              </m:ctrlPr>
                            </m:naryPr>
                            <m:sub>
                              <m:r>
                                <a:rPr lang="en-US" sz="2000" i="1">
                                  <a:effectLst/>
                                  <a:latin typeface="Cambria Math" panose="02040503050406030204" pitchFamily="18" charset="0"/>
                                  <a:ea typeface="Calibri" panose="020F0502020204030204" pitchFamily="34" charset="0"/>
                                </a:rPr>
                                <m:t>𝑔</m:t>
                              </m:r>
                              <m:r>
                                <a:rPr lang="en-US" sz="2000" i="1">
                                  <a:effectLst/>
                                  <a:latin typeface="Cambria Math" panose="02040503050406030204" pitchFamily="18" charset="0"/>
                                  <a:ea typeface="Calibri" panose="020F0502020204030204" pitchFamily="34" charset="0"/>
                                </a:rPr>
                                <m:t>=1</m:t>
                              </m:r>
                            </m:sub>
                            <m:sup>
                              <m:r>
                                <a:rPr lang="en-US" sz="2000" i="1">
                                  <a:effectLst/>
                                  <a:latin typeface="Cambria Math" panose="02040503050406030204" pitchFamily="18" charset="0"/>
                                  <a:ea typeface="Calibri" panose="020F0502020204030204" pitchFamily="34" charset="0"/>
                                </a:rPr>
                                <m:t>𝐺</m:t>
                              </m:r>
                            </m:sup>
                            <m:e>
                              <m:sSub>
                                <m:sSubPr>
                                  <m:ctrlPr>
                                    <a:rPr lang="en-US" sz="2000" i="1">
                                      <a:effectLst/>
                                      <a:latin typeface="Cambria Math" panose="02040503050406030204" pitchFamily="18" charset="0"/>
                                      <a:ea typeface="Calibri" panose="020F0502020204030204" pitchFamily="34" charset="0"/>
                                    </a:rPr>
                                  </m:ctrlPr>
                                </m:sSubPr>
                                <m:e>
                                  <m:r>
                                    <a:rPr lang="en-US" sz="2000" i="1">
                                      <a:effectLst/>
                                      <a:latin typeface="Cambria Math" panose="02040503050406030204" pitchFamily="18" charset="0"/>
                                      <a:ea typeface="Calibri" panose="020F0502020204030204" pitchFamily="34" charset="0"/>
                                    </a:rPr>
                                    <m:t>𝑝</m:t>
                                  </m:r>
                                </m:e>
                                <m:sub>
                                  <m:r>
                                    <a:rPr lang="en-US" sz="2000" i="1">
                                      <a:effectLst/>
                                      <a:latin typeface="Cambria Math" panose="02040503050406030204" pitchFamily="18" charset="0"/>
                                      <a:ea typeface="Calibri" panose="020F0502020204030204" pitchFamily="34" charset="0"/>
                                    </a:rPr>
                                    <m:t>𝑠𝑔</m:t>
                                  </m:r>
                                </m:sub>
                              </m:sSub>
                            </m:e>
                          </m:nary>
                        </m:e>
                      </m:d>
                      <m:r>
                        <a:rPr lang="en-US" sz="2000" i="1">
                          <a:effectLst/>
                          <a:latin typeface="Cambria Math" panose="02040503050406030204" pitchFamily="18" charset="0"/>
                          <a:ea typeface="Calibri" panose="020F0502020204030204" pitchFamily="34" charset="0"/>
                        </a:rPr>
                        <m:t>=0</m:t>
                      </m:r>
                    </m:oMath>
                  </m:oMathPara>
                </a14:m>
                <a:endParaRPr lang="en-US" sz="2000" dirty="0">
                  <a:effectLst/>
                  <a:ea typeface="Calibri" panose="020F0502020204030204" pitchFamily="34" charset="0"/>
                </a:endParaRPr>
              </a:p>
              <a:p>
                <a:pPr marL="0" marR="0" indent="0" algn="just">
                  <a:spcBef>
                    <a:spcPts val="0"/>
                  </a:spcBef>
                  <a:spcAft>
                    <a:spcPts val="0"/>
                  </a:spcAft>
                  <a:buNone/>
                </a:pPr>
                <a:r>
                  <a:rPr lang="en-US" sz="2000" dirty="0">
                    <a:effectLst/>
                    <a:ea typeface="Calibri" panose="020F0502020204030204" pitchFamily="34" charset="0"/>
                  </a:rPr>
                  <a:t>Let </a:t>
                </a:r>
                <a:r>
                  <a:rPr lang="en-US" sz="2000" i="1" dirty="0">
                    <a:effectLst/>
                    <a:ea typeface="Calibri" panose="020F0502020204030204" pitchFamily="34" charset="0"/>
                  </a:rPr>
                  <a:t>L</a:t>
                </a:r>
                <a:r>
                  <a:rPr lang="en-US" sz="2000" baseline="-25000" dirty="0">
                    <a:effectLst/>
                    <a:ea typeface="Calibri" panose="020F0502020204030204" pitchFamily="34" charset="0"/>
                  </a:rPr>
                  <a:t>0</a:t>
                </a:r>
                <a:r>
                  <a:rPr lang="en-US" sz="2000" dirty="0">
                    <a:effectLst/>
                    <a:ea typeface="Calibri" panose="020F0502020204030204" pitchFamily="34" charset="0"/>
                  </a:rPr>
                  <a:t>(</a:t>
                </a:r>
                <a:r>
                  <a:rPr lang="en-US" sz="2000" i="1" dirty="0">
                    <a:effectLst/>
                    <a:ea typeface="Calibri" panose="020F0502020204030204" pitchFamily="34" charset="0"/>
                  </a:rPr>
                  <a:t>α</a:t>
                </a:r>
                <a:r>
                  <a:rPr lang="en-US" sz="2000" dirty="0">
                    <a:effectLst/>
                    <a:ea typeface="Calibri" panose="020F0502020204030204" pitchFamily="34" charset="0"/>
                  </a:rPr>
                  <a:t>, </a:t>
                </a:r>
                <a:r>
                  <a:rPr lang="en-US" sz="2000" i="1" dirty="0">
                    <a:effectLst/>
                    <a:ea typeface="Calibri" panose="020F0502020204030204" pitchFamily="34" charset="0"/>
                  </a:rPr>
                  <a:t>λ</a:t>
                </a:r>
                <a:r>
                  <a:rPr lang="en-US" sz="2000" dirty="0">
                    <a:effectLst/>
                    <a:ea typeface="Calibri" panose="020F0502020204030204" pitchFamily="34" charset="0"/>
                  </a:rPr>
                  <a:t>) be Lagrange function defined as follows:</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Calibri" panose="020F0502020204030204" pitchFamily="34" charset="0"/>
                            </a:rPr>
                          </m:ctrlPr>
                        </m:sSubPr>
                        <m:e>
                          <m:r>
                            <a:rPr lang="en-US" sz="2000" i="1">
                              <a:effectLst/>
                              <a:latin typeface="Cambria Math" panose="02040503050406030204" pitchFamily="18" charset="0"/>
                              <a:ea typeface="Calibri" panose="020F0502020204030204" pitchFamily="34" charset="0"/>
                            </a:rPr>
                            <m:t>𝐿</m:t>
                          </m:r>
                        </m:e>
                        <m:sub>
                          <m:r>
                            <a:rPr lang="en-US" sz="2000" i="1">
                              <a:effectLst/>
                              <a:latin typeface="Cambria Math" panose="02040503050406030204" pitchFamily="18" charset="0"/>
                              <a:ea typeface="Calibri" panose="020F0502020204030204" pitchFamily="34" charset="0"/>
                            </a:rPr>
                            <m:t>0</m:t>
                          </m:r>
                        </m:sub>
                      </m:sSub>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𝛼</m:t>
                          </m:r>
                          <m:r>
                            <a:rPr lang="en-US" sz="2000" i="1">
                              <a:effectLst/>
                              <a:latin typeface="Cambria Math" panose="02040503050406030204" pitchFamily="18" charset="0"/>
                              <a:ea typeface="Calibri" panose="020F0502020204030204" pitchFamily="34" charset="0"/>
                            </a:rPr>
                            <m:t>,</m:t>
                          </m:r>
                          <m:r>
                            <a:rPr lang="en-US" sz="2000" i="1">
                              <a:effectLst/>
                              <a:latin typeface="Cambria Math" panose="02040503050406030204" pitchFamily="18" charset="0"/>
                              <a:ea typeface="Calibri" panose="020F0502020204030204" pitchFamily="34" charset="0"/>
                            </a:rPr>
                            <m:t>𝜆</m:t>
                          </m:r>
                        </m:e>
                      </m:d>
                      <m:r>
                        <a:rPr lang="en-US" sz="2000" i="1">
                          <a:effectLst/>
                          <a:latin typeface="Cambria Math" panose="02040503050406030204" pitchFamily="18" charset="0"/>
                          <a:ea typeface="Calibri" panose="020F0502020204030204" pitchFamily="34" charset="0"/>
                        </a:rPr>
                        <m:t>=</m:t>
                      </m:r>
                      <m:r>
                        <a:rPr lang="en-US" sz="2000" i="1">
                          <a:effectLst/>
                          <a:latin typeface="Cambria Math" panose="02040503050406030204" pitchFamily="18" charset="0"/>
                          <a:ea typeface="Calibri" panose="020F0502020204030204" pitchFamily="34" charset="0"/>
                        </a:rPr>
                        <m:t>𝑙</m:t>
                      </m:r>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𝛼</m:t>
                          </m:r>
                        </m:e>
                      </m:d>
                      <m:r>
                        <a:rPr lang="en-US" sz="2000" i="1">
                          <a:effectLst/>
                          <a:latin typeface="Cambria Math" panose="02040503050406030204" pitchFamily="18" charset="0"/>
                          <a:ea typeface="Calibri" panose="020F0502020204030204" pitchFamily="34" charset="0"/>
                        </a:rPr>
                        <m:t>+</m:t>
                      </m:r>
                      <m:nary>
                        <m:naryPr>
                          <m:chr m:val="∑"/>
                          <m:limLoc m:val="undOvr"/>
                          <m:ctrlPr>
                            <a:rPr lang="en-US" sz="2000" i="1">
                              <a:effectLst/>
                              <a:latin typeface="Cambria Math" panose="02040503050406030204" pitchFamily="18" charset="0"/>
                              <a:ea typeface="Calibri" panose="020F0502020204030204" pitchFamily="34" charset="0"/>
                            </a:rPr>
                          </m:ctrlPr>
                        </m:naryPr>
                        <m:sub>
                          <m:r>
                            <a:rPr lang="en-US" sz="2000" i="1">
                              <a:effectLst/>
                              <a:latin typeface="Cambria Math" panose="02040503050406030204" pitchFamily="18" charset="0"/>
                              <a:ea typeface="Calibri" panose="020F0502020204030204" pitchFamily="34" charset="0"/>
                            </a:rPr>
                            <m:t>𝑠</m:t>
                          </m:r>
                          <m:r>
                            <a:rPr lang="en-US" sz="2000" i="1">
                              <a:effectLst/>
                              <a:latin typeface="Cambria Math" panose="02040503050406030204" pitchFamily="18" charset="0"/>
                              <a:ea typeface="Calibri" panose="020F0502020204030204" pitchFamily="34" charset="0"/>
                            </a:rPr>
                            <m:t>=1</m:t>
                          </m:r>
                        </m:sub>
                        <m:sup>
                          <m:d>
                            <m:dPr>
                              <m:begChr m:val="|"/>
                              <m:endChr m:val="|"/>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𝑆</m:t>
                              </m:r>
                            </m:e>
                          </m:d>
                        </m:sup>
                        <m:e>
                          <m:nary>
                            <m:naryPr>
                              <m:chr m:val="∑"/>
                              <m:limLoc m:val="undOvr"/>
                              <m:ctrlPr>
                                <a:rPr lang="en-US" sz="2000" i="1">
                                  <a:effectLst/>
                                  <a:latin typeface="Cambria Math" panose="02040503050406030204" pitchFamily="18" charset="0"/>
                                  <a:ea typeface="Calibri" panose="020F0502020204030204" pitchFamily="34" charset="0"/>
                                </a:rPr>
                              </m:ctrlPr>
                            </m:naryPr>
                            <m:sub>
                              <m:r>
                                <a:rPr lang="en-US" sz="2000" i="1">
                                  <a:effectLst/>
                                  <a:latin typeface="Cambria Math" panose="02040503050406030204" pitchFamily="18" charset="0"/>
                                  <a:ea typeface="Calibri" panose="020F0502020204030204" pitchFamily="34" charset="0"/>
                                </a:rPr>
                                <m:t>𝑔</m:t>
                              </m:r>
                              <m:r>
                                <a:rPr lang="en-US" sz="2000" i="1">
                                  <a:effectLst/>
                                  <a:latin typeface="Cambria Math" panose="02040503050406030204" pitchFamily="18" charset="0"/>
                                  <a:ea typeface="Calibri" panose="020F0502020204030204" pitchFamily="34" charset="0"/>
                                </a:rPr>
                                <m:t>=1</m:t>
                              </m:r>
                            </m:sub>
                            <m:sup>
                              <m:r>
                                <a:rPr lang="en-US" sz="2000" i="1">
                                  <a:effectLst/>
                                  <a:latin typeface="Cambria Math" panose="02040503050406030204" pitchFamily="18" charset="0"/>
                                  <a:ea typeface="Calibri" panose="020F0502020204030204" pitchFamily="34" charset="0"/>
                                </a:rPr>
                                <m:t>𝐺</m:t>
                              </m:r>
                            </m:sup>
                            <m:e>
                              <m:nary>
                                <m:naryPr>
                                  <m:chr m:val="∑"/>
                                  <m:limLoc m:val="undOvr"/>
                                  <m:ctrlPr>
                                    <a:rPr lang="en-US" sz="2000" i="1">
                                      <a:effectLst/>
                                      <a:latin typeface="Cambria Math" panose="02040503050406030204" pitchFamily="18" charset="0"/>
                                      <a:ea typeface="Calibri" panose="020F0502020204030204" pitchFamily="34" charset="0"/>
                                    </a:rPr>
                                  </m:ctrlPr>
                                </m:naryPr>
                                <m:sub>
                                  <m:r>
                                    <a:rPr lang="en-US" sz="2000" i="1">
                                      <a:effectLst/>
                                      <a:latin typeface="Cambria Math" panose="02040503050406030204" pitchFamily="18" charset="0"/>
                                      <a:ea typeface="Calibri" panose="020F0502020204030204" pitchFamily="34" charset="0"/>
                                    </a:rPr>
                                    <m:t>𝑖</m:t>
                                  </m:r>
                                  <m:r>
                                    <a:rPr lang="en-US" sz="2000" i="1">
                                      <a:effectLst/>
                                      <a:latin typeface="Cambria Math" panose="02040503050406030204" pitchFamily="18" charset="0"/>
                                      <a:ea typeface="Calibri" panose="020F0502020204030204" pitchFamily="34" charset="0"/>
                                    </a:rPr>
                                    <m:t>=1,</m:t>
                                  </m:r>
                                  <m:sSubSup>
                                    <m:sSubSupPr>
                                      <m:ctrlPr>
                                        <a:rPr lang="en-US" sz="2000" i="1">
                                          <a:effectLst/>
                                          <a:latin typeface="Cambria Math" panose="02040503050406030204" pitchFamily="18" charset="0"/>
                                          <a:ea typeface="Calibri" panose="020F0502020204030204" pitchFamily="34" charset="0"/>
                                        </a:rPr>
                                      </m:ctrlPr>
                                    </m:sSubSupPr>
                                    <m:e>
                                      <m:r>
                                        <a:rPr lang="en-US" sz="2000" i="1">
                                          <a:effectLst/>
                                          <a:latin typeface="Cambria Math" panose="02040503050406030204" pitchFamily="18" charset="0"/>
                                          <a:ea typeface="Calibri" panose="020F0502020204030204" pitchFamily="34" charset="0"/>
                                        </a:rPr>
                                        <m:t>𝑦</m:t>
                                      </m:r>
                                    </m:e>
                                    <m:sub>
                                      <m:r>
                                        <a:rPr lang="en-US" sz="2000" i="1">
                                          <a:effectLst/>
                                          <a:latin typeface="Cambria Math" panose="02040503050406030204" pitchFamily="18" charset="0"/>
                                          <a:ea typeface="Calibri" panose="020F0502020204030204" pitchFamily="34" charset="0"/>
                                        </a:rPr>
                                        <m:t>𝑠</m:t>
                                      </m:r>
                                    </m:sub>
                                    <m:sup>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𝑖</m:t>
                                          </m:r>
                                        </m:e>
                                      </m:d>
                                    </m:sup>
                                  </m:sSubSup>
                                  <m:r>
                                    <a:rPr lang="en-US" sz="2000" i="1">
                                      <a:effectLst/>
                                      <a:latin typeface="Cambria Math" panose="02040503050406030204" pitchFamily="18" charset="0"/>
                                      <a:ea typeface="Calibri" panose="020F0502020204030204" pitchFamily="34" charset="0"/>
                                    </a:rPr>
                                    <m:t>=</m:t>
                                  </m:r>
                                  <m:sSub>
                                    <m:sSubPr>
                                      <m:ctrlPr>
                                        <a:rPr lang="en-US" sz="2000" i="1">
                                          <a:effectLst/>
                                          <a:latin typeface="Cambria Math" panose="02040503050406030204" pitchFamily="18" charset="0"/>
                                          <a:ea typeface="Calibri" panose="020F0502020204030204" pitchFamily="34" charset="0"/>
                                        </a:rPr>
                                      </m:ctrlPr>
                                    </m:sSubPr>
                                    <m:e>
                                      <m:r>
                                        <a:rPr lang="en-US" sz="2000" i="1">
                                          <a:effectLst/>
                                          <a:latin typeface="Cambria Math" panose="02040503050406030204" pitchFamily="18" charset="0"/>
                                          <a:ea typeface="Calibri" panose="020F0502020204030204" pitchFamily="34" charset="0"/>
                                        </a:rPr>
                                        <m:t>𝑣</m:t>
                                      </m:r>
                                    </m:e>
                                    <m:sub>
                                      <m:r>
                                        <a:rPr lang="en-US" sz="2000" i="1">
                                          <a:effectLst/>
                                          <a:latin typeface="Cambria Math" panose="02040503050406030204" pitchFamily="18" charset="0"/>
                                          <a:ea typeface="Calibri" panose="020F0502020204030204" pitchFamily="34" charset="0"/>
                                        </a:rPr>
                                        <m:t>𝑔</m:t>
                                      </m:r>
                                    </m:sub>
                                  </m:sSub>
                                </m:sub>
                                <m:sup>
                                  <m:sSub>
                                    <m:sSubPr>
                                      <m:ctrlPr>
                                        <a:rPr lang="en-US" sz="2000" i="1">
                                          <a:effectLst/>
                                          <a:latin typeface="Cambria Math" panose="02040503050406030204" pitchFamily="18" charset="0"/>
                                          <a:ea typeface="Calibri" panose="020F0502020204030204" pitchFamily="34" charset="0"/>
                                        </a:rPr>
                                      </m:ctrlPr>
                                    </m:sSubPr>
                                    <m:e>
                                      <m:r>
                                        <a:rPr lang="en-US" sz="2000" i="1">
                                          <a:effectLst/>
                                          <a:latin typeface="Cambria Math" panose="02040503050406030204" pitchFamily="18" charset="0"/>
                                          <a:ea typeface="Calibri" panose="020F0502020204030204" pitchFamily="34" charset="0"/>
                                        </a:rPr>
                                        <m:t>𝑁</m:t>
                                      </m:r>
                                    </m:e>
                                    <m:sub>
                                      <m:r>
                                        <a:rPr lang="en-US" sz="2000" i="1">
                                          <a:effectLst/>
                                          <a:latin typeface="Cambria Math" panose="02040503050406030204" pitchFamily="18" charset="0"/>
                                          <a:ea typeface="Calibri" panose="020F0502020204030204" pitchFamily="34" charset="0"/>
                                        </a:rPr>
                                        <m:t>𝑠</m:t>
                                      </m:r>
                                    </m:sub>
                                  </m:sSub>
                                </m:sup>
                                <m:e>
                                  <m:sSubSup>
                                    <m:sSubSupPr>
                                      <m:ctrlPr>
                                        <a:rPr lang="en-US" sz="2000" i="1">
                                          <a:effectLst/>
                                          <a:latin typeface="Cambria Math" panose="02040503050406030204" pitchFamily="18" charset="0"/>
                                          <a:ea typeface="Calibri" panose="020F0502020204030204" pitchFamily="34" charset="0"/>
                                        </a:rPr>
                                      </m:ctrlPr>
                                    </m:sSubSupPr>
                                    <m:e>
                                      <m:r>
                                        <a:rPr lang="en-US" sz="2000" i="1">
                                          <a:effectLst/>
                                          <a:latin typeface="Cambria Math" panose="02040503050406030204" pitchFamily="18" charset="0"/>
                                          <a:ea typeface="Calibri" panose="020F0502020204030204" pitchFamily="34" charset="0"/>
                                        </a:rPr>
                                        <m:t>𝜆</m:t>
                                      </m:r>
                                    </m:e>
                                    <m:sub>
                                      <m:r>
                                        <a:rPr lang="en-US" sz="2000" i="1">
                                          <a:effectLst/>
                                          <a:latin typeface="Cambria Math" panose="02040503050406030204" pitchFamily="18" charset="0"/>
                                          <a:ea typeface="Calibri" panose="020F0502020204030204" pitchFamily="34" charset="0"/>
                                        </a:rPr>
                                        <m:t>𝑖</m:t>
                                      </m:r>
                                    </m:sub>
                                    <m:sup>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𝑠𝑔</m:t>
                                          </m:r>
                                        </m:e>
                                      </m:d>
                                    </m:sup>
                                  </m:sSubSup>
                                  <m:r>
                                    <m:rPr>
                                      <m:sty m:val="p"/>
                                    </m:rPr>
                                    <a:rPr lang="en-US" sz="2000">
                                      <a:effectLst/>
                                      <a:latin typeface="Cambria Math" panose="02040503050406030204" pitchFamily="18" charset="0"/>
                                      <a:ea typeface="Calibri" panose="020F0502020204030204" pitchFamily="34" charset="0"/>
                                    </a:rPr>
                                    <m:t>log</m:t>
                                  </m:r>
                                  <m:d>
                                    <m:dPr>
                                      <m:ctrlPr>
                                        <a:rPr lang="en-US" sz="2000" i="1">
                                          <a:effectLst/>
                                          <a:latin typeface="Cambria Math" panose="02040503050406030204" pitchFamily="18" charset="0"/>
                                          <a:ea typeface="Calibri" panose="020F0502020204030204" pitchFamily="34" charset="0"/>
                                        </a:rPr>
                                      </m:ctrlPr>
                                    </m:dPr>
                                    <m:e>
                                      <m:sSubSup>
                                        <m:sSubSupPr>
                                          <m:ctrlPr>
                                            <a:rPr lang="en-US" sz="2000" i="1">
                                              <a:effectLst/>
                                              <a:latin typeface="Cambria Math" panose="02040503050406030204" pitchFamily="18" charset="0"/>
                                              <a:ea typeface="Calibri" panose="020F0502020204030204" pitchFamily="34" charset="0"/>
                                            </a:rPr>
                                          </m:ctrlPr>
                                        </m:sSubSupPr>
                                        <m:e>
                                          <m:r>
                                            <a:rPr lang="en-US" sz="2000" i="1">
                                              <a:effectLst/>
                                              <a:latin typeface="Cambria Math" panose="02040503050406030204" pitchFamily="18" charset="0"/>
                                              <a:ea typeface="Calibri" panose="020F0502020204030204" pitchFamily="34" charset="0"/>
                                            </a:rPr>
                                            <m:t>𝑝</m:t>
                                          </m:r>
                                        </m:e>
                                        <m:sub>
                                          <m:r>
                                            <a:rPr lang="en-US" sz="2000" i="1">
                                              <a:effectLst/>
                                              <a:latin typeface="Cambria Math" panose="02040503050406030204" pitchFamily="18" charset="0"/>
                                              <a:ea typeface="Calibri" panose="020F0502020204030204" pitchFamily="34" charset="0"/>
                                            </a:rPr>
                                            <m:t>𝑠𝑔</m:t>
                                          </m:r>
                                        </m:sub>
                                        <m:sup>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𝑖</m:t>
                                              </m:r>
                                            </m:e>
                                          </m:d>
                                        </m:sup>
                                      </m:sSubSup>
                                    </m:e>
                                  </m:d>
                                </m:e>
                              </m:nary>
                            </m:e>
                          </m:nary>
                        </m:e>
                      </m:nary>
                    </m:oMath>
                  </m:oMathPara>
                </a14:m>
                <a:endParaRPr lang="en-US" sz="2000" dirty="0">
                  <a:effectLst/>
                  <a:ea typeface="Calibri" panose="020F0502020204030204" pitchFamily="34" charset="0"/>
                </a:endParaRPr>
              </a:p>
              <a:p>
                <a:pPr marL="0" marR="0" indent="0" algn="just">
                  <a:spcBef>
                    <a:spcPts val="0"/>
                  </a:spcBef>
                  <a:spcAft>
                    <a:spcPts val="0"/>
                  </a:spcAft>
                  <a:buNone/>
                </a:pPr>
                <a:r>
                  <a:rPr lang="en-US" sz="2000" dirty="0">
                    <a:effectLst/>
                    <a:ea typeface="Calibri" panose="020F0502020204030204" pitchFamily="34" charset="0"/>
                  </a:rPr>
                  <a:t>Where </a:t>
                </a:r>
                <a:r>
                  <a:rPr lang="en-US" sz="2000" i="1" dirty="0" err="1">
                    <a:effectLst/>
                    <a:ea typeface="Calibri" panose="020F0502020204030204" pitchFamily="34" charset="0"/>
                  </a:rPr>
                  <a:t>λ</a:t>
                </a:r>
                <a:r>
                  <a:rPr lang="en-US" sz="2000" i="1" baseline="-25000" dirty="0" err="1">
                    <a:effectLst/>
                    <a:ea typeface="Calibri" panose="020F0502020204030204" pitchFamily="34" charset="0"/>
                  </a:rPr>
                  <a:t>i</a:t>
                </a:r>
                <a:r>
                  <a:rPr lang="en-US" sz="2000" dirty="0">
                    <a:effectLst/>
                    <a:ea typeface="Calibri" panose="020F0502020204030204" pitchFamily="34" charset="0"/>
                  </a:rPr>
                  <a:t> are Lagrange multipliers such that </a:t>
                </a:r>
                <a:r>
                  <a:rPr lang="en-US" sz="2000" i="1" dirty="0" err="1">
                    <a:effectLst/>
                    <a:ea typeface="Calibri" panose="020F0502020204030204" pitchFamily="34" charset="0"/>
                  </a:rPr>
                  <a:t>λ</a:t>
                </a:r>
                <a:r>
                  <a:rPr lang="en-US" sz="2000" i="1" baseline="-25000" dirty="0" err="1">
                    <a:effectLst/>
                    <a:ea typeface="Calibri" panose="020F0502020204030204" pitchFamily="34" charset="0"/>
                  </a:rPr>
                  <a:t>i</a:t>
                </a:r>
                <a:r>
                  <a:rPr lang="en-US" sz="2000" dirty="0">
                    <a:effectLst/>
                    <a:ea typeface="Calibri" panose="020F0502020204030204" pitchFamily="34" charset="0"/>
                  </a:rPr>
                  <a:t> ≥ 0 with note that each </a:t>
                </a:r>
                <a:r>
                  <a:rPr lang="en-US" sz="2000" i="1" dirty="0" err="1">
                    <a:effectLst/>
                    <a:ea typeface="Calibri" panose="020F0502020204030204" pitchFamily="34" charset="0"/>
                  </a:rPr>
                  <a:t>λ</a:t>
                </a:r>
                <a:r>
                  <a:rPr lang="en-US" sz="2000" i="1" baseline="-25000" dirty="0" err="1">
                    <a:effectLst/>
                    <a:ea typeface="Calibri" panose="020F0502020204030204" pitchFamily="34" charset="0"/>
                  </a:rPr>
                  <a:t>i</a:t>
                </a:r>
                <a:r>
                  <a:rPr lang="en-US" sz="2000" baseline="30000" dirty="0">
                    <a:effectLst/>
                    <a:ea typeface="Calibri" panose="020F0502020204030204" pitchFamily="34" charset="0"/>
                  </a:rPr>
                  <a:t>(</a:t>
                </a:r>
                <a:r>
                  <a:rPr lang="en-US" sz="2000" i="1" baseline="30000" dirty="0">
                    <a:effectLst/>
                    <a:ea typeface="Calibri" panose="020F0502020204030204" pitchFamily="34" charset="0"/>
                  </a:rPr>
                  <a:t>sg</a:t>
                </a:r>
                <a:r>
                  <a:rPr lang="en-US" sz="2000" baseline="30000" dirty="0">
                    <a:effectLst/>
                    <a:ea typeface="Calibri" panose="020F0502020204030204" pitchFamily="34" charset="0"/>
                  </a:rPr>
                  <a:t>)</a:t>
                </a:r>
                <a:r>
                  <a:rPr lang="en-US" sz="2000" dirty="0">
                    <a:effectLst/>
                    <a:ea typeface="Calibri" panose="020F0502020204030204" pitchFamily="34" charset="0"/>
                  </a:rPr>
                  <a:t> implies </a:t>
                </a:r>
                <a:r>
                  <a:rPr lang="en-US" sz="2000" i="1" dirty="0" err="1">
                    <a:effectLst/>
                    <a:ea typeface="Calibri" panose="020F0502020204030204" pitchFamily="34" charset="0"/>
                  </a:rPr>
                  <a:t>λ</a:t>
                </a:r>
                <a:r>
                  <a:rPr lang="en-US" sz="2000" i="1" baseline="-25000" dirty="0" err="1">
                    <a:effectLst/>
                    <a:ea typeface="Calibri" panose="020F0502020204030204" pitchFamily="34" charset="0"/>
                  </a:rPr>
                  <a:t>i</a:t>
                </a:r>
                <a:r>
                  <a:rPr lang="en-US" sz="2000" dirty="0">
                    <a:effectLst/>
                    <a:ea typeface="Calibri" panose="020F0502020204030204" pitchFamily="34" charset="0"/>
                  </a:rPr>
                  <a:t> at site </a:t>
                </a:r>
                <a:r>
                  <a:rPr lang="en-US" sz="2000" i="1" dirty="0">
                    <a:effectLst/>
                    <a:ea typeface="Calibri" panose="020F0502020204030204" pitchFamily="34" charset="0"/>
                  </a:rPr>
                  <a:t>s</a:t>
                </a:r>
                <a:r>
                  <a:rPr lang="en-US" sz="2000" dirty="0">
                    <a:effectLst/>
                    <a:ea typeface="Calibri" panose="020F0502020204030204" pitchFamily="34" charset="0"/>
                  </a:rPr>
                  <a:t> given value </a:t>
                </a:r>
                <a:r>
                  <a:rPr lang="en-US" sz="2000" i="1" dirty="0">
                    <a:effectLst/>
                    <a:ea typeface="Calibri" panose="020F0502020204030204" pitchFamily="34" charset="0"/>
                  </a:rPr>
                  <a:t>v</a:t>
                </a:r>
                <a:r>
                  <a:rPr lang="en-US" sz="2000" i="1" baseline="-25000" dirty="0">
                    <a:effectLst/>
                    <a:ea typeface="Calibri" panose="020F0502020204030204" pitchFamily="34" charset="0"/>
                  </a:rPr>
                  <a:t>g</a:t>
                </a:r>
                <a:r>
                  <a:rPr lang="en-US" sz="2000" dirty="0">
                    <a:effectLst/>
                    <a:ea typeface="Calibri" panose="020F0502020204030204" pitchFamily="34" charset="0"/>
                  </a:rPr>
                  <a:t>. Because logarithm is concave function, we apply Jessen inequation to approximate the Lagrange function as follows:</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Calibri" panose="020F0502020204030204" pitchFamily="34" charset="0"/>
                            </a:rPr>
                          </m:ctrlPr>
                        </m:sSubPr>
                        <m:e>
                          <m:r>
                            <a:rPr lang="en-US" sz="2000" i="1">
                              <a:effectLst/>
                              <a:latin typeface="Cambria Math" panose="02040503050406030204" pitchFamily="18" charset="0"/>
                              <a:ea typeface="Calibri" panose="020F0502020204030204" pitchFamily="34" charset="0"/>
                            </a:rPr>
                            <m:t>𝐿</m:t>
                          </m:r>
                        </m:e>
                        <m:sub>
                          <m:r>
                            <a:rPr lang="en-US" sz="2000" i="1">
                              <a:effectLst/>
                              <a:latin typeface="Cambria Math" panose="02040503050406030204" pitchFamily="18" charset="0"/>
                              <a:ea typeface="Calibri" panose="020F0502020204030204" pitchFamily="34" charset="0"/>
                            </a:rPr>
                            <m:t>0</m:t>
                          </m:r>
                        </m:sub>
                      </m:sSub>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𝛼</m:t>
                          </m:r>
                          <m:r>
                            <a:rPr lang="en-US" sz="2000" i="1">
                              <a:effectLst/>
                              <a:latin typeface="Cambria Math" panose="02040503050406030204" pitchFamily="18" charset="0"/>
                              <a:ea typeface="Calibri" panose="020F0502020204030204" pitchFamily="34" charset="0"/>
                            </a:rPr>
                            <m:t>,</m:t>
                          </m:r>
                          <m:r>
                            <a:rPr lang="en-US" sz="2000" i="1">
                              <a:effectLst/>
                              <a:latin typeface="Cambria Math" panose="02040503050406030204" pitchFamily="18" charset="0"/>
                              <a:ea typeface="Calibri" panose="020F0502020204030204" pitchFamily="34" charset="0"/>
                            </a:rPr>
                            <m:t>𝜆</m:t>
                          </m:r>
                        </m:e>
                      </m:d>
                      <m:r>
                        <a:rPr lang="en-US" sz="2000" i="1">
                          <a:effectLst/>
                          <a:latin typeface="Cambria Math" panose="02040503050406030204" pitchFamily="18" charset="0"/>
                          <a:ea typeface="Calibri" panose="020F0502020204030204" pitchFamily="34" charset="0"/>
                        </a:rPr>
                        <m:t>≤</m:t>
                      </m:r>
                      <m:r>
                        <a:rPr lang="en-US" sz="2000" i="1">
                          <a:effectLst/>
                          <a:latin typeface="Cambria Math" panose="02040503050406030204" pitchFamily="18" charset="0"/>
                          <a:ea typeface="Calibri" panose="020F0502020204030204" pitchFamily="34" charset="0"/>
                        </a:rPr>
                        <m:t>𝐿</m:t>
                      </m:r>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𝛼</m:t>
                          </m:r>
                          <m:r>
                            <a:rPr lang="en-US" sz="2000" i="1">
                              <a:effectLst/>
                              <a:latin typeface="Cambria Math" panose="02040503050406030204" pitchFamily="18" charset="0"/>
                              <a:ea typeface="Calibri" panose="020F0502020204030204" pitchFamily="34" charset="0"/>
                            </a:rPr>
                            <m:t>,</m:t>
                          </m:r>
                          <m:r>
                            <a:rPr lang="en-US" sz="2000" i="1">
                              <a:effectLst/>
                              <a:latin typeface="Cambria Math" panose="02040503050406030204" pitchFamily="18" charset="0"/>
                              <a:ea typeface="Calibri" panose="020F0502020204030204" pitchFamily="34" charset="0"/>
                            </a:rPr>
                            <m:t>𝜆</m:t>
                          </m:r>
                        </m:e>
                      </m:d>
                      <m:r>
                        <a:rPr lang="en-US" sz="2000" i="1">
                          <a:effectLst/>
                          <a:latin typeface="Cambria Math" panose="02040503050406030204" pitchFamily="18" charset="0"/>
                          <a:ea typeface="Calibri" panose="020F0502020204030204" pitchFamily="34" charset="0"/>
                        </a:rPr>
                        <m:t>=</m:t>
                      </m:r>
                      <m:r>
                        <a:rPr lang="en-US" sz="2000" i="1">
                          <a:effectLst/>
                          <a:latin typeface="Cambria Math" panose="02040503050406030204" pitchFamily="18" charset="0"/>
                          <a:ea typeface="Calibri" panose="020F0502020204030204" pitchFamily="34" charset="0"/>
                        </a:rPr>
                        <m:t>𝑙</m:t>
                      </m:r>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𝛼</m:t>
                          </m:r>
                        </m:e>
                      </m:d>
                      <m:r>
                        <a:rPr lang="en-US" sz="2000" i="1">
                          <a:effectLst/>
                          <a:latin typeface="Cambria Math" panose="02040503050406030204" pitchFamily="18" charset="0"/>
                          <a:ea typeface="Calibri" panose="020F0502020204030204" pitchFamily="34" charset="0"/>
                        </a:rPr>
                        <m:t>+</m:t>
                      </m:r>
                      <m:nary>
                        <m:naryPr>
                          <m:chr m:val="∑"/>
                          <m:limLoc m:val="undOvr"/>
                          <m:ctrlPr>
                            <a:rPr lang="en-US" sz="2000" i="1">
                              <a:effectLst/>
                              <a:latin typeface="Cambria Math" panose="02040503050406030204" pitchFamily="18" charset="0"/>
                              <a:ea typeface="Calibri" panose="020F0502020204030204" pitchFamily="34" charset="0"/>
                            </a:rPr>
                          </m:ctrlPr>
                        </m:naryPr>
                        <m:sub>
                          <m:r>
                            <a:rPr lang="en-US" sz="2000" i="1">
                              <a:effectLst/>
                              <a:latin typeface="Cambria Math" panose="02040503050406030204" pitchFamily="18" charset="0"/>
                              <a:ea typeface="Calibri" panose="020F0502020204030204" pitchFamily="34" charset="0"/>
                            </a:rPr>
                            <m:t>𝑠</m:t>
                          </m:r>
                          <m:r>
                            <a:rPr lang="en-US" sz="2000" i="1">
                              <a:effectLst/>
                              <a:latin typeface="Cambria Math" panose="02040503050406030204" pitchFamily="18" charset="0"/>
                              <a:ea typeface="Calibri" panose="020F0502020204030204" pitchFamily="34" charset="0"/>
                            </a:rPr>
                            <m:t>=1</m:t>
                          </m:r>
                        </m:sub>
                        <m:sup>
                          <m:d>
                            <m:dPr>
                              <m:begChr m:val="|"/>
                              <m:endChr m:val="|"/>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𝑆</m:t>
                              </m:r>
                            </m:e>
                          </m:d>
                        </m:sup>
                        <m:e>
                          <m:nary>
                            <m:naryPr>
                              <m:chr m:val="∑"/>
                              <m:limLoc m:val="undOvr"/>
                              <m:ctrlPr>
                                <a:rPr lang="en-US" sz="2000" i="1">
                                  <a:effectLst/>
                                  <a:latin typeface="Cambria Math" panose="02040503050406030204" pitchFamily="18" charset="0"/>
                                  <a:ea typeface="Calibri" panose="020F0502020204030204" pitchFamily="34" charset="0"/>
                                </a:rPr>
                              </m:ctrlPr>
                            </m:naryPr>
                            <m:sub>
                              <m:r>
                                <a:rPr lang="en-US" sz="2000" i="1">
                                  <a:effectLst/>
                                  <a:latin typeface="Cambria Math" panose="02040503050406030204" pitchFamily="18" charset="0"/>
                                  <a:ea typeface="Calibri" panose="020F0502020204030204" pitchFamily="34" charset="0"/>
                                </a:rPr>
                                <m:t>𝑔</m:t>
                              </m:r>
                              <m:r>
                                <a:rPr lang="en-US" sz="2000" i="1">
                                  <a:effectLst/>
                                  <a:latin typeface="Cambria Math" panose="02040503050406030204" pitchFamily="18" charset="0"/>
                                  <a:ea typeface="Calibri" panose="020F0502020204030204" pitchFamily="34" charset="0"/>
                                </a:rPr>
                                <m:t>=1</m:t>
                              </m:r>
                            </m:sub>
                            <m:sup>
                              <m:r>
                                <a:rPr lang="en-US" sz="2000" i="1">
                                  <a:effectLst/>
                                  <a:latin typeface="Cambria Math" panose="02040503050406030204" pitchFamily="18" charset="0"/>
                                  <a:ea typeface="Calibri" panose="020F0502020204030204" pitchFamily="34" charset="0"/>
                                </a:rPr>
                                <m:t>𝐺</m:t>
                              </m:r>
                            </m:sup>
                            <m:e>
                              <m:nary>
                                <m:naryPr>
                                  <m:chr m:val="∑"/>
                                  <m:limLoc m:val="undOvr"/>
                                  <m:ctrlPr>
                                    <a:rPr lang="en-US" sz="2000" i="1">
                                      <a:effectLst/>
                                      <a:latin typeface="Cambria Math" panose="02040503050406030204" pitchFamily="18" charset="0"/>
                                      <a:ea typeface="Calibri" panose="020F0502020204030204" pitchFamily="34" charset="0"/>
                                    </a:rPr>
                                  </m:ctrlPr>
                                </m:naryPr>
                                <m:sub>
                                  <m:r>
                                    <a:rPr lang="en-US" sz="2000" i="1">
                                      <a:effectLst/>
                                      <a:latin typeface="Cambria Math" panose="02040503050406030204" pitchFamily="18" charset="0"/>
                                      <a:ea typeface="Calibri" panose="020F0502020204030204" pitchFamily="34" charset="0"/>
                                    </a:rPr>
                                    <m:t>𝑖</m:t>
                                  </m:r>
                                  <m:r>
                                    <a:rPr lang="en-US" sz="2000" i="1">
                                      <a:effectLst/>
                                      <a:latin typeface="Cambria Math" panose="02040503050406030204" pitchFamily="18" charset="0"/>
                                      <a:ea typeface="Calibri" panose="020F0502020204030204" pitchFamily="34" charset="0"/>
                                    </a:rPr>
                                    <m:t>=1,</m:t>
                                  </m:r>
                                  <m:sSubSup>
                                    <m:sSubSupPr>
                                      <m:ctrlPr>
                                        <a:rPr lang="en-US" sz="2000" i="1">
                                          <a:effectLst/>
                                          <a:latin typeface="Cambria Math" panose="02040503050406030204" pitchFamily="18" charset="0"/>
                                          <a:ea typeface="Calibri" panose="020F0502020204030204" pitchFamily="34" charset="0"/>
                                        </a:rPr>
                                      </m:ctrlPr>
                                    </m:sSubSupPr>
                                    <m:e>
                                      <m:r>
                                        <a:rPr lang="en-US" sz="2000" i="1">
                                          <a:effectLst/>
                                          <a:latin typeface="Cambria Math" panose="02040503050406030204" pitchFamily="18" charset="0"/>
                                          <a:ea typeface="Calibri" panose="020F0502020204030204" pitchFamily="34" charset="0"/>
                                        </a:rPr>
                                        <m:t>𝑦</m:t>
                                      </m:r>
                                    </m:e>
                                    <m:sub>
                                      <m:r>
                                        <a:rPr lang="en-US" sz="2000" i="1">
                                          <a:effectLst/>
                                          <a:latin typeface="Cambria Math" panose="02040503050406030204" pitchFamily="18" charset="0"/>
                                          <a:ea typeface="Calibri" panose="020F0502020204030204" pitchFamily="34" charset="0"/>
                                        </a:rPr>
                                        <m:t>𝑠</m:t>
                                      </m:r>
                                    </m:sub>
                                    <m:sup>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𝑖</m:t>
                                          </m:r>
                                        </m:e>
                                      </m:d>
                                    </m:sup>
                                  </m:sSubSup>
                                  <m:r>
                                    <a:rPr lang="en-US" sz="2000" i="1">
                                      <a:effectLst/>
                                      <a:latin typeface="Cambria Math" panose="02040503050406030204" pitchFamily="18" charset="0"/>
                                      <a:ea typeface="Calibri" panose="020F0502020204030204" pitchFamily="34" charset="0"/>
                                    </a:rPr>
                                    <m:t>=</m:t>
                                  </m:r>
                                  <m:sSub>
                                    <m:sSubPr>
                                      <m:ctrlPr>
                                        <a:rPr lang="en-US" sz="2000" i="1">
                                          <a:effectLst/>
                                          <a:latin typeface="Cambria Math" panose="02040503050406030204" pitchFamily="18" charset="0"/>
                                          <a:ea typeface="Calibri" panose="020F0502020204030204" pitchFamily="34" charset="0"/>
                                        </a:rPr>
                                      </m:ctrlPr>
                                    </m:sSubPr>
                                    <m:e>
                                      <m:r>
                                        <a:rPr lang="en-US" sz="2000" i="1">
                                          <a:effectLst/>
                                          <a:latin typeface="Cambria Math" panose="02040503050406030204" pitchFamily="18" charset="0"/>
                                          <a:ea typeface="Calibri" panose="020F0502020204030204" pitchFamily="34" charset="0"/>
                                        </a:rPr>
                                        <m:t>𝑣</m:t>
                                      </m:r>
                                    </m:e>
                                    <m:sub>
                                      <m:r>
                                        <a:rPr lang="en-US" sz="2000" i="1">
                                          <a:effectLst/>
                                          <a:latin typeface="Cambria Math" panose="02040503050406030204" pitchFamily="18" charset="0"/>
                                          <a:ea typeface="Calibri" panose="020F0502020204030204" pitchFamily="34" charset="0"/>
                                        </a:rPr>
                                        <m:t>𝑔</m:t>
                                      </m:r>
                                    </m:sub>
                                  </m:sSub>
                                </m:sub>
                                <m:sup>
                                  <m:sSub>
                                    <m:sSubPr>
                                      <m:ctrlPr>
                                        <a:rPr lang="en-US" sz="2000" i="1">
                                          <a:effectLst/>
                                          <a:latin typeface="Cambria Math" panose="02040503050406030204" pitchFamily="18" charset="0"/>
                                          <a:ea typeface="Calibri" panose="020F0502020204030204" pitchFamily="34" charset="0"/>
                                        </a:rPr>
                                      </m:ctrlPr>
                                    </m:sSubPr>
                                    <m:e>
                                      <m:r>
                                        <a:rPr lang="en-US" sz="2000" i="1">
                                          <a:effectLst/>
                                          <a:latin typeface="Cambria Math" panose="02040503050406030204" pitchFamily="18" charset="0"/>
                                          <a:ea typeface="Calibri" panose="020F0502020204030204" pitchFamily="34" charset="0"/>
                                        </a:rPr>
                                        <m:t>𝑁</m:t>
                                      </m:r>
                                    </m:e>
                                    <m:sub>
                                      <m:r>
                                        <a:rPr lang="en-US" sz="2000" i="1">
                                          <a:effectLst/>
                                          <a:latin typeface="Cambria Math" panose="02040503050406030204" pitchFamily="18" charset="0"/>
                                          <a:ea typeface="Calibri" panose="020F0502020204030204" pitchFamily="34" charset="0"/>
                                        </a:rPr>
                                        <m:t>𝑠</m:t>
                                      </m:r>
                                    </m:sub>
                                  </m:sSub>
                                </m:sup>
                                <m:e>
                                  <m:sSubSup>
                                    <m:sSubSupPr>
                                      <m:ctrlPr>
                                        <a:rPr lang="en-US" sz="2000" i="1">
                                          <a:effectLst/>
                                          <a:latin typeface="Cambria Math" panose="02040503050406030204" pitchFamily="18" charset="0"/>
                                          <a:ea typeface="Calibri" panose="020F0502020204030204" pitchFamily="34" charset="0"/>
                                        </a:rPr>
                                      </m:ctrlPr>
                                    </m:sSubSupPr>
                                    <m:e>
                                      <m:r>
                                        <a:rPr lang="en-US" sz="2000" i="1">
                                          <a:effectLst/>
                                          <a:latin typeface="Cambria Math" panose="02040503050406030204" pitchFamily="18" charset="0"/>
                                          <a:ea typeface="Calibri" panose="020F0502020204030204" pitchFamily="34" charset="0"/>
                                        </a:rPr>
                                        <m:t>𝜆</m:t>
                                      </m:r>
                                    </m:e>
                                    <m:sub>
                                      <m:r>
                                        <a:rPr lang="en-US" sz="2000" i="1">
                                          <a:effectLst/>
                                          <a:latin typeface="Cambria Math" panose="02040503050406030204" pitchFamily="18" charset="0"/>
                                          <a:ea typeface="Calibri" panose="020F0502020204030204" pitchFamily="34" charset="0"/>
                                        </a:rPr>
                                        <m:t>𝑖</m:t>
                                      </m:r>
                                    </m:sub>
                                    <m:sup>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𝑠𝑔</m:t>
                                          </m:r>
                                        </m:e>
                                      </m:d>
                                    </m:sup>
                                  </m:sSubSup>
                                  <m:r>
                                    <m:rPr>
                                      <m:sty m:val="p"/>
                                    </m:rPr>
                                    <a:rPr lang="en-US" sz="2000">
                                      <a:effectLst/>
                                      <a:latin typeface="Cambria Math" panose="02040503050406030204" pitchFamily="18" charset="0"/>
                                      <a:ea typeface="Calibri" panose="020F0502020204030204" pitchFamily="34" charset="0"/>
                                    </a:rPr>
                                    <m:t>log</m:t>
                                  </m:r>
                                  <m:d>
                                    <m:dPr>
                                      <m:ctrlPr>
                                        <a:rPr lang="en-US" sz="2000" i="1">
                                          <a:effectLst/>
                                          <a:latin typeface="Cambria Math" panose="02040503050406030204" pitchFamily="18" charset="0"/>
                                          <a:ea typeface="Calibri" panose="020F0502020204030204" pitchFamily="34" charset="0"/>
                                        </a:rPr>
                                      </m:ctrlPr>
                                    </m:dPr>
                                    <m:e>
                                      <m:sSubSup>
                                        <m:sSubSupPr>
                                          <m:ctrlPr>
                                            <a:rPr lang="en-US" sz="2000" i="1">
                                              <a:effectLst/>
                                              <a:latin typeface="Cambria Math" panose="02040503050406030204" pitchFamily="18" charset="0"/>
                                              <a:ea typeface="Calibri" panose="020F0502020204030204" pitchFamily="34" charset="0"/>
                                            </a:rPr>
                                          </m:ctrlPr>
                                        </m:sSubSupPr>
                                        <m:e>
                                          <m:r>
                                            <a:rPr lang="en-US" sz="2000" i="1">
                                              <a:effectLst/>
                                              <a:latin typeface="Cambria Math" panose="02040503050406030204" pitchFamily="18" charset="0"/>
                                              <a:ea typeface="Calibri" panose="020F0502020204030204" pitchFamily="34" charset="0"/>
                                            </a:rPr>
                                            <m:t>𝑝</m:t>
                                          </m:r>
                                        </m:e>
                                        <m:sub>
                                          <m:r>
                                            <a:rPr lang="en-US" sz="2000" i="1">
                                              <a:effectLst/>
                                              <a:latin typeface="Cambria Math" panose="02040503050406030204" pitchFamily="18" charset="0"/>
                                              <a:ea typeface="Calibri" panose="020F0502020204030204" pitchFamily="34" charset="0"/>
                                            </a:rPr>
                                            <m:t>𝑠𝑔</m:t>
                                          </m:r>
                                        </m:sub>
                                        <m:sup>
                                          <m:d>
                                            <m:dPr>
                                              <m:ctrlPr>
                                                <a:rPr lang="en-US" sz="2000" i="1">
                                                  <a:effectLst/>
                                                  <a:latin typeface="Cambria Math" panose="02040503050406030204" pitchFamily="18" charset="0"/>
                                                  <a:ea typeface="Calibri" panose="020F0502020204030204" pitchFamily="34" charset="0"/>
                                                </a:rPr>
                                              </m:ctrlPr>
                                            </m:dPr>
                                            <m:e>
                                              <m:r>
                                                <a:rPr lang="en-US" sz="2000" i="1">
                                                  <a:effectLst/>
                                                  <a:latin typeface="Cambria Math" panose="02040503050406030204" pitchFamily="18" charset="0"/>
                                                  <a:ea typeface="Calibri" panose="020F0502020204030204" pitchFamily="34" charset="0"/>
                                                </a:rPr>
                                                <m:t>𝑖</m:t>
                                              </m:r>
                                            </m:e>
                                          </m:d>
                                        </m:sup>
                                      </m:sSubSup>
                                    </m:e>
                                  </m:d>
                                </m:e>
                              </m:nary>
                            </m:e>
                          </m:nary>
                        </m:e>
                      </m:nary>
                    </m:oMath>
                  </m:oMathPara>
                </a14:m>
                <a:endParaRPr lang="en-US" sz="2000" dirty="0">
                  <a:effectLst/>
                  <a:ea typeface="Calibri" panose="020F0502020204030204" pitchFamily="34" charset="0"/>
                </a:endParaRPr>
              </a:p>
              <a:p>
                <a:pPr marL="0" marR="0" indent="0" algn="just">
                  <a:spcBef>
                    <a:spcPts val="0"/>
                  </a:spcBef>
                  <a:spcAft>
                    <a:spcPts val="0"/>
                  </a:spcAft>
                  <a:buNone/>
                </a:pPr>
                <a:r>
                  <a:rPr lang="en-US" sz="2000" dirty="0">
                    <a:effectLst/>
                    <a:ea typeface="Calibri" panose="020F0502020204030204" pitchFamily="34" charset="0"/>
                  </a:rPr>
                  <a:t>We now focus on maximizing </a:t>
                </a:r>
                <a:r>
                  <a:rPr lang="en-US" sz="2000" i="1" dirty="0">
                    <a:effectLst/>
                    <a:ea typeface="Calibri" panose="020F0502020204030204" pitchFamily="34" charset="0"/>
                  </a:rPr>
                  <a:t>L</a:t>
                </a:r>
                <a:r>
                  <a:rPr lang="en-US" sz="2000" dirty="0">
                    <a:effectLst/>
                    <a:ea typeface="Calibri" panose="020F0502020204030204" pitchFamily="34" charset="0"/>
                  </a:rPr>
                  <a:t>(</a:t>
                </a:r>
                <a:r>
                  <a:rPr lang="en-US" sz="2000" i="1" dirty="0">
                    <a:effectLst/>
                    <a:ea typeface="Calibri" panose="020F0502020204030204" pitchFamily="34" charset="0"/>
                  </a:rPr>
                  <a:t>α</a:t>
                </a:r>
                <a:r>
                  <a:rPr lang="en-US" sz="2000" dirty="0">
                    <a:effectLst/>
                    <a:ea typeface="Calibri" panose="020F0502020204030204" pitchFamily="34" charset="0"/>
                  </a:rPr>
                  <a:t>, </a:t>
                </a:r>
                <a:r>
                  <a:rPr lang="en-US" sz="2000" i="1" dirty="0">
                    <a:effectLst/>
                    <a:ea typeface="Calibri" panose="020F0502020204030204" pitchFamily="34" charset="0"/>
                  </a:rPr>
                  <a:t>λ</a:t>
                </a:r>
                <a:r>
                  <a:rPr lang="en-US" sz="2000" dirty="0">
                    <a:effectLst/>
                    <a:ea typeface="Calibri" panose="020F0502020204030204" pitchFamily="34" charset="0"/>
                  </a:rPr>
                  <a:t>).</a:t>
                </a:r>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A39A8FB6-82EA-0D03-F2EB-E25441989F06}"/>
                  </a:ext>
                </a:extLst>
              </p:cNvPr>
              <p:cNvSpPr>
                <a:spLocks noGrp="1" noRot="1" noChangeAspect="1" noMove="1" noResize="1" noEditPoints="1" noAdjustHandles="1" noChangeArrowheads="1" noChangeShapeType="1" noTextEdit="1"/>
              </p:cNvSpPr>
              <p:nvPr>
                <p:ph idx="1"/>
              </p:nvPr>
            </p:nvSpPr>
            <p:spPr>
              <a:xfrm>
                <a:off x="309489" y="914399"/>
                <a:ext cx="11535508" cy="5176066"/>
              </a:xfrm>
              <a:blipFill>
                <a:blip r:embed="rId2"/>
                <a:stretch>
                  <a:fillRect l="-581" t="-3298" r="-529" b="-435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9431FC0-A1C2-ABFD-737F-553AE0CDA668}"/>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AD66DB22-3811-7CD4-20B0-2EF21D4FC511}"/>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430D7817-2753-9C1C-1491-453FCCADD76A}"/>
              </a:ext>
            </a:extLst>
          </p:cNvPr>
          <p:cNvSpPr>
            <a:spLocks noGrp="1"/>
          </p:cNvSpPr>
          <p:nvPr>
            <p:ph type="sldNum" sz="quarter" idx="12"/>
          </p:nvPr>
        </p:nvSpPr>
        <p:spPr/>
        <p:txBody>
          <a:bodyPr/>
          <a:lstStyle/>
          <a:p>
            <a:fld id="{5DB5036F-1FF2-46C4-8D2B-59C7E3B91952}" type="slidenum">
              <a:rPr lang="en-US" smtClean="0"/>
              <a:pPr/>
              <a:t>16</a:t>
            </a:fld>
            <a:endParaRPr lang="en-US"/>
          </a:p>
        </p:txBody>
      </p:sp>
    </p:spTree>
    <p:extLst>
      <p:ext uri="{BB962C8B-B14F-4D97-AF65-F5344CB8AC3E}">
        <p14:creationId xmlns:p14="http://schemas.microsoft.com/office/powerpoint/2010/main" val="1541623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17D76-96CB-C93B-433B-52CEDC7B6E7F}"/>
              </a:ext>
            </a:extLst>
          </p:cNvPr>
          <p:cNvSpPr>
            <a:spLocks noGrp="1"/>
          </p:cNvSpPr>
          <p:nvPr>
            <p:ph type="title"/>
          </p:nvPr>
        </p:nvSpPr>
        <p:spPr>
          <a:xfrm>
            <a:off x="838200" y="33578"/>
            <a:ext cx="10515600" cy="530528"/>
          </a:xfrm>
        </p:spPr>
        <p:txBody>
          <a:bodyPr>
            <a:noAutofit/>
          </a:bodyPr>
          <a:lstStyle/>
          <a:p>
            <a:r>
              <a:rPr lang="en-US" sz="3000" dirty="0"/>
              <a:t>2. Integrated with logistic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FF4F87-853E-CACB-B44C-929BCE4E6F06}"/>
                  </a:ext>
                </a:extLst>
              </p:cNvPr>
              <p:cNvSpPr>
                <a:spLocks noGrp="1"/>
              </p:cNvSpPr>
              <p:nvPr>
                <p:ph idx="1"/>
              </p:nvPr>
            </p:nvSpPr>
            <p:spPr>
              <a:xfrm>
                <a:off x="323557" y="648514"/>
                <a:ext cx="11507372" cy="5707836"/>
              </a:xfrm>
            </p:spPr>
            <p:txBody>
              <a:bodyPr>
                <a:noAutofit/>
              </a:bodyPr>
              <a:lstStyle/>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We now focus on maximizing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λ</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first-order partial derivative of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λ</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with regard to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i="1" baseline="-25000" dirty="0">
                    <a:effectLst/>
                    <a:latin typeface="Times New Roman" panose="02020603050405020304" pitchFamily="18" charset="0"/>
                    <a:ea typeface="Calibri" panose="020F0502020204030204" pitchFamily="34" charset="0"/>
                    <a:cs typeface="Times New Roman" panose="02020603050405020304" pitchFamily="18" charset="0"/>
                  </a:rPr>
                  <a:t>sg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𝐿</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d>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sub>
                          </m:sSub>
                        </m:sub>
                        <m: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d>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p>
                                </m:e>
                              </m:nary>
                            </m:e>
                          </m:d>
                        </m:e>
                      </m:nary>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800" dirty="0">
                    <a:effectLst/>
                    <a:latin typeface="Times New Roman" panose="02020603050405020304" pitchFamily="18" charset="0"/>
                    <a:ea typeface="Calibri" panose="020F0502020204030204" pitchFamily="34" charset="0"/>
                  </a:rPr>
                  <a:t>Note, </a:t>
                </a:r>
                <a:r>
                  <a:rPr lang="en-US" sz="1800" i="1" dirty="0">
                    <a:effectLst/>
                    <a:latin typeface="Times New Roman" panose="02020603050405020304" pitchFamily="18" charset="0"/>
                    <a:ea typeface="Calibri" panose="020F0502020204030204" pitchFamily="34" charset="0"/>
                  </a:rPr>
                  <a:t>a</a:t>
                </a:r>
                <a:r>
                  <a:rPr lang="en-US" sz="1800" i="1" baseline="-25000" dirty="0">
                    <a:effectLst/>
                    <a:latin typeface="Times New Roman" panose="02020603050405020304" pitchFamily="18" charset="0"/>
                    <a:ea typeface="Calibri" panose="020F0502020204030204" pitchFamily="34" charset="0"/>
                  </a:rPr>
                  <a:t>ss</a:t>
                </a:r>
                <a:r>
                  <a:rPr lang="en-US" sz="1800" baseline="-25000" dirty="0">
                    <a:effectLst/>
                    <a:latin typeface="Times New Roman" panose="02020603050405020304" pitchFamily="18" charset="0"/>
                    <a:ea typeface="Calibri" panose="020F0502020204030204" pitchFamily="34" charset="0"/>
                  </a:rPr>
                  <a:t>*</a:t>
                </a:r>
                <a:r>
                  <a:rPr lang="en-US" sz="1800" dirty="0">
                    <a:effectLst/>
                    <a:latin typeface="Times New Roman" panose="02020603050405020304" pitchFamily="18" charset="0"/>
                    <a:ea typeface="Calibri" panose="020F0502020204030204" pitchFamily="34" charset="0"/>
                  </a:rPr>
                  <a:t> = 0 if </a:t>
                </a:r>
                <a:r>
                  <a:rPr lang="en-US" sz="1800" i="1" dirty="0" err="1">
                    <a:effectLst/>
                    <a:latin typeface="Times New Roman" panose="02020603050405020304" pitchFamily="18" charset="0"/>
                    <a:ea typeface="Calibri" panose="020F0502020204030204" pitchFamily="34" charset="0"/>
                  </a:rPr>
                  <a:t>y</a:t>
                </a:r>
                <a:r>
                  <a:rPr lang="en-US" sz="1800" i="1" baseline="-25000" dirty="0" err="1">
                    <a:effectLst/>
                    <a:latin typeface="Times New Roman" panose="02020603050405020304" pitchFamily="18" charset="0"/>
                    <a:ea typeface="Calibri" panose="020F0502020204030204" pitchFamily="34" charset="0"/>
                  </a:rPr>
                  <a:t>s</a:t>
                </a:r>
                <a:r>
                  <a:rPr lang="en-US" sz="1800" baseline="-25000" dirty="0">
                    <a:effectLst/>
                    <a:latin typeface="Times New Roman" panose="02020603050405020304" pitchFamily="18" charset="0"/>
                    <a:ea typeface="Calibri" panose="020F0502020204030204" pitchFamily="34" charset="0"/>
                  </a:rPr>
                  <a:t>*</a:t>
                </a:r>
                <a:r>
                  <a:rPr lang="en-US" sz="1800" baseline="30000" dirty="0">
                    <a:effectLst/>
                    <a:latin typeface="Times New Roman" panose="02020603050405020304" pitchFamily="18" charset="0"/>
                    <a:ea typeface="Calibri" panose="020F0502020204030204" pitchFamily="34" charset="0"/>
                  </a:rPr>
                  <a:t>(</a:t>
                </a:r>
                <a:r>
                  <a:rPr lang="en-US" sz="1800" i="1" baseline="30000" dirty="0" err="1">
                    <a:effectLst/>
                    <a:latin typeface="Times New Roman" panose="02020603050405020304" pitchFamily="18" charset="0"/>
                    <a:ea typeface="Calibri" panose="020F0502020204030204" pitchFamily="34" charset="0"/>
                  </a:rPr>
                  <a:t>i</a:t>
                </a:r>
                <a:r>
                  <a:rPr lang="en-US" sz="1800" baseline="30000" dirty="0">
                    <a:effectLst/>
                    <a:latin typeface="Times New Roman" panose="02020603050405020304" pitchFamily="18" charset="0"/>
                    <a:ea typeface="Calibri" panose="020F0502020204030204" pitchFamily="34" charset="0"/>
                  </a:rPr>
                  <a:t>)</a:t>
                </a:r>
                <a:r>
                  <a:rPr lang="en-US" sz="1800" dirty="0">
                    <a:effectLst/>
                    <a:latin typeface="Times New Roman" panose="02020603050405020304" pitchFamily="18" charset="0"/>
                    <a:ea typeface="Calibri" panose="020F0502020204030204" pitchFamily="34" charset="0"/>
                  </a:rPr>
                  <a:t> or </a:t>
                </a:r>
                <a:r>
                  <a:rPr lang="en-US" sz="1800" b="1" i="1" dirty="0" err="1">
                    <a:effectLst/>
                    <a:latin typeface="Times New Roman" panose="02020603050405020304" pitchFamily="18" charset="0"/>
                    <a:ea typeface="Calibri" panose="020F0502020204030204" pitchFamily="34" charset="0"/>
                  </a:rPr>
                  <a:t>x</a:t>
                </a:r>
                <a:r>
                  <a:rPr lang="en-US" sz="1800" i="1" baseline="-25000" dirty="0" err="1">
                    <a:effectLst/>
                    <a:latin typeface="Times New Roman" panose="02020603050405020304" pitchFamily="18" charset="0"/>
                    <a:ea typeface="Calibri" panose="020F0502020204030204" pitchFamily="34" charset="0"/>
                  </a:rPr>
                  <a:t>s</a:t>
                </a:r>
                <a:r>
                  <a:rPr lang="en-US" sz="1800" baseline="-25000" dirty="0">
                    <a:effectLst/>
                    <a:latin typeface="Times New Roman" panose="02020603050405020304" pitchFamily="18" charset="0"/>
                    <a:ea typeface="Calibri" panose="020F0502020204030204" pitchFamily="34" charset="0"/>
                  </a:rPr>
                  <a:t>*</a:t>
                </a:r>
                <a:r>
                  <a:rPr lang="en-US" sz="1800" baseline="30000" dirty="0">
                    <a:effectLst/>
                    <a:latin typeface="Times New Roman" panose="02020603050405020304" pitchFamily="18" charset="0"/>
                    <a:ea typeface="Calibri" panose="020F0502020204030204" pitchFamily="34" charset="0"/>
                  </a:rPr>
                  <a:t>(</a:t>
                </a:r>
                <a:r>
                  <a:rPr lang="en-US" sz="1800" i="1" baseline="30000" dirty="0" err="1">
                    <a:effectLst/>
                    <a:latin typeface="Times New Roman" panose="02020603050405020304" pitchFamily="18" charset="0"/>
                    <a:ea typeface="Calibri" panose="020F0502020204030204" pitchFamily="34" charset="0"/>
                  </a:rPr>
                  <a:t>i</a:t>
                </a:r>
                <a:r>
                  <a:rPr lang="en-US" sz="1800" baseline="30000" dirty="0">
                    <a:effectLst/>
                    <a:latin typeface="Times New Roman" panose="02020603050405020304" pitchFamily="18" charset="0"/>
                    <a:ea typeface="Calibri" panose="020F0502020204030204" pitchFamily="34" charset="0"/>
                  </a:rPr>
                  <a:t>)</a:t>
                </a:r>
                <a:r>
                  <a:rPr lang="en-US" sz="1800" dirty="0">
                    <a:effectLst/>
                    <a:latin typeface="Times New Roman" panose="02020603050405020304" pitchFamily="18" charset="0"/>
                    <a:ea typeface="Calibri" panose="020F0502020204030204" pitchFamily="34" charset="0"/>
                  </a:rPr>
                  <a:t> does not exist. Let</a:t>
                </a:r>
              </a:p>
              <a:p>
                <a:pPr marL="0" indent="0">
                  <a:buNone/>
                </a:pPr>
                <a14:m>
                  <m:oMathPara xmlns:m="http://schemas.openxmlformats.org/officeDocument/2006/math">
                    <m:oMathParaPr>
                      <m:jc m:val="right"/>
                    </m:oMathParaPr>
                    <m:oMath xmlns:m="http://schemas.openxmlformats.org/officeDocument/2006/math">
                      <m:sSubSup>
                        <m:sSubSupPr>
                          <m:ctrlPr>
                            <a:rPr lang="en-US" sz="1800" i="1" smtClean="0">
                              <a:effectLst/>
                              <a:latin typeface="Cambria Math" panose="020405030504060302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800" i="1">
                              <a:effectLst/>
                              <a:latin typeface="Cambria Math" panose="020405030504060302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𝜌</m:t>
                      </m:r>
                      <m:nary>
                        <m:naryPr>
                          <m:chr m:val="∑"/>
                          <m:limLoc m:val="undOvr"/>
                          <m:supHide m:val="on"/>
                          <m:ctrlPr>
                            <a:rPr lang="en-US" sz="1800" i="1">
                              <a:effectLst/>
                              <a:latin typeface="Cambria Math" panose="02040503050406030204" pitchFamily="18" charset="0"/>
                            </a:rPr>
                          </m:ctrlPr>
                        </m:naryPr>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nb</m:t>
                          </m:r>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d>
                        </m:sub>
                        <m:sup/>
                        <m:e>
                          <m:sSub>
                            <m:sSubPr>
                              <m:ctrlPr>
                                <a:rPr lang="en-US" sz="1800"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Sub>
                          <m:sSubSup>
                            <m:sSubSupPr>
                              <m:ctrlPr>
                                <a:rPr lang="en-US" sz="1800" i="1">
                                  <a:effectLst/>
                                  <a:latin typeface="Cambria Math" panose="02040503050406030204" pitchFamily="18" charset="0"/>
                                </a:rPr>
                              </m:ctrlPr>
                            </m:sSubSupPr>
                            <m:e>
                              <m:r>
                                <a:rPr lang="en-US" sz="1800" b="1" i="1">
                                  <a:effectLst/>
                                  <a:latin typeface="Cambria Math" panose="02040503050406030204" pitchFamily="18" charset="0"/>
                                  <a:ea typeface="Calibri" panose="020F0502020204030204" pitchFamily="34" charset="0"/>
                                  <a:cs typeface="Times New Roman" panose="02020603050405020304" pitchFamily="18" charset="0"/>
                                </a:rPr>
                                <m:t>𝒙</m:t>
                              </m:r>
                            </m:e>
                            <m:sub>
                              <m:sSup>
                                <m:sSupPr>
                                  <m:ctrlPr>
                                    <a:rPr lang="en-US" sz="1800" i="1">
                                      <a:effectLst/>
                                      <a:latin typeface="Cambria Math" panose="020405030504060302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up>
                              </m:sSup>
                            </m:sub>
                            <m:sup>
                              <m:d>
                                <m:dPr>
                                  <m:ctrlPr>
                                    <a:rPr lang="en-US" sz="1800" i="1">
                                      <a:effectLst/>
                                      <a:latin typeface="Cambria Math" panose="020405030504060302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nary>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    (2.6)</m:t>
                      </m:r>
                    </m:oMath>
                  </m:oMathPara>
                </a14:m>
                <a:endParaRPr lang="en-US" sz="1800" dirty="0">
                  <a:effectLst/>
                  <a:latin typeface="Times New Roman" panose="02020603050405020304" pitchFamily="18" charset="0"/>
                  <a:ea typeface="Calibri" panose="020F0502020204030204" pitchFamily="34" charset="0"/>
                </a:endParaRPr>
              </a:p>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We have:</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𝐿</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d>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sub>
                          </m:sSub>
                        </m:sub>
                        <m: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d>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p>
                        </m:e>
                      </m:nary>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Setting the first-order partial derivative of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λ</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with regard to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λ</a:t>
                </a:r>
                <a:r>
                  <a:rPr lang="en-US" sz="18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to be 0, we obtain:</a:t>
                </a: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𝐿</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d>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𝐺</m:t>
                          </m:r>
                        </m:sup>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nary>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Substituting all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λ</a:t>
                </a:r>
                <a:r>
                  <a:rPr lang="en-US" sz="18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0 into the derivative </a:t>
                </a:r>
                <a14:m>
                  <m:oMath xmlns:m="http://schemas.openxmlformats.org/officeDocument/2006/math">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𝐿</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d>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den>
                    </m:f>
                  </m:oMath>
                </a14:m>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we have:</a:t>
                </a:r>
              </a:p>
              <a:p>
                <a:pPr marL="0" marR="0" indent="0" algn="just">
                  <a:spcBef>
                    <a:spcPts val="0"/>
                  </a:spcBef>
                  <a:spcAft>
                    <a:spcPts val="0"/>
                  </a:spcAft>
                  <a:buNone/>
                </a:pPr>
                <a14:m>
                  <m:oMathPara xmlns:m="http://schemas.openxmlformats.org/officeDocument/2006/math">
                    <m:oMathParaPr>
                      <m:jc m:val="right"/>
                    </m:oMathParaPr>
                    <m:oMath xmlns:m="http://schemas.openxmlformats.org/officeDocument/2006/math">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𝐿</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e>
                          </m:d>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Sub>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𝑔</m:t>
                              </m:r>
                            </m:sub>
                          </m:sSub>
                        </m:sub>
                        <m:sup>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𝑁</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Sub>
                        </m:sup>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𝑠𝑔</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sub>
                                    <m:sup>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e>
                                      </m:d>
                                    </m:sup>
                                  </m:sSubSup>
                                </m:e>
                              </m:d>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sup>
                          </m:sSup>
                        </m:e>
                      </m:nary>
                    </m:oMath>
                  </m:oMathPara>
                </a14:m>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spcBef>
                    <a:spcPts val="0"/>
                  </a:spcBef>
                  <a:spcAft>
                    <a:spcPts val="0"/>
                  </a:spcAft>
                  <a:buNone/>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effectLst/>
                  <a:latin typeface="Times New Roman" panose="02020603050405020304" pitchFamily="18" charset="0"/>
                  <a:ea typeface="Calibri" panose="020F0502020204030204" pitchFamily="34" charset="0"/>
                </a:endParaRPr>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F6FF4F87-853E-CACB-B44C-929BCE4E6F06}"/>
                  </a:ext>
                </a:extLst>
              </p:cNvPr>
              <p:cNvSpPr>
                <a:spLocks noGrp="1" noRot="1" noChangeAspect="1" noMove="1" noResize="1" noEditPoints="1" noAdjustHandles="1" noChangeArrowheads="1" noChangeShapeType="1" noTextEdit="1"/>
              </p:cNvSpPr>
              <p:nvPr>
                <p:ph idx="1"/>
              </p:nvPr>
            </p:nvSpPr>
            <p:spPr>
              <a:xfrm>
                <a:off x="323557" y="648514"/>
                <a:ext cx="11507372" cy="5707836"/>
              </a:xfrm>
              <a:blipFill>
                <a:blip r:embed="rId2"/>
                <a:stretch>
                  <a:fillRect l="-424" t="-534" b="-202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DE1BEB87-0F80-EAF4-EFFE-28CDECC2F70B}"/>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D1CD364D-AA48-2972-745D-AA0D5C4F8A06}"/>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E70A961F-6100-68D1-C233-AFEEF8AAB3C7}"/>
              </a:ext>
            </a:extLst>
          </p:cNvPr>
          <p:cNvSpPr>
            <a:spLocks noGrp="1"/>
          </p:cNvSpPr>
          <p:nvPr>
            <p:ph type="sldNum" sz="quarter" idx="12"/>
          </p:nvPr>
        </p:nvSpPr>
        <p:spPr/>
        <p:txBody>
          <a:bodyPr/>
          <a:lstStyle/>
          <a:p>
            <a:fld id="{5DB5036F-1FF2-46C4-8D2B-59C7E3B91952}" type="slidenum">
              <a:rPr lang="en-US" smtClean="0"/>
              <a:pPr/>
              <a:t>17</a:t>
            </a:fld>
            <a:endParaRPr lang="en-US"/>
          </a:p>
        </p:txBody>
      </p:sp>
    </p:spTree>
    <p:extLst>
      <p:ext uri="{BB962C8B-B14F-4D97-AF65-F5344CB8AC3E}">
        <p14:creationId xmlns:p14="http://schemas.microsoft.com/office/powerpoint/2010/main" val="2393705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C30B-2157-F3E5-0D9E-307F092692C1}"/>
              </a:ext>
            </a:extLst>
          </p:cNvPr>
          <p:cNvSpPr>
            <a:spLocks noGrp="1"/>
          </p:cNvSpPr>
          <p:nvPr>
            <p:ph type="title"/>
          </p:nvPr>
        </p:nvSpPr>
        <p:spPr/>
        <p:txBody>
          <a:bodyPr/>
          <a:lstStyle/>
          <a:p>
            <a:r>
              <a:rPr lang="en-US" dirty="0"/>
              <a:t>2. Integrated with logistic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47AAF6F-FC0A-554D-EB43-64F5FD0DC333}"/>
                  </a:ext>
                </a:extLst>
              </p:cNvPr>
              <p:cNvSpPr>
                <a:spLocks noGrp="1"/>
              </p:cNvSpPr>
              <p:nvPr>
                <p:ph idx="1"/>
              </p:nvPr>
            </p:nvSpPr>
            <p:spPr/>
            <p:txBody>
              <a:bodyPr>
                <a:normAutofit/>
              </a:bodyPr>
              <a:lstStyle/>
              <a:p>
                <a:pPr marL="0" marR="0" indent="0" algn="just">
                  <a:spcBef>
                    <a:spcPts val="0"/>
                  </a:spcBef>
                  <a:spcAft>
                    <a:spcPts val="0"/>
                  </a:spcAft>
                  <a:buNone/>
                </a:pPr>
                <a:r>
                  <a:rPr lang="en-US" sz="2200" dirty="0">
                    <a:effectLst/>
                    <a:ea typeface="Calibri" panose="020F0502020204030204" pitchFamily="34" charset="0"/>
                  </a:rPr>
                  <a:t>By setting such derivative </a:t>
                </a:r>
                <a14:m>
                  <m:oMath xmlns:m="http://schemas.openxmlformats.org/officeDocument/2006/math">
                    <m:f>
                      <m:fPr>
                        <m:ctrlPr>
                          <a:rPr lang="en-US" sz="2200" i="1">
                            <a:effectLst/>
                            <a:latin typeface="Cambria Math" panose="02040503050406030204" pitchFamily="18" charset="0"/>
                            <a:ea typeface="Calibri" panose="020F0502020204030204" pitchFamily="34" charset="0"/>
                          </a:rPr>
                        </m:ctrlPr>
                      </m:fPr>
                      <m:num>
                        <m:r>
                          <a:rPr lang="en-US" sz="2200" i="1">
                            <a:effectLst/>
                            <a:latin typeface="Cambria Math" panose="02040503050406030204" pitchFamily="18" charset="0"/>
                            <a:ea typeface="Calibri" panose="020F0502020204030204" pitchFamily="34" charset="0"/>
                          </a:rPr>
                          <m:t>𝜕</m:t>
                        </m:r>
                        <m:r>
                          <a:rPr lang="en-US" sz="2200" b="0" i="1" smtClean="0">
                            <a:effectLst/>
                            <a:latin typeface="Cambria Math" panose="02040503050406030204" pitchFamily="18" charset="0"/>
                            <a:ea typeface="Calibri" panose="020F0502020204030204" pitchFamily="34" charset="0"/>
                          </a:rPr>
                          <m:t>𝐿</m:t>
                        </m:r>
                        <m:d>
                          <m:dPr>
                            <m:ctrlPr>
                              <a:rPr lang="en-US" sz="2200" i="1">
                                <a:effectLst/>
                                <a:latin typeface="Cambria Math" panose="02040503050406030204" pitchFamily="18" charset="0"/>
                                <a:ea typeface="Calibri" panose="020F0502020204030204" pitchFamily="34" charset="0"/>
                              </a:rPr>
                            </m:ctrlPr>
                          </m:dPr>
                          <m:e>
                            <m:r>
                              <a:rPr lang="en-US" sz="2200" i="1">
                                <a:effectLst/>
                                <a:latin typeface="Cambria Math" panose="02040503050406030204" pitchFamily="18" charset="0"/>
                                <a:ea typeface="Calibri" panose="020F0502020204030204" pitchFamily="34" charset="0"/>
                              </a:rPr>
                              <m:t>𝛼</m:t>
                            </m:r>
                            <m:r>
                              <a:rPr lang="en-US" sz="2200" b="0" i="1" smtClean="0">
                                <a:effectLst/>
                                <a:latin typeface="Cambria Math" panose="02040503050406030204" pitchFamily="18" charset="0"/>
                                <a:ea typeface="Calibri" panose="020F0502020204030204" pitchFamily="34" charset="0"/>
                              </a:rPr>
                              <m:t>,</m:t>
                            </m:r>
                            <m:r>
                              <a:rPr lang="en-US" sz="2200" b="0" i="1" smtClean="0">
                                <a:effectLst/>
                                <a:latin typeface="Cambria Math" panose="02040503050406030204" pitchFamily="18" charset="0"/>
                                <a:ea typeface="Cambria Math" panose="02040503050406030204" pitchFamily="18" charset="0"/>
                              </a:rPr>
                              <m:t>𝜆</m:t>
                            </m:r>
                          </m:e>
                        </m:d>
                      </m:num>
                      <m:den>
                        <m:r>
                          <a:rPr lang="en-US" sz="2200" i="1">
                            <a:effectLst/>
                            <a:latin typeface="Cambria Math" panose="02040503050406030204" pitchFamily="18" charset="0"/>
                            <a:ea typeface="Calibri" panose="020F0502020204030204" pitchFamily="34" charset="0"/>
                          </a:rPr>
                          <m:t>𝜕</m:t>
                        </m:r>
                        <m:sSub>
                          <m:sSubPr>
                            <m:ctrlPr>
                              <a:rPr lang="en-US" sz="2200" i="1">
                                <a:effectLst/>
                                <a:latin typeface="Cambria Math" panose="02040503050406030204" pitchFamily="18" charset="0"/>
                                <a:ea typeface="Calibri" panose="020F0502020204030204" pitchFamily="34" charset="0"/>
                              </a:rPr>
                            </m:ctrlPr>
                          </m:sSubPr>
                          <m:e>
                            <m:r>
                              <a:rPr lang="en-US" sz="2200" i="1">
                                <a:effectLst/>
                                <a:latin typeface="Cambria Math" panose="02040503050406030204" pitchFamily="18" charset="0"/>
                                <a:ea typeface="Calibri" panose="020F0502020204030204" pitchFamily="34" charset="0"/>
                              </a:rPr>
                              <m:t>𝛼</m:t>
                            </m:r>
                          </m:e>
                          <m:sub>
                            <m:r>
                              <a:rPr lang="en-US" sz="2200" i="1">
                                <a:effectLst/>
                                <a:latin typeface="Cambria Math" panose="02040503050406030204" pitchFamily="18" charset="0"/>
                                <a:ea typeface="Calibri" panose="020F0502020204030204" pitchFamily="34" charset="0"/>
                              </a:rPr>
                              <m:t>𝑠𝑔</m:t>
                            </m:r>
                          </m:sub>
                        </m:sSub>
                      </m:den>
                    </m:f>
                  </m:oMath>
                </a14:m>
                <a:r>
                  <a:rPr lang="en-US" sz="2200" dirty="0">
                    <a:effectLst/>
                    <a:ea typeface="SimSun" panose="02010600030101010101" pitchFamily="2" charset="-122"/>
                  </a:rPr>
                  <a:t> to be zero, we obtain:</a:t>
                </a:r>
                <a:endParaRPr lang="en-US" sz="2200" dirty="0">
                  <a:effectLst/>
                  <a:ea typeface="Calibri" panose="020F0502020204030204" pitchFamily="34" charset="0"/>
                </a:endParaRPr>
              </a:p>
              <a:p>
                <a:pPr marL="0" marR="0" indent="0" algn="just">
                  <a:spcBef>
                    <a:spcPts val="0"/>
                  </a:spcBef>
                  <a:spcAft>
                    <a:spcPts val="0"/>
                  </a:spcAft>
                  <a:buNone/>
                </a:pPr>
                <a14:m>
                  <m:oMathPara xmlns:m="http://schemas.openxmlformats.org/officeDocument/2006/math">
                    <m:oMathParaPr>
                      <m:jc m:val="centerGroup"/>
                    </m:oMathParaPr>
                    <m:oMath xmlns:m="http://schemas.openxmlformats.org/officeDocument/2006/math">
                      <m:nary>
                        <m:naryPr>
                          <m:chr m:val="∑"/>
                          <m:limLoc m:val="undOvr"/>
                          <m:ctrlPr>
                            <a:rPr lang="en-US" sz="2200" i="1">
                              <a:effectLst/>
                              <a:latin typeface="Cambria Math" panose="02040503050406030204" pitchFamily="18" charset="0"/>
                              <a:ea typeface="Calibri" panose="020F0502020204030204" pitchFamily="34" charset="0"/>
                            </a:rPr>
                          </m:ctrlPr>
                        </m:naryPr>
                        <m:sub>
                          <m:r>
                            <a:rPr lang="en-US" sz="2200" i="1">
                              <a:effectLst/>
                              <a:latin typeface="Cambria Math" panose="02040503050406030204" pitchFamily="18" charset="0"/>
                              <a:ea typeface="Calibri" panose="020F0502020204030204" pitchFamily="34" charset="0"/>
                            </a:rPr>
                            <m:t>𝑖</m:t>
                          </m:r>
                          <m:r>
                            <a:rPr lang="en-US" sz="2200" i="1">
                              <a:effectLst/>
                              <a:latin typeface="Cambria Math" panose="02040503050406030204" pitchFamily="18" charset="0"/>
                              <a:ea typeface="Calibri" panose="020F0502020204030204" pitchFamily="34" charset="0"/>
                            </a:rPr>
                            <m:t>=1,</m:t>
                          </m:r>
                          <m:sSubSup>
                            <m:sSubSupPr>
                              <m:ctrlPr>
                                <a:rPr lang="en-US" sz="2200" i="1">
                                  <a:effectLst/>
                                  <a:latin typeface="Cambria Math" panose="02040503050406030204" pitchFamily="18" charset="0"/>
                                  <a:ea typeface="Calibri" panose="020F0502020204030204" pitchFamily="34" charset="0"/>
                                </a:rPr>
                              </m:ctrlPr>
                            </m:sSubSupPr>
                            <m:e>
                              <m:r>
                                <a:rPr lang="en-US" sz="2200" i="1">
                                  <a:effectLst/>
                                  <a:latin typeface="Cambria Math" panose="02040503050406030204" pitchFamily="18" charset="0"/>
                                  <a:ea typeface="Calibri" panose="020F0502020204030204" pitchFamily="34" charset="0"/>
                                </a:rPr>
                                <m:t>𝑦</m:t>
                              </m:r>
                            </m:e>
                            <m:sub>
                              <m:r>
                                <a:rPr lang="en-US" sz="2200" i="1">
                                  <a:effectLst/>
                                  <a:latin typeface="Cambria Math" panose="02040503050406030204" pitchFamily="18" charset="0"/>
                                  <a:ea typeface="Calibri" panose="020F0502020204030204" pitchFamily="34" charset="0"/>
                                </a:rPr>
                                <m:t>𝑠</m:t>
                              </m:r>
                            </m:sub>
                            <m:sup>
                              <m:d>
                                <m:dPr>
                                  <m:ctrlPr>
                                    <a:rPr lang="en-US" sz="2200" i="1">
                                      <a:effectLst/>
                                      <a:latin typeface="Cambria Math" panose="02040503050406030204" pitchFamily="18" charset="0"/>
                                      <a:ea typeface="Calibri" panose="020F0502020204030204" pitchFamily="34" charset="0"/>
                                    </a:rPr>
                                  </m:ctrlPr>
                                </m:dPr>
                                <m:e>
                                  <m:r>
                                    <a:rPr lang="en-US" sz="2200" i="1">
                                      <a:effectLst/>
                                      <a:latin typeface="Cambria Math" panose="02040503050406030204" pitchFamily="18" charset="0"/>
                                      <a:ea typeface="Calibri" panose="020F0502020204030204" pitchFamily="34" charset="0"/>
                                    </a:rPr>
                                    <m:t>𝑖</m:t>
                                  </m:r>
                                </m:e>
                              </m:d>
                            </m:sup>
                          </m:sSubSup>
                          <m:r>
                            <a:rPr lang="en-US" sz="2200" i="1">
                              <a:effectLst/>
                              <a:latin typeface="Cambria Math" panose="02040503050406030204" pitchFamily="18" charset="0"/>
                              <a:ea typeface="Calibri" panose="020F0502020204030204" pitchFamily="34" charset="0"/>
                            </a:rPr>
                            <m:t>=</m:t>
                          </m:r>
                          <m:sSub>
                            <m:sSubPr>
                              <m:ctrlPr>
                                <a:rPr lang="en-US" sz="2200" i="1">
                                  <a:effectLst/>
                                  <a:latin typeface="Cambria Math" panose="02040503050406030204" pitchFamily="18" charset="0"/>
                                  <a:ea typeface="Calibri" panose="020F0502020204030204" pitchFamily="34" charset="0"/>
                                </a:rPr>
                              </m:ctrlPr>
                            </m:sSubPr>
                            <m:e>
                              <m:r>
                                <a:rPr lang="en-US" sz="2200" i="1">
                                  <a:effectLst/>
                                  <a:latin typeface="Cambria Math" panose="02040503050406030204" pitchFamily="18" charset="0"/>
                                  <a:ea typeface="Calibri" panose="020F0502020204030204" pitchFamily="34" charset="0"/>
                                </a:rPr>
                                <m:t>𝑣</m:t>
                              </m:r>
                            </m:e>
                            <m:sub>
                              <m:r>
                                <a:rPr lang="en-US" sz="2200" i="1">
                                  <a:effectLst/>
                                  <a:latin typeface="Cambria Math" panose="02040503050406030204" pitchFamily="18" charset="0"/>
                                  <a:ea typeface="Calibri" panose="020F0502020204030204" pitchFamily="34" charset="0"/>
                                </a:rPr>
                                <m:t>𝑔</m:t>
                              </m:r>
                            </m:sub>
                          </m:sSub>
                        </m:sub>
                        <m:sup>
                          <m:sSub>
                            <m:sSubPr>
                              <m:ctrlPr>
                                <a:rPr lang="en-US" sz="2200" i="1">
                                  <a:effectLst/>
                                  <a:latin typeface="Cambria Math" panose="02040503050406030204" pitchFamily="18" charset="0"/>
                                  <a:ea typeface="Calibri" panose="020F0502020204030204" pitchFamily="34" charset="0"/>
                                </a:rPr>
                              </m:ctrlPr>
                            </m:sSubPr>
                            <m:e>
                              <m:r>
                                <a:rPr lang="en-US" sz="2200" i="1">
                                  <a:effectLst/>
                                  <a:latin typeface="Cambria Math" panose="02040503050406030204" pitchFamily="18" charset="0"/>
                                  <a:ea typeface="Calibri" panose="020F0502020204030204" pitchFamily="34" charset="0"/>
                                </a:rPr>
                                <m:t>𝑁</m:t>
                              </m:r>
                            </m:e>
                            <m:sub>
                              <m:r>
                                <a:rPr lang="en-US" sz="2200" i="1">
                                  <a:effectLst/>
                                  <a:latin typeface="Cambria Math" panose="02040503050406030204" pitchFamily="18" charset="0"/>
                                  <a:ea typeface="Calibri" panose="020F0502020204030204" pitchFamily="34" charset="0"/>
                                </a:rPr>
                                <m:t>𝑠</m:t>
                              </m:r>
                            </m:sub>
                          </m:sSub>
                        </m:sup>
                        <m:e>
                          <m:sSubSup>
                            <m:sSubSupPr>
                              <m:ctrlPr>
                                <a:rPr lang="en-US" sz="2200" i="1">
                                  <a:effectLst/>
                                  <a:latin typeface="Cambria Math" panose="02040503050406030204" pitchFamily="18" charset="0"/>
                                  <a:ea typeface="Calibri" panose="020F0502020204030204" pitchFamily="34" charset="0"/>
                                </a:rPr>
                              </m:ctrlPr>
                            </m:sSubSupPr>
                            <m:e>
                              <m:r>
                                <a:rPr lang="en-US" sz="2200" i="1">
                                  <a:effectLst/>
                                  <a:latin typeface="Cambria Math" panose="02040503050406030204" pitchFamily="18" charset="0"/>
                                  <a:ea typeface="Calibri" panose="020F0502020204030204" pitchFamily="34" charset="0"/>
                                </a:rPr>
                                <m:t>𝑝</m:t>
                              </m:r>
                            </m:e>
                            <m:sub>
                              <m:r>
                                <a:rPr lang="en-US" sz="2200" i="1">
                                  <a:effectLst/>
                                  <a:latin typeface="Cambria Math" panose="02040503050406030204" pitchFamily="18" charset="0"/>
                                  <a:ea typeface="Calibri" panose="020F0502020204030204" pitchFamily="34" charset="0"/>
                                </a:rPr>
                                <m:t>𝑠𝑔</m:t>
                              </m:r>
                            </m:sub>
                            <m:sup>
                              <m:d>
                                <m:dPr>
                                  <m:ctrlPr>
                                    <a:rPr lang="en-US" sz="2200" i="1">
                                      <a:effectLst/>
                                      <a:latin typeface="Cambria Math" panose="02040503050406030204" pitchFamily="18" charset="0"/>
                                      <a:ea typeface="Calibri" panose="020F0502020204030204" pitchFamily="34" charset="0"/>
                                    </a:rPr>
                                  </m:ctrlPr>
                                </m:dPr>
                                <m:e>
                                  <m:r>
                                    <a:rPr lang="en-US" sz="2200" i="1">
                                      <a:effectLst/>
                                      <a:latin typeface="Cambria Math" panose="02040503050406030204" pitchFamily="18" charset="0"/>
                                      <a:ea typeface="Calibri" panose="020F0502020204030204" pitchFamily="34" charset="0"/>
                                    </a:rPr>
                                    <m:t>𝑖</m:t>
                                  </m:r>
                                </m:e>
                              </m:d>
                            </m:sup>
                          </m:sSubSup>
                          <m:sSubSup>
                            <m:sSubSupPr>
                              <m:ctrlPr>
                                <a:rPr lang="en-US" sz="2200" i="1">
                                  <a:effectLst/>
                                  <a:latin typeface="Cambria Math" panose="02040503050406030204" pitchFamily="18" charset="0"/>
                                  <a:ea typeface="Calibri" panose="020F0502020204030204" pitchFamily="34" charset="0"/>
                                </a:rPr>
                              </m:ctrlPr>
                            </m:sSubSupPr>
                            <m:e>
                              <m:r>
                                <a:rPr lang="en-US" sz="2200" i="1">
                                  <a:effectLst/>
                                  <a:latin typeface="Cambria Math" panose="02040503050406030204" pitchFamily="18" charset="0"/>
                                  <a:ea typeface="Calibri" panose="020F0502020204030204" pitchFamily="34" charset="0"/>
                                </a:rPr>
                                <m:t>𝑍</m:t>
                              </m:r>
                            </m:e>
                            <m:sub>
                              <m:r>
                                <a:rPr lang="en-US" sz="2200" i="1">
                                  <a:effectLst/>
                                  <a:latin typeface="Cambria Math" panose="02040503050406030204" pitchFamily="18" charset="0"/>
                                  <a:ea typeface="Calibri" panose="020F0502020204030204" pitchFamily="34" charset="0"/>
                                </a:rPr>
                                <m:t>𝑠</m:t>
                              </m:r>
                            </m:sub>
                            <m:sup>
                              <m:d>
                                <m:dPr>
                                  <m:ctrlPr>
                                    <a:rPr lang="en-US" sz="2200" i="1">
                                      <a:effectLst/>
                                      <a:latin typeface="Cambria Math" panose="02040503050406030204" pitchFamily="18" charset="0"/>
                                      <a:ea typeface="Calibri" panose="020F0502020204030204" pitchFamily="34" charset="0"/>
                                    </a:rPr>
                                  </m:ctrlPr>
                                </m:dPr>
                                <m:e>
                                  <m:r>
                                    <a:rPr lang="en-US" sz="2200" i="1">
                                      <a:effectLst/>
                                      <a:latin typeface="Cambria Math" panose="02040503050406030204" pitchFamily="18" charset="0"/>
                                      <a:ea typeface="Calibri" panose="020F0502020204030204" pitchFamily="34" charset="0"/>
                                    </a:rPr>
                                    <m:t>𝑖</m:t>
                                  </m:r>
                                </m:e>
                              </m:d>
                            </m:sup>
                          </m:sSubSup>
                        </m:e>
                      </m:nary>
                      <m:r>
                        <a:rPr lang="en-US" sz="2200" i="1">
                          <a:effectLst/>
                          <a:latin typeface="Cambria Math" panose="02040503050406030204" pitchFamily="18" charset="0"/>
                          <a:ea typeface="Calibri" panose="020F0502020204030204" pitchFamily="34" charset="0"/>
                        </a:rPr>
                        <m:t>=</m:t>
                      </m:r>
                      <m:nary>
                        <m:naryPr>
                          <m:chr m:val="∑"/>
                          <m:limLoc m:val="undOvr"/>
                          <m:ctrlPr>
                            <a:rPr lang="en-US" sz="2200" i="1">
                              <a:effectLst/>
                              <a:latin typeface="Cambria Math" panose="02040503050406030204" pitchFamily="18" charset="0"/>
                              <a:ea typeface="Calibri" panose="020F0502020204030204" pitchFamily="34" charset="0"/>
                            </a:rPr>
                          </m:ctrlPr>
                        </m:naryPr>
                        <m:sub>
                          <m:r>
                            <a:rPr lang="en-US" sz="2200" i="1">
                              <a:effectLst/>
                              <a:latin typeface="Cambria Math" panose="02040503050406030204" pitchFamily="18" charset="0"/>
                              <a:ea typeface="Calibri" panose="020F0502020204030204" pitchFamily="34" charset="0"/>
                            </a:rPr>
                            <m:t>𝑖</m:t>
                          </m:r>
                          <m:r>
                            <a:rPr lang="en-US" sz="2200" i="1">
                              <a:effectLst/>
                              <a:latin typeface="Cambria Math" panose="02040503050406030204" pitchFamily="18" charset="0"/>
                              <a:ea typeface="Calibri" panose="020F0502020204030204" pitchFamily="34" charset="0"/>
                            </a:rPr>
                            <m:t>=1,</m:t>
                          </m:r>
                          <m:sSubSup>
                            <m:sSubSupPr>
                              <m:ctrlPr>
                                <a:rPr lang="en-US" sz="2200" i="1">
                                  <a:effectLst/>
                                  <a:latin typeface="Cambria Math" panose="02040503050406030204" pitchFamily="18" charset="0"/>
                                  <a:ea typeface="Calibri" panose="020F0502020204030204" pitchFamily="34" charset="0"/>
                                </a:rPr>
                              </m:ctrlPr>
                            </m:sSubSupPr>
                            <m:e>
                              <m:r>
                                <a:rPr lang="en-US" sz="2200" i="1">
                                  <a:effectLst/>
                                  <a:latin typeface="Cambria Math" panose="02040503050406030204" pitchFamily="18" charset="0"/>
                                  <a:ea typeface="Calibri" panose="020F0502020204030204" pitchFamily="34" charset="0"/>
                                </a:rPr>
                                <m:t>𝑦</m:t>
                              </m:r>
                            </m:e>
                            <m:sub>
                              <m:r>
                                <a:rPr lang="en-US" sz="2200" i="1">
                                  <a:effectLst/>
                                  <a:latin typeface="Cambria Math" panose="02040503050406030204" pitchFamily="18" charset="0"/>
                                  <a:ea typeface="Calibri" panose="020F0502020204030204" pitchFamily="34" charset="0"/>
                                </a:rPr>
                                <m:t>𝑠</m:t>
                              </m:r>
                            </m:sub>
                            <m:sup>
                              <m:d>
                                <m:dPr>
                                  <m:ctrlPr>
                                    <a:rPr lang="en-US" sz="2200" i="1">
                                      <a:effectLst/>
                                      <a:latin typeface="Cambria Math" panose="02040503050406030204" pitchFamily="18" charset="0"/>
                                      <a:ea typeface="Calibri" panose="020F0502020204030204" pitchFamily="34" charset="0"/>
                                    </a:rPr>
                                  </m:ctrlPr>
                                </m:dPr>
                                <m:e>
                                  <m:r>
                                    <a:rPr lang="en-US" sz="2200" i="1">
                                      <a:effectLst/>
                                      <a:latin typeface="Cambria Math" panose="02040503050406030204" pitchFamily="18" charset="0"/>
                                      <a:ea typeface="Calibri" panose="020F0502020204030204" pitchFamily="34" charset="0"/>
                                    </a:rPr>
                                    <m:t>𝑖</m:t>
                                  </m:r>
                                </m:e>
                              </m:d>
                            </m:sup>
                          </m:sSubSup>
                          <m:r>
                            <a:rPr lang="en-US" sz="2200" i="1">
                              <a:effectLst/>
                              <a:latin typeface="Cambria Math" panose="02040503050406030204" pitchFamily="18" charset="0"/>
                              <a:ea typeface="Calibri" panose="020F0502020204030204" pitchFamily="34" charset="0"/>
                            </a:rPr>
                            <m:t>=</m:t>
                          </m:r>
                          <m:sSub>
                            <m:sSubPr>
                              <m:ctrlPr>
                                <a:rPr lang="en-US" sz="2200" i="1">
                                  <a:effectLst/>
                                  <a:latin typeface="Cambria Math" panose="02040503050406030204" pitchFamily="18" charset="0"/>
                                  <a:ea typeface="Calibri" panose="020F0502020204030204" pitchFamily="34" charset="0"/>
                                </a:rPr>
                              </m:ctrlPr>
                            </m:sSubPr>
                            <m:e>
                              <m:r>
                                <a:rPr lang="en-US" sz="2200" i="1">
                                  <a:effectLst/>
                                  <a:latin typeface="Cambria Math" panose="02040503050406030204" pitchFamily="18" charset="0"/>
                                  <a:ea typeface="Calibri" panose="020F0502020204030204" pitchFamily="34" charset="0"/>
                                </a:rPr>
                                <m:t>𝑣</m:t>
                              </m:r>
                            </m:e>
                            <m:sub>
                              <m:r>
                                <a:rPr lang="en-US" sz="2200" i="1">
                                  <a:effectLst/>
                                  <a:latin typeface="Cambria Math" panose="02040503050406030204" pitchFamily="18" charset="0"/>
                                  <a:ea typeface="Calibri" panose="020F0502020204030204" pitchFamily="34" charset="0"/>
                                </a:rPr>
                                <m:t>𝑔</m:t>
                              </m:r>
                            </m:sub>
                          </m:sSub>
                        </m:sub>
                        <m:sup>
                          <m:sSub>
                            <m:sSubPr>
                              <m:ctrlPr>
                                <a:rPr lang="en-US" sz="2200" i="1">
                                  <a:effectLst/>
                                  <a:latin typeface="Cambria Math" panose="02040503050406030204" pitchFamily="18" charset="0"/>
                                  <a:ea typeface="Calibri" panose="020F0502020204030204" pitchFamily="34" charset="0"/>
                                </a:rPr>
                              </m:ctrlPr>
                            </m:sSubPr>
                            <m:e>
                              <m:r>
                                <a:rPr lang="en-US" sz="2200" i="1">
                                  <a:effectLst/>
                                  <a:latin typeface="Cambria Math" panose="02040503050406030204" pitchFamily="18" charset="0"/>
                                  <a:ea typeface="Calibri" panose="020F0502020204030204" pitchFamily="34" charset="0"/>
                                </a:rPr>
                                <m:t>𝑁</m:t>
                              </m:r>
                            </m:e>
                            <m:sub>
                              <m:r>
                                <a:rPr lang="en-US" sz="2200" i="1">
                                  <a:effectLst/>
                                  <a:latin typeface="Cambria Math" panose="02040503050406030204" pitchFamily="18" charset="0"/>
                                  <a:ea typeface="Calibri" panose="020F0502020204030204" pitchFamily="34" charset="0"/>
                                </a:rPr>
                                <m:t>𝑠</m:t>
                              </m:r>
                            </m:sub>
                          </m:sSub>
                        </m:sup>
                        <m:e>
                          <m:sSubSup>
                            <m:sSubSupPr>
                              <m:ctrlPr>
                                <a:rPr lang="en-US" sz="2200" i="1">
                                  <a:effectLst/>
                                  <a:latin typeface="Cambria Math" panose="02040503050406030204" pitchFamily="18" charset="0"/>
                                  <a:ea typeface="Calibri" panose="020F0502020204030204" pitchFamily="34" charset="0"/>
                                </a:rPr>
                              </m:ctrlPr>
                            </m:sSubSupPr>
                            <m:e>
                              <m:r>
                                <a:rPr lang="en-US" sz="2200" i="1">
                                  <a:effectLst/>
                                  <a:latin typeface="Cambria Math" panose="02040503050406030204" pitchFamily="18" charset="0"/>
                                  <a:ea typeface="Calibri" panose="020F0502020204030204" pitchFamily="34" charset="0"/>
                                </a:rPr>
                                <m:t>𝑍</m:t>
                              </m:r>
                            </m:e>
                            <m:sub>
                              <m:r>
                                <a:rPr lang="en-US" sz="2200" i="1">
                                  <a:effectLst/>
                                  <a:latin typeface="Cambria Math" panose="02040503050406030204" pitchFamily="18" charset="0"/>
                                  <a:ea typeface="Calibri" panose="020F0502020204030204" pitchFamily="34" charset="0"/>
                                </a:rPr>
                                <m:t>𝑠</m:t>
                              </m:r>
                            </m:sub>
                            <m:sup>
                              <m:d>
                                <m:dPr>
                                  <m:ctrlPr>
                                    <a:rPr lang="en-US" sz="2200" i="1">
                                      <a:effectLst/>
                                      <a:latin typeface="Cambria Math" panose="02040503050406030204" pitchFamily="18" charset="0"/>
                                      <a:ea typeface="Calibri" panose="020F0502020204030204" pitchFamily="34" charset="0"/>
                                    </a:rPr>
                                  </m:ctrlPr>
                                </m:dPr>
                                <m:e>
                                  <m:r>
                                    <a:rPr lang="en-US" sz="2200" i="1">
                                      <a:effectLst/>
                                      <a:latin typeface="Cambria Math" panose="02040503050406030204" pitchFamily="18" charset="0"/>
                                      <a:ea typeface="Calibri" panose="020F0502020204030204" pitchFamily="34" charset="0"/>
                                    </a:rPr>
                                    <m:t>𝑖</m:t>
                                  </m:r>
                                </m:e>
                              </m:d>
                            </m:sup>
                          </m:sSubSup>
                        </m:e>
                      </m:nary>
                    </m:oMath>
                  </m:oMathPara>
                </a14:m>
                <a:endParaRPr lang="en-US" sz="2200" dirty="0">
                  <a:effectLst/>
                  <a:ea typeface="Calibri" panose="020F0502020204030204" pitchFamily="34" charset="0"/>
                </a:endParaRPr>
              </a:p>
              <a:p>
                <a:pPr marL="0" marR="0" indent="0" algn="just">
                  <a:spcBef>
                    <a:spcPts val="0"/>
                  </a:spcBef>
                  <a:spcAft>
                    <a:spcPts val="0"/>
                  </a:spcAft>
                  <a:buNone/>
                </a:pPr>
                <a:r>
                  <a:rPr lang="en-US" sz="2200" dirty="0">
                    <a:effectLst/>
                    <a:ea typeface="SimSun" panose="02010600030101010101" pitchFamily="2" charset="-122"/>
                  </a:rPr>
                  <a:t>As a result, the estimates </a:t>
                </a:r>
                <a:r>
                  <a:rPr lang="en-US" sz="2200" i="1" dirty="0">
                    <a:effectLst/>
                    <a:ea typeface="Calibri" panose="020F0502020204030204" pitchFamily="34" charset="0"/>
                  </a:rPr>
                  <a:t>α</a:t>
                </a:r>
                <a:r>
                  <a:rPr lang="en-US" sz="2200" i="1" baseline="-25000" dirty="0">
                    <a:effectLst/>
                    <a:ea typeface="Calibri" panose="020F0502020204030204" pitchFamily="34" charset="0"/>
                  </a:rPr>
                  <a:t>sg</a:t>
                </a:r>
                <a:r>
                  <a:rPr lang="en-US" sz="2200" baseline="30000" dirty="0">
                    <a:effectLst/>
                    <a:ea typeface="Calibri" panose="020F0502020204030204" pitchFamily="34" charset="0"/>
                  </a:rPr>
                  <a:t>*</a:t>
                </a:r>
                <a:r>
                  <a:rPr lang="en-US" sz="2200" dirty="0">
                    <a:effectLst/>
                    <a:ea typeface="Calibri" panose="020F0502020204030204" pitchFamily="34" charset="0"/>
                  </a:rPr>
                  <a:t> for all regressive coefficient vector</a:t>
                </a:r>
                <a:r>
                  <a:rPr lang="en-US" sz="2200" dirty="0">
                    <a:effectLst/>
                    <a:ea typeface="SimSun" panose="02010600030101010101" pitchFamily="2" charset="-122"/>
                  </a:rPr>
                  <a:t>s </a:t>
                </a:r>
                <a:r>
                  <a:rPr lang="en-US" sz="2200" i="1" dirty="0">
                    <a:effectLst/>
                    <a:ea typeface="Calibri" panose="020F0502020204030204" pitchFamily="34" charset="0"/>
                  </a:rPr>
                  <a:t>α</a:t>
                </a:r>
                <a:r>
                  <a:rPr lang="en-US" sz="2200" i="1" baseline="-25000" dirty="0">
                    <a:effectLst/>
                    <a:ea typeface="Calibri" panose="020F0502020204030204" pitchFamily="34" charset="0"/>
                  </a:rPr>
                  <a:t>sg</a:t>
                </a:r>
                <a:r>
                  <a:rPr lang="en-US" sz="2200" dirty="0">
                    <a:effectLst/>
                    <a:ea typeface="Calibri" panose="020F0502020204030204" pitchFamily="34" charset="0"/>
                  </a:rPr>
                  <a:t> over all sites and all values </a:t>
                </a:r>
                <a:r>
                  <a:rPr lang="en-US" sz="2200" i="1" dirty="0">
                    <a:effectLst/>
                    <a:ea typeface="Calibri" panose="020F0502020204030204" pitchFamily="34" charset="0"/>
                  </a:rPr>
                  <a:t>v</a:t>
                </a:r>
                <a:r>
                  <a:rPr lang="en-US" sz="2200" baseline="-25000" dirty="0">
                    <a:effectLst/>
                    <a:ea typeface="Calibri" panose="020F0502020204030204" pitchFamily="34" charset="0"/>
                  </a:rPr>
                  <a:t>1</a:t>
                </a:r>
                <a:r>
                  <a:rPr lang="en-US" sz="2200" dirty="0">
                    <a:effectLst/>
                    <a:ea typeface="Calibri" panose="020F0502020204030204" pitchFamily="34" charset="0"/>
                  </a:rPr>
                  <a:t>, </a:t>
                </a:r>
                <a:r>
                  <a:rPr lang="en-US" sz="2200" i="1" dirty="0">
                    <a:effectLst/>
                    <a:ea typeface="Calibri" panose="020F0502020204030204" pitchFamily="34" charset="0"/>
                  </a:rPr>
                  <a:t>v</a:t>
                </a:r>
                <a:r>
                  <a:rPr lang="en-US" sz="2200" baseline="-25000" dirty="0">
                    <a:effectLst/>
                    <a:ea typeface="Calibri" panose="020F0502020204030204" pitchFamily="34" charset="0"/>
                  </a:rPr>
                  <a:t>2</a:t>
                </a:r>
                <a:r>
                  <a:rPr lang="en-US" sz="2200" dirty="0">
                    <a:effectLst/>
                    <a:ea typeface="Calibri" panose="020F0502020204030204" pitchFamily="34" charset="0"/>
                  </a:rPr>
                  <a:t>,…, </a:t>
                </a:r>
                <a:r>
                  <a:rPr lang="en-US" sz="2200" i="1" dirty="0" err="1">
                    <a:effectLst/>
                    <a:ea typeface="Calibri" panose="020F0502020204030204" pitchFamily="34" charset="0"/>
                  </a:rPr>
                  <a:t>v</a:t>
                </a:r>
                <a:r>
                  <a:rPr lang="en-US" sz="2200" i="1" baseline="-25000" dirty="0" err="1">
                    <a:effectLst/>
                    <a:ea typeface="Calibri" panose="020F0502020204030204" pitchFamily="34" charset="0"/>
                  </a:rPr>
                  <a:t>G</a:t>
                </a:r>
                <a:r>
                  <a:rPr lang="en-US" sz="2200" dirty="0">
                    <a:effectLst/>
                    <a:ea typeface="Calibri" panose="020F0502020204030204" pitchFamily="34" charset="0"/>
                  </a:rPr>
                  <a:t> is solution of the linear equation system consisting of |</a:t>
                </a:r>
                <a:r>
                  <a:rPr lang="en-US" sz="2200" i="1" dirty="0">
                    <a:effectLst/>
                    <a:ea typeface="Calibri" panose="020F0502020204030204" pitchFamily="34" charset="0"/>
                  </a:rPr>
                  <a:t>S</a:t>
                </a:r>
                <a:r>
                  <a:rPr lang="en-US" sz="2200" dirty="0">
                    <a:effectLst/>
                    <a:ea typeface="Calibri" panose="020F0502020204030204" pitchFamily="34" charset="0"/>
                  </a:rPr>
                  <a:t>|</a:t>
                </a:r>
                <a:r>
                  <a:rPr lang="en-US" sz="2200" i="1" dirty="0">
                    <a:effectLst/>
                    <a:ea typeface="Calibri" panose="020F0502020204030204" pitchFamily="34" charset="0"/>
                  </a:rPr>
                  <a:t>G</a:t>
                </a:r>
                <a:r>
                  <a:rPr lang="en-US" sz="2200" dirty="0">
                    <a:effectLst/>
                    <a:ea typeface="Calibri" panose="020F0502020204030204" pitchFamily="34" charset="0"/>
                  </a:rPr>
                  <a:t> equations as follows:</a:t>
                </a:r>
              </a:p>
              <a:p>
                <a:pPr marL="0" indent="0">
                  <a:buNone/>
                </a:pPr>
                <a14:m>
                  <m:oMathPara xmlns:m="http://schemas.openxmlformats.org/officeDocument/2006/math">
                    <m:oMathParaPr>
                      <m:jc m:val="right"/>
                    </m:oMathParaPr>
                    <m:oMath xmlns:m="http://schemas.openxmlformats.org/officeDocument/2006/math">
                      <m:sSub>
                        <m:sSubPr>
                          <m:ctrlPr>
                            <a:rPr lang="en-US" sz="2200" i="1" smtClean="0">
                              <a:effectLst/>
                              <a:latin typeface="Cambria Math" panose="02040503050406030204" pitchFamily="18" charset="0"/>
                            </a:rPr>
                          </m:ctrlPr>
                        </m:sSubPr>
                        <m:e>
                          <m:d>
                            <m:dPr>
                              <m:begChr m:val=""/>
                              <m:endChr m:val="|"/>
                              <m:ctrlPr>
                                <a:rPr lang="en-US" sz="2200" i="1">
                                  <a:effectLst/>
                                  <a:latin typeface="Cambria Math" panose="02040503050406030204" pitchFamily="18" charset="0"/>
                                </a:rPr>
                              </m:ctrlPr>
                            </m:dPr>
                            <m:e>
                              <m:nary>
                                <m:naryPr>
                                  <m:chr m:val="∑"/>
                                  <m:limLoc m:val="undOvr"/>
                                  <m:ctrlPr>
                                    <a:rPr lang="en-US" sz="2200" i="1">
                                      <a:effectLst/>
                                      <a:latin typeface="Cambria Math" panose="02040503050406030204" pitchFamily="18" charset="0"/>
                                    </a:rPr>
                                  </m:ctrlPr>
                                </m:naryPr>
                                <m:sub>
                                  <m:r>
                                    <a:rPr lang="en-US" sz="2200" i="1">
                                      <a:effectLst/>
                                      <a:latin typeface="Cambria Math" panose="02040503050406030204" pitchFamily="18" charset="0"/>
                                      <a:ea typeface="Calibri" panose="020F0502020204030204" pitchFamily="34" charset="0"/>
                                    </a:rPr>
                                    <m:t>𝑖</m:t>
                                  </m:r>
                                  <m:r>
                                    <a:rPr lang="en-US" sz="2200" i="1">
                                      <a:effectLst/>
                                      <a:latin typeface="Cambria Math" panose="02040503050406030204" pitchFamily="18" charset="0"/>
                                      <a:ea typeface="Calibri" panose="020F0502020204030204" pitchFamily="34" charset="0"/>
                                    </a:rPr>
                                    <m:t>=1,</m:t>
                                  </m:r>
                                  <m:sSubSup>
                                    <m:sSubSupPr>
                                      <m:ctrlPr>
                                        <a:rPr lang="en-US" sz="2200" i="1">
                                          <a:effectLst/>
                                          <a:latin typeface="Cambria Math" panose="02040503050406030204" pitchFamily="18" charset="0"/>
                                        </a:rPr>
                                      </m:ctrlPr>
                                    </m:sSubSupPr>
                                    <m:e>
                                      <m:r>
                                        <a:rPr lang="en-US" sz="2200" i="1">
                                          <a:effectLst/>
                                          <a:latin typeface="Cambria Math" panose="02040503050406030204" pitchFamily="18" charset="0"/>
                                          <a:ea typeface="Calibri" panose="020F0502020204030204" pitchFamily="34" charset="0"/>
                                        </a:rPr>
                                        <m:t>𝑦</m:t>
                                      </m:r>
                                    </m:e>
                                    <m:sub>
                                      <m:r>
                                        <a:rPr lang="en-US" sz="2200" i="1">
                                          <a:effectLst/>
                                          <a:latin typeface="Cambria Math" panose="02040503050406030204" pitchFamily="18" charset="0"/>
                                          <a:ea typeface="Calibri" panose="020F0502020204030204" pitchFamily="34" charset="0"/>
                                        </a:rPr>
                                        <m:t>𝑠</m:t>
                                      </m:r>
                                    </m:sub>
                                    <m:sup>
                                      <m:d>
                                        <m:dPr>
                                          <m:ctrlPr>
                                            <a:rPr lang="en-US" sz="2200" i="1">
                                              <a:effectLst/>
                                              <a:latin typeface="Cambria Math" panose="02040503050406030204" pitchFamily="18" charset="0"/>
                                            </a:rPr>
                                          </m:ctrlPr>
                                        </m:dPr>
                                        <m:e>
                                          <m:r>
                                            <a:rPr lang="en-US" sz="2200" i="1">
                                              <a:effectLst/>
                                              <a:latin typeface="Cambria Math" panose="02040503050406030204" pitchFamily="18" charset="0"/>
                                              <a:ea typeface="Calibri" panose="020F0502020204030204" pitchFamily="34" charset="0"/>
                                            </a:rPr>
                                            <m:t>𝑖</m:t>
                                          </m:r>
                                        </m:e>
                                      </m:d>
                                    </m:sup>
                                  </m:sSubSup>
                                  <m:r>
                                    <a:rPr lang="en-US" sz="2200" i="1">
                                      <a:effectLst/>
                                      <a:latin typeface="Cambria Math" panose="02040503050406030204" pitchFamily="18" charset="0"/>
                                      <a:ea typeface="Calibri" panose="020F0502020204030204" pitchFamily="34" charset="0"/>
                                    </a:rPr>
                                    <m:t>=</m:t>
                                  </m:r>
                                  <m:sSub>
                                    <m:sSubPr>
                                      <m:ctrlPr>
                                        <a:rPr lang="en-US" sz="2200" i="1">
                                          <a:effectLst/>
                                          <a:latin typeface="Cambria Math" panose="02040503050406030204" pitchFamily="18" charset="0"/>
                                        </a:rPr>
                                      </m:ctrlPr>
                                    </m:sSubPr>
                                    <m:e>
                                      <m:r>
                                        <a:rPr lang="en-US" sz="2200" i="1">
                                          <a:effectLst/>
                                          <a:latin typeface="Cambria Math" panose="02040503050406030204" pitchFamily="18" charset="0"/>
                                          <a:ea typeface="Calibri" panose="020F0502020204030204" pitchFamily="34" charset="0"/>
                                        </a:rPr>
                                        <m:t>𝑣</m:t>
                                      </m:r>
                                    </m:e>
                                    <m:sub>
                                      <m:r>
                                        <a:rPr lang="en-US" sz="2200" i="1">
                                          <a:effectLst/>
                                          <a:latin typeface="Cambria Math" panose="02040503050406030204" pitchFamily="18" charset="0"/>
                                          <a:ea typeface="Calibri" panose="020F0502020204030204" pitchFamily="34" charset="0"/>
                                        </a:rPr>
                                        <m:t>𝑔</m:t>
                                      </m:r>
                                    </m:sub>
                                  </m:sSub>
                                </m:sub>
                                <m:sup>
                                  <m:sSub>
                                    <m:sSubPr>
                                      <m:ctrlPr>
                                        <a:rPr lang="en-US" sz="2200" i="1">
                                          <a:effectLst/>
                                          <a:latin typeface="Cambria Math" panose="02040503050406030204" pitchFamily="18" charset="0"/>
                                        </a:rPr>
                                      </m:ctrlPr>
                                    </m:sSubPr>
                                    <m:e>
                                      <m:r>
                                        <a:rPr lang="en-US" sz="2200" i="1">
                                          <a:effectLst/>
                                          <a:latin typeface="Cambria Math" panose="02040503050406030204" pitchFamily="18" charset="0"/>
                                          <a:ea typeface="Calibri" panose="020F0502020204030204" pitchFamily="34" charset="0"/>
                                        </a:rPr>
                                        <m:t>𝑁</m:t>
                                      </m:r>
                                    </m:e>
                                    <m:sub>
                                      <m:r>
                                        <a:rPr lang="en-US" sz="2200" i="1">
                                          <a:effectLst/>
                                          <a:latin typeface="Cambria Math" panose="02040503050406030204" pitchFamily="18" charset="0"/>
                                          <a:ea typeface="Calibri" panose="020F0502020204030204" pitchFamily="34" charset="0"/>
                                        </a:rPr>
                                        <m:t>𝑠</m:t>
                                      </m:r>
                                    </m:sub>
                                  </m:sSub>
                                </m:sup>
                                <m:e>
                                  <m:sSubSup>
                                    <m:sSubSupPr>
                                      <m:ctrlPr>
                                        <a:rPr lang="en-US" sz="2200" i="1">
                                          <a:effectLst/>
                                          <a:latin typeface="Cambria Math" panose="02040503050406030204" pitchFamily="18" charset="0"/>
                                        </a:rPr>
                                      </m:ctrlPr>
                                    </m:sSubSupPr>
                                    <m:e>
                                      <m:r>
                                        <a:rPr lang="en-US" sz="2200" i="1">
                                          <a:effectLst/>
                                          <a:latin typeface="Cambria Math" panose="02040503050406030204" pitchFamily="18" charset="0"/>
                                          <a:ea typeface="Calibri" panose="020F0502020204030204" pitchFamily="34" charset="0"/>
                                        </a:rPr>
                                        <m:t>𝑝</m:t>
                                      </m:r>
                                    </m:e>
                                    <m:sub>
                                      <m:r>
                                        <a:rPr lang="en-US" sz="2200" i="1">
                                          <a:effectLst/>
                                          <a:latin typeface="Cambria Math" panose="02040503050406030204" pitchFamily="18" charset="0"/>
                                          <a:ea typeface="Calibri" panose="020F0502020204030204" pitchFamily="34" charset="0"/>
                                        </a:rPr>
                                        <m:t>𝑠𝑔</m:t>
                                      </m:r>
                                    </m:sub>
                                    <m:sup>
                                      <m:d>
                                        <m:dPr>
                                          <m:ctrlPr>
                                            <a:rPr lang="en-US" sz="2200" i="1">
                                              <a:effectLst/>
                                              <a:latin typeface="Cambria Math" panose="02040503050406030204" pitchFamily="18" charset="0"/>
                                            </a:rPr>
                                          </m:ctrlPr>
                                        </m:dPr>
                                        <m:e>
                                          <m:r>
                                            <a:rPr lang="en-US" sz="2200" i="1">
                                              <a:effectLst/>
                                              <a:latin typeface="Cambria Math" panose="02040503050406030204" pitchFamily="18" charset="0"/>
                                              <a:ea typeface="Calibri" panose="020F0502020204030204" pitchFamily="34" charset="0"/>
                                            </a:rPr>
                                            <m:t>𝑖</m:t>
                                          </m:r>
                                        </m:e>
                                      </m:d>
                                    </m:sup>
                                  </m:sSubSup>
                                  <m:sSubSup>
                                    <m:sSubSupPr>
                                      <m:ctrlPr>
                                        <a:rPr lang="en-US" sz="2200" i="1">
                                          <a:effectLst/>
                                          <a:latin typeface="Cambria Math" panose="02040503050406030204" pitchFamily="18" charset="0"/>
                                        </a:rPr>
                                      </m:ctrlPr>
                                    </m:sSubSupPr>
                                    <m:e>
                                      <m:r>
                                        <a:rPr lang="en-US" sz="2200" i="1">
                                          <a:effectLst/>
                                          <a:latin typeface="Cambria Math" panose="02040503050406030204" pitchFamily="18" charset="0"/>
                                          <a:ea typeface="Calibri" panose="020F0502020204030204" pitchFamily="34" charset="0"/>
                                        </a:rPr>
                                        <m:t>𝑍</m:t>
                                      </m:r>
                                    </m:e>
                                    <m:sub>
                                      <m:r>
                                        <a:rPr lang="en-US" sz="2200" i="1">
                                          <a:effectLst/>
                                          <a:latin typeface="Cambria Math" panose="02040503050406030204" pitchFamily="18" charset="0"/>
                                          <a:ea typeface="Calibri" panose="020F0502020204030204" pitchFamily="34" charset="0"/>
                                        </a:rPr>
                                        <m:t>𝑠</m:t>
                                      </m:r>
                                    </m:sub>
                                    <m:sup>
                                      <m:d>
                                        <m:dPr>
                                          <m:ctrlPr>
                                            <a:rPr lang="en-US" sz="2200" i="1">
                                              <a:effectLst/>
                                              <a:latin typeface="Cambria Math" panose="02040503050406030204" pitchFamily="18" charset="0"/>
                                            </a:rPr>
                                          </m:ctrlPr>
                                        </m:dPr>
                                        <m:e>
                                          <m:r>
                                            <a:rPr lang="en-US" sz="2200" i="1">
                                              <a:effectLst/>
                                              <a:latin typeface="Cambria Math" panose="02040503050406030204" pitchFamily="18" charset="0"/>
                                              <a:ea typeface="Calibri" panose="020F0502020204030204" pitchFamily="34" charset="0"/>
                                            </a:rPr>
                                            <m:t>𝑖</m:t>
                                          </m:r>
                                        </m:e>
                                      </m:d>
                                    </m:sup>
                                  </m:sSubSup>
                                </m:e>
                              </m:nary>
                              <m:r>
                                <a:rPr lang="en-US" sz="2200" i="1">
                                  <a:effectLst/>
                                  <a:latin typeface="Cambria Math" panose="02040503050406030204" pitchFamily="18" charset="0"/>
                                  <a:ea typeface="Calibri" panose="020F0502020204030204" pitchFamily="34" charset="0"/>
                                </a:rPr>
                                <m:t>=</m:t>
                              </m:r>
                              <m:nary>
                                <m:naryPr>
                                  <m:chr m:val="∑"/>
                                  <m:limLoc m:val="undOvr"/>
                                  <m:ctrlPr>
                                    <a:rPr lang="en-US" sz="2200" i="1">
                                      <a:effectLst/>
                                      <a:latin typeface="Cambria Math" panose="02040503050406030204" pitchFamily="18" charset="0"/>
                                    </a:rPr>
                                  </m:ctrlPr>
                                </m:naryPr>
                                <m:sub>
                                  <m:r>
                                    <a:rPr lang="en-US" sz="2200" i="1">
                                      <a:effectLst/>
                                      <a:latin typeface="Cambria Math" panose="02040503050406030204" pitchFamily="18" charset="0"/>
                                      <a:ea typeface="Calibri" panose="020F0502020204030204" pitchFamily="34" charset="0"/>
                                    </a:rPr>
                                    <m:t>𝑖</m:t>
                                  </m:r>
                                  <m:r>
                                    <a:rPr lang="en-US" sz="2200" i="1">
                                      <a:effectLst/>
                                      <a:latin typeface="Cambria Math" panose="02040503050406030204" pitchFamily="18" charset="0"/>
                                      <a:ea typeface="Calibri" panose="020F0502020204030204" pitchFamily="34" charset="0"/>
                                    </a:rPr>
                                    <m:t>=1,</m:t>
                                  </m:r>
                                  <m:sSubSup>
                                    <m:sSubSupPr>
                                      <m:ctrlPr>
                                        <a:rPr lang="en-US" sz="2200" i="1">
                                          <a:effectLst/>
                                          <a:latin typeface="Cambria Math" panose="02040503050406030204" pitchFamily="18" charset="0"/>
                                        </a:rPr>
                                      </m:ctrlPr>
                                    </m:sSubSupPr>
                                    <m:e>
                                      <m:r>
                                        <a:rPr lang="en-US" sz="2200" i="1">
                                          <a:effectLst/>
                                          <a:latin typeface="Cambria Math" panose="02040503050406030204" pitchFamily="18" charset="0"/>
                                          <a:ea typeface="Calibri" panose="020F0502020204030204" pitchFamily="34" charset="0"/>
                                        </a:rPr>
                                        <m:t>𝑦</m:t>
                                      </m:r>
                                    </m:e>
                                    <m:sub>
                                      <m:r>
                                        <a:rPr lang="en-US" sz="2200" i="1">
                                          <a:effectLst/>
                                          <a:latin typeface="Cambria Math" panose="02040503050406030204" pitchFamily="18" charset="0"/>
                                          <a:ea typeface="Calibri" panose="020F0502020204030204" pitchFamily="34" charset="0"/>
                                        </a:rPr>
                                        <m:t>𝑠</m:t>
                                      </m:r>
                                    </m:sub>
                                    <m:sup>
                                      <m:d>
                                        <m:dPr>
                                          <m:ctrlPr>
                                            <a:rPr lang="en-US" sz="2200" i="1">
                                              <a:effectLst/>
                                              <a:latin typeface="Cambria Math" panose="02040503050406030204" pitchFamily="18" charset="0"/>
                                            </a:rPr>
                                          </m:ctrlPr>
                                        </m:dPr>
                                        <m:e>
                                          <m:r>
                                            <a:rPr lang="en-US" sz="2200" i="1">
                                              <a:effectLst/>
                                              <a:latin typeface="Cambria Math" panose="02040503050406030204" pitchFamily="18" charset="0"/>
                                              <a:ea typeface="Calibri" panose="020F0502020204030204" pitchFamily="34" charset="0"/>
                                            </a:rPr>
                                            <m:t>𝑖</m:t>
                                          </m:r>
                                        </m:e>
                                      </m:d>
                                    </m:sup>
                                  </m:sSubSup>
                                  <m:r>
                                    <a:rPr lang="en-US" sz="2200" i="1">
                                      <a:effectLst/>
                                      <a:latin typeface="Cambria Math" panose="02040503050406030204" pitchFamily="18" charset="0"/>
                                      <a:ea typeface="Calibri" panose="020F0502020204030204" pitchFamily="34" charset="0"/>
                                    </a:rPr>
                                    <m:t>=</m:t>
                                  </m:r>
                                  <m:sSub>
                                    <m:sSubPr>
                                      <m:ctrlPr>
                                        <a:rPr lang="en-US" sz="2200" i="1">
                                          <a:effectLst/>
                                          <a:latin typeface="Cambria Math" panose="02040503050406030204" pitchFamily="18" charset="0"/>
                                        </a:rPr>
                                      </m:ctrlPr>
                                    </m:sSubPr>
                                    <m:e>
                                      <m:r>
                                        <a:rPr lang="en-US" sz="2200" i="1">
                                          <a:effectLst/>
                                          <a:latin typeface="Cambria Math" panose="02040503050406030204" pitchFamily="18" charset="0"/>
                                          <a:ea typeface="Calibri" panose="020F0502020204030204" pitchFamily="34" charset="0"/>
                                        </a:rPr>
                                        <m:t>𝑣</m:t>
                                      </m:r>
                                    </m:e>
                                    <m:sub>
                                      <m:r>
                                        <a:rPr lang="en-US" sz="2200" i="1">
                                          <a:effectLst/>
                                          <a:latin typeface="Cambria Math" panose="02040503050406030204" pitchFamily="18" charset="0"/>
                                          <a:ea typeface="Calibri" panose="020F0502020204030204" pitchFamily="34" charset="0"/>
                                        </a:rPr>
                                        <m:t>𝑔</m:t>
                                      </m:r>
                                    </m:sub>
                                  </m:sSub>
                                </m:sub>
                                <m:sup>
                                  <m:sSub>
                                    <m:sSubPr>
                                      <m:ctrlPr>
                                        <a:rPr lang="en-US" sz="2200" i="1">
                                          <a:effectLst/>
                                          <a:latin typeface="Cambria Math" panose="02040503050406030204" pitchFamily="18" charset="0"/>
                                        </a:rPr>
                                      </m:ctrlPr>
                                    </m:sSubPr>
                                    <m:e>
                                      <m:r>
                                        <a:rPr lang="en-US" sz="2200" i="1">
                                          <a:effectLst/>
                                          <a:latin typeface="Cambria Math" panose="02040503050406030204" pitchFamily="18" charset="0"/>
                                          <a:ea typeface="Calibri" panose="020F0502020204030204" pitchFamily="34" charset="0"/>
                                        </a:rPr>
                                        <m:t>𝑁</m:t>
                                      </m:r>
                                    </m:e>
                                    <m:sub>
                                      <m:r>
                                        <a:rPr lang="en-US" sz="2200" i="1">
                                          <a:effectLst/>
                                          <a:latin typeface="Cambria Math" panose="02040503050406030204" pitchFamily="18" charset="0"/>
                                          <a:ea typeface="Calibri" panose="020F0502020204030204" pitchFamily="34" charset="0"/>
                                        </a:rPr>
                                        <m:t>𝑠</m:t>
                                      </m:r>
                                    </m:sub>
                                  </m:sSub>
                                </m:sup>
                                <m:e>
                                  <m:sSubSup>
                                    <m:sSubSupPr>
                                      <m:ctrlPr>
                                        <a:rPr lang="en-US" sz="2200" i="1">
                                          <a:effectLst/>
                                          <a:latin typeface="Cambria Math" panose="02040503050406030204" pitchFamily="18" charset="0"/>
                                        </a:rPr>
                                      </m:ctrlPr>
                                    </m:sSubSupPr>
                                    <m:e>
                                      <m:r>
                                        <a:rPr lang="en-US" sz="2200" i="1">
                                          <a:effectLst/>
                                          <a:latin typeface="Cambria Math" panose="02040503050406030204" pitchFamily="18" charset="0"/>
                                          <a:ea typeface="Calibri" panose="020F0502020204030204" pitchFamily="34" charset="0"/>
                                        </a:rPr>
                                        <m:t>𝑍</m:t>
                                      </m:r>
                                    </m:e>
                                    <m:sub>
                                      <m:r>
                                        <a:rPr lang="en-US" sz="2200" i="1">
                                          <a:effectLst/>
                                          <a:latin typeface="Cambria Math" panose="02040503050406030204" pitchFamily="18" charset="0"/>
                                          <a:ea typeface="Calibri" panose="020F0502020204030204" pitchFamily="34" charset="0"/>
                                        </a:rPr>
                                        <m:t>𝑠</m:t>
                                      </m:r>
                                    </m:sub>
                                    <m:sup>
                                      <m:d>
                                        <m:dPr>
                                          <m:ctrlPr>
                                            <a:rPr lang="en-US" sz="2200" i="1">
                                              <a:effectLst/>
                                              <a:latin typeface="Cambria Math" panose="02040503050406030204" pitchFamily="18" charset="0"/>
                                            </a:rPr>
                                          </m:ctrlPr>
                                        </m:dPr>
                                        <m:e>
                                          <m:r>
                                            <a:rPr lang="en-US" sz="2200" i="1">
                                              <a:effectLst/>
                                              <a:latin typeface="Cambria Math" panose="02040503050406030204" pitchFamily="18" charset="0"/>
                                              <a:ea typeface="Calibri" panose="020F0502020204030204" pitchFamily="34" charset="0"/>
                                            </a:rPr>
                                            <m:t>𝑖</m:t>
                                          </m:r>
                                        </m:e>
                                      </m:d>
                                    </m:sup>
                                  </m:sSubSup>
                                </m:e>
                              </m:nary>
                            </m:e>
                          </m:d>
                        </m:e>
                        <m:sub>
                          <m:r>
                            <a:rPr lang="en-US" sz="2200" i="1">
                              <a:effectLst/>
                              <a:latin typeface="Cambria Math" panose="02040503050406030204" pitchFamily="18" charset="0"/>
                              <a:ea typeface="Calibri" panose="020F0502020204030204" pitchFamily="34" charset="0"/>
                            </a:rPr>
                            <m:t>𝑠</m:t>
                          </m:r>
                          <m:r>
                            <a:rPr lang="en-US" sz="2200" i="1">
                              <a:effectLst/>
                              <a:latin typeface="Cambria Math" panose="02040503050406030204" pitchFamily="18" charset="0"/>
                              <a:ea typeface="Calibri" panose="020F0502020204030204" pitchFamily="34" charset="0"/>
                            </a:rPr>
                            <m:t>=</m:t>
                          </m:r>
                          <m:acc>
                            <m:accPr>
                              <m:chr m:val="̅"/>
                              <m:ctrlPr>
                                <a:rPr lang="en-US" sz="2200" i="1">
                                  <a:effectLst/>
                                  <a:latin typeface="Cambria Math" panose="02040503050406030204" pitchFamily="18" charset="0"/>
                                </a:rPr>
                              </m:ctrlPr>
                            </m:accPr>
                            <m:e>
                              <m:r>
                                <a:rPr lang="en-US" sz="2200" i="1">
                                  <a:effectLst/>
                                  <a:latin typeface="Cambria Math" panose="02040503050406030204" pitchFamily="18" charset="0"/>
                                  <a:ea typeface="Calibri" panose="020F0502020204030204" pitchFamily="34" charset="0"/>
                                </a:rPr>
                                <m:t>1,</m:t>
                              </m:r>
                              <m:d>
                                <m:dPr>
                                  <m:begChr m:val="|"/>
                                  <m:endChr m:val="|"/>
                                  <m:ctrlPr>
                                    <a:rPr lang="en-US" sz="2200" i="1">
                                      <a:effectLst/>
                                      <a:latin typeface="Cambria Math" panose="02040503050406030204" pitchFamily="18" charset="0"/>
                                    </a:rPr>
                                  </m:ctrlPr>
                                </m:dPr>
                                <m:e>
                                  <m:r>
                                    <a:rPr lang="en-US" sz="2200" i="1">
                                      <a:effectLst/>
                                      <a:latin typeface="Cambria Math" panose="02040503050406030204" pitchFamily="18" charset="0"/>
                                      <a:ea typeface="Calibri" panose="020F0502020204030204" pitchFamily="34" charset="0"/>
                                    </a:rPr>
                                    <m:t>𝑆</m:t>
                                  </m:r>
                                </m:e>
                              </m:d>
                            </m:e>
                          </m:acc>
                          <m:r>
                            <a:rPr lang="en-US" sz="2200" i="1">
                              <a:effectLst/>
                              <a:latin typeface="Cambria Math" panose="02040503050406030204" pitchFamily="18" charset="0"/>
                              <a:ea typeface="Calibri" panose="020F0502020204030204" pitchFamily="34" charset="0"/>
                            </a:rPr>
                            <m:t>,</m:t>
                          </m:r>
                          <m:r>
                            <a:rPr lang="en-US" sz="2200" i="1">
                              <a:effectLst/>
                              <a:latin typeface="Cambria Math" panose="02040503050406030204" pitchFamily="18" charset="0"/>
                              <a:ea typeface="Calibri" panose="020F0502020204030204" pitchFamily="34" charset="0"/>
                            </a:rPr>
                            <m:t>𝑔</m:t>
                          </m:r>
                          <m:r>
                            <a:rPr lang="en-US" sz="2200" i="1">
                              <a:effectLst/>
                              <a:latin typeface="Cambria Math" panose="02040503050406030204" pitchFamily="18" charset="0"/>
                              <a:ea typeface="Calibri" panose="020F0502020204030204" pitchFamily="34" charset="0"/>
                            </a:rPr>
                            <m:t>=</m:t>
                          </m:r>
                          <m:acc>
                            <m:accPr>
                              <m:chr m:val="̅"/>
                              <m:ctrlPr>
                                <a:rPr lang="en-US" sz="2200" i="1">
                                  <a:effectLst/>
                                  <a:latin typeface="Cambria Math" panose="02040503050406030204" pitchFamily="18" charset="0"/>
                                </a:rPr>
                              </m:ctrlPr>
                            </m:accPr>
                            <m:e>
                              <m:r>
                                <a:rPr lang="en-US" sz="2200" i="1">
                                  <a:effectLst/>
                                  <a:latin typeface="Cambria Math" panose="02040503050406030204" pitchFamily="18" charset="0"/>
                                  <a:ea typeface="Calibri" panose="020F0502020204030204" pitchFamily="34" charset="0"/>
                                </a:rPr>
                                <m:t>1,</m:t>
                              </m:r>
                              <m:r>
                                <a:rPr lang="en-US" sz="2200" i="1">
                                  <a:effectLst/>
                                  <a:latin typeface="Cambria Math" panose="02040503050406030204" pitchFamily="18" charset="0"/>
                                  <a:ea typeface="Calibri" panose="020F0502020204030204" pitchFamily="34" charset="0"/>
                                </a:rPr>
                                <m:t>𝐺</m:t>
                              </m:r>
                            </m:e>
                          </m:acc>
                        </m:sub>
                      </m:sSub>
                      <m:r>
                        <a:rPr lang="en-US" sz="2200" b="0" i="1" smtClean="0">
                          <a:effectLst/>
                          <a:latin typeface="Cambria Math" panose="02040503050406030204" pitchFamily="18" charset="0"/>
                          <a:ea typeface="Calibri" panose="020F0502020204030204" pitchFamily="34" charset="0"/>
                        </a:rPr>
                        <m:t>    (2.7)</m:t>
                      </m:r>
                    </m:oMath>
                  </m:oMathPara>
                </a14:m>
                <a:endParaRPr lang="en-US" sz="2200" dirty="0"/>
              </a:p>
              <a:p>
                <a:pPr marL="0" indent="0">
                  <a:buNone/>
                </a:pPr>
                <a:r>
                  <a:rPr lang="en-US" sz="2200" dirty="0">
                    <a:effectLst/>
                    <a:ea typeface="Calibri" panose="020F0502020204030204" pitchFamily="34" charset="0"/>
                  </a:rPr>
                  <a:t>In general, the equation 2.7 is used to estimate LCAR model, which can be solved by numerical methods like Newton-Raphson method for nonlinear equation system (Burden &amp; </a:t>
                </a:r>
                <a:r>
                  <a:rPr lang="en-US" sz="2200" dirty="0" err="1">
                    <a:effectLst/>
                    <a:ea typeface="Calibri" panose="020F0502020204030204" pitchFamily="34" charset="0"/>
                  </a:rPr>
                  <a:t>Faires</a:t>
                </a:r>
                <a:r>
                  <a:rPr lang="en-US" sz="2200" dirty="0">
                    <a:effectLst/>
                    <a:ea typeface="Calibri" panose="020F0502020204030204" pitchFamily="34" charset="0"/>
                  </a:rPr>
                  <a:t>, 2011, pp. 638-642).</a:t>
                </a:r>
                <a:endParaRPr lang="en-US" sz="2200" dirty="0"/>
              </a:p>
            </p:txBody>
          </p:sp>
        </mc:Choice>
        <mc:Fallback>
          <p:sp>
            <p:nvSpPr>
              <p:cNvPr id="3" name="Content Placeholder 2">
                <a:extLst>
                  <a:ext uri="{FF2B5EF4-FFF2-40B4-BE49-F238E27FC236}">
                    <a16:creationId xmlns:a16="http://schemas.microsoft.com/office/drawing/2014/main" id="{D47AAF6F-FC0A-554D-EB43-64F5FD0DC333}"/>
                  </a:ext>
                </a:extLst>
              </p:cNvPr>
              <p:cNvSpPr>
                <a:spLocks noGrp="1" noRot="1" noChangeAspect="1" noMove="1" noResize="1" noEditPoints="1" noAdjustHandles="1" noChangeArrowheads="1" noChangeShapeType="1" noTextEdit="1"/>
              </p:cNvSpPr>
              <p:nvPr>
                <p:ph idx="1"/>
              </p:nvPr>
            </p:nvSpPr>
            <p:spPr>
              <a:blipFill>
                <a:blip r:embed="rId2"/>
                <a:stretch>
                  <a:fillRect l="-754" r="-696" b="-82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79B7109-E5EC-85B7-A6BE-CB47EEA9359C}"/>
              </a:ext>
            </a:extLst>
          </p:cNvPr>
          <p:cNvSpPr>
            <a:spLocks noGrp="1"/>
          </p:cNvSpPr>
          <p:nvPr>
            <p:ph type="dt" sz="half" idx="10"/>
          </p:nvPr>
        </p:nvSpPr>
        <p:spPr/>
        <p:txBody>
          <a:bodyPr/>
          <a:lstStyle/>
          <a:p>
            <a:r>
              <a:rPr lang="en-US"/>
              <a:t>14/12/2022</a:t>
            </a:r>
          </a:p>
        </p:txBody>
      </p:sp>
      <p:sp>
        <p:nvSpPr>
          <p:cNvPr id="5" name="Footer Placeholder 4">
            <a:extLst>
              <a:ext uri="{FF2B5EF4-FFF2-40B4-BE49-F238E27FC236}">
                <a16:creationId xmlns:a16="http://schemas.microsoft.com/office/drawing/2014/main" id="{FBD5E9FD-ED88-8D51-F2E2-27755A70BD10}"/>
              </a:ext>
            </a:extLst>
          </p:cNvPr>
          <p:cNvSpPr>
            <a:spLocks noGrp="1"/>
          </p:cNvSpPr>
          <p:nvPr>
            <p:ph type="ftr" sz="quarter" idx="11"/>
          </p:nvPr>
        </p:nvSpPr>
        <p:spPr/>
        <p:txBody>
          <a:bodyPr/>
          <a:lstStyle/>
          <a:p>
            <a:r>
              <a:rPr lang="en-US"/>
              <a:t>Two-step Autoregressive Model - Loc Nguyen</a:t>
            </a:r>
          </a:p>
        </p:txBody>
      </p:sp>
      <p:sp>
        <p:nvSpPr>
          <p:cNvPr id="6" name="Slide Number Placeholder 5">
            <a:extLst>
              <a:ext uri="{FF2B5EF4-FFF2-40B4-BE49-F238E27FC236}">
                <a16:creationId xmlns:a16="http://schemas.microsoft.com/office/drawing/2014/main" id="{2649333D-FE61-8C45-1531-ED0555EBF606}"/>
              </a:ext>
            </a:extLst>
          </p:cNvPr>
          <p:cNvSpPr>
            <a:spLocks noGrp="1"/>
          </p:cNvSpPr>
          <p:nvPr>
            <p:ph type="sldNum" sz="quarter" idx="12"/>
          </p:nvPr>
        </p:nvSpPr>
        <p:spPr/>
        <p:txBody>
          <a:bodyPr/>
          <a:lstStyle/>
          <a:p>
            <a:fld id="{5DB5036F-1FF2-46C4-8D2B-59C7E3B91952}" type="slidenum">
              <a:rPr lang="en-US" smtClean="0"/>
              <a:pPr/>
              <a:t>18</a:t>
            </a:fld>
            <a:endParaRPr lang="en-US"/>
          </a:p>
        </p:txBody>
      </p:sp>
    </p:spTree>
    <p:extLst>
      <p:ext uri="{BB962C8B-B14F-4D97-AF65-F5344CB8AC3E}">
        <p14:creationId xmlns:p14="http://schemas.microsoft.com/office/powerpoint/2010/main" val="3919387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Conclusions</a:t>
            </a:r>
          </a:p>
        </p:txBody>
      </p:sp>
      <p:sp>
        <p:nvSpPr>
          <p:cNvPr id="3" name="Content Placeholder 2"/>
          <p:cNvSpPr>
            <a:spLocks noGrp="1"/>
          </p:cNvSpPr>
          <p:nvPr>
            <p:ph idx="1"/>
          </p:nvPr>
        </p:nvSpPr>
        <p:spPr/>
        <p:txBody>
          <a:bodyPr>
            <a:normAutofit/>
          </a:bodyPr>
          <a:lstStyle/>
          <a:p>
            <a:pPr marL="0" indent="0">
              <a:buNone/>
            </a:pPr>
            <a:r>
              <a:rPr lang="en-US" sz="3000" dirty="0">
                <a:effectLst/>
                <a:latin typeface="Times New Roman" panose="02020603050405020304" pitchFamily="18" charset="0"/>
                <a:ea typeface="Calibri" panose="020F0502020204030204" pitchFamily="34" charset="0"/>
              </a:rPr>
              <a:t>In this research, I proposed a simple integration model for spatial-temporal autoregression which consists of two consequent and separated steps. Moreover, I also proposed the integration of logistic model and autoregressive model called LCAR which is slightly different from traditional CAR model. However, the traditional AR model known as temporal autoregressive model is still simple with assumption of first-order Markov property. In the future trend, I will improve AR model with autoregressive moving average (ARMA) and autoregressive integrated moving average (ARIMA).</a:t>
            </a:r>
            <a:endParaRPr lang="en-US" sz="3000" dirty="0"/>
          </a:p>
        </p:txBody>
      </p:sp>
      <p:sp>
        <p:nvSpPr>
          <p:cNvPr id="4" name="Date Placeholder 3"/>
          <p:cNvSpPr>
            <a:spLocks noGrp="1"/>
          </p:cNvSpPr>
          <p:nvPr>
            <p:ph type="dt" sz="half" idx="10"/>
          </p:nvPr>
        </p:nvSpPr>
        <p:spPr/>
        <p:txBody>
          <a:bodyPr/>
          <a:lstStyle/>
          <a:p>
            <a:r>
              <a:rPr lang="en-US"/>
              <a:t>14/12/2022</a:t>
            </a:r>
          </a:p>
        </p:txBody>
      </p:sp>
      <p:sp>
        <p:nvSpPr>
          <p:cNvPr id="5" name="Footer Placeholder 4"/>
          <p:cNvSpPr>
            <a:spLocks noGrp="1"/>
          </p:cNvSpPr>
          <p:nvPr>
            <p:ph type="ftr" sz="quarter" idx="11"/>
          </p:nvPr>
        </p:nvSpPr>
        <p:spPr/>
        <p:txBody>
          <a:bodyPr/>
          <a:lstStyle/>
          <a:p>
            <a:r>
              <a:rPr lang="en-US"/>
              <a:t>Two-step Autoregressive Model - Loc Nguyen</a:t>
            </a:r>
          </a:p>
        </p:txBody>
      </p:sp>
      <p:sp>
        <p:nvSpPr>
          <p:cNvPr id="6" name="Slide Number Placeholder 5"/>
          <p:cNvSpPr>
            <a:spLocks noGrp="1"/>
          </p:cNvSpPr>
          <p:nvPr>
            <p:ph type="sldNum" sz="quarter" idx="12"/>
          </p:nvPr>
        </p:nvSpPr>
        <p:spPr/>
        <p:txBody>
          <a:bodyPr/>
          <a:lstStyle/>
          <a:p>
            <a:fld id="{5DB5036F-1FF2-46C4-8D2B-59C7E3B91952}" type="slidenum">
              <a:rPr lang="en-US" smtClean="0"/>
              <a:pPr/>
              <a:t>19</a:t>
            </a:fld>
            <a:endParaRPr lang="en-US"/>
          </a:p>
        </p:txBody>
      </p:sp>
    </p:spTree>
    <p:extLst>
      <p:ext uri="{BB962C8B-B14F-4D97-AF65-F5344CB8AC3E}">
        <p14:creationId xmlns:p14="http://schemas.microsoft.com/office/powerpoint/2010/main" val="3414256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sz="2200" dirty="0"/>
              <a:t>Bender, R., &amp; </a:t>
            </a:r>
            <a:r>
              <a:rPr lang="en-US" sz="2200" dirty="0" err="1"/>
              <a:t>Grouven</a:t>
            </a:r>
            <a:r>
              <a:rPr lang="en-US" sz="2200" dirty="0"/>
              <a:t>, U. (1997, September 5). Ordinal logistic regression in medical research. Journal of the Royal College of Physicians of London, 31(5), 546-551. Retrieved from https://pubmed.ncbi.nlm.nih.gov/9429194/</a:t>
            </a:r>
          </a:p>
          <a:p>
            <a:pPr marL="457200" indent="-457200">
              <a:buFont typeface="+mj-lt"/>
              <a:buAutoNum type="arabicPeriod"/>
            </a:pPr>
            <a:r>
              <a:rPr lang="en-US" sz="2200" dirty="0"/>
              <a:t>Burden, R. L., &amp; </a:t>
            </a:r>
            <a:r>
              <a:rPr lang="en-US" sz="2200" dirty="0" err="1"/>
              <a:t>Faires</a:t>
            </a:r>
            <a:r>
              <a:rPr lang="en-US" sz="2200" dirty="0"/>
              <a:t>, D. J. (2011). Numerical Analysis (9th Edition ed.). (M. </a:t>
            </a:r>
            <a:r>
              <a:rPr lang="en-US" sz="2200" dirty="0" err="1"/>
              <a:t>Julet</a:t>
            </a:r>
            <a:r>
              <a:rPr lang="en-US" sz="2200" dirty="0"/>
              <a:t>, Ed.) Brooks/Cole Cengage Learning.</a:t>
            </a:r>
          </a:p>
          <a:p>
            <a:pPr marL="457200" indent="-457200">
              <a:buFont typeface="+mj-lt"/>
              <a:buAutoNum type="arabicPeriod"/>
            </a:pPr>
            <a:r>
              <a:rPr lang="en-US" sz="2200" dirty="0" err="1"/>
              <a:t>Czepiel</a:t>
            </a:r>
            <a:r>
              <a:rPr lang="en-US" sz="2200" dirty="0"/>
              <a:t>, S. A. (2002). Maximum Likelihood Estimation of Logistic Regression Models: Theory and Implementation. </a:t>
            </a:r>
            <a:r>
              <a:rPr lang="en-US" sz="2200" dirty="0" err="1"/>
              <a:t>Czepiel's</a:t>
            </a:r>
            <a:r>
              <a:rPr lang="en-US" sz="2200" dirty="0"/>
              <a:t> website http://czep.net.</a:t>
            </a:r>
          </a:p>
          <a:p>
            <a:pPr marL="457200" indent="-457200">
              <a:buFont typeface="+mj-lt"/>
              <a:buAutoNum type="arabicPeriod"/>
            </a:pPr>
            <a:r>
              <a:rPr lang="en-US" sz="2200" dirty="0" err="1"/>
              <a:t>Eshel</a:t>
            </a:r>
            <a:r>
              <a:rPr lang="en-US" sz="2200" dirty="0"/>
              <a:t>, G. (2003). The Yule Walker Equations for the AR Coefficients. University of Wharton, Statistics Department. Michael Steele Homepage. Retrieved 11 24, 2018, from http://www-stat.wharton.upenn.edu/~steele/Courses/956/ResourceDetails/YWSourceFiles/YW-Eshel.pdf</a:t>
            </a:r>
          </a:p>
          <a:p>
            <a:pPr marL="457200" indent="-457200">
              <a:buFont typeface="+mj-lt"/>
              <a:buAutoNum type="arabicPeriod"/>
            </a:pPr>
            <a:r>
              <a:rPr lang="en-US" sz="2200" dirty="0"/>
              <a:t>Mariella, L., &amp; Tarantino, M. (2010). Spatial Temporal Conditional Auto-Regressive Model: A New Autoregressive Matrix. Austrian Journal of Statistics, 39(3), 223-244. doi:10.17713/ajs.v39i3.246</a:t>
            </a:r>
          </a:p>
        </p:txBody>
      </p:sp>
      <p:sp>
        <p:nvSpPr>
          <p:cNvPr id="4" name="Date Placeholder 3"/>
          <p:cNvSpPr>
            <a:spLocks noGrp="1"/>
          </p:cNvSpPr>
          <p:nvPr>
            <p:ph type="dt" sz="half" idx="10"/>
          </p:nvPr>
        </p:nvSpPr>
        <p:spPr/>
        <p:txBody>
          <a:bodyPr/>
          <a:lstStyle/>
          <a:p>
            <a:r>
              <a:rPr lang="en-US"/>
              <a:t>14/12/2022</a:t>
            </a:r>
          </a:p>
        </p:txBody>
      </p:sp>
      <p:sp>
        <p:nvSpPr>
          <p:cNvPr id="5" name="Footer Placeholder 4"/>
          <p:cNvSpPr>
            <a:spLocks noGrp="1"/>
          </p:cNvSpPr>
          <p:nvPr>
            <p:ph type="ftr" sz="quarter" idx="11"/>
          </p:nvPr>
        </p:nvSpPr>
        <p:spPr/>
        <p:txBody>
          <a:bodyPr/>
          <a:lstStyle/>
          <a:p>
            <a:r>
              <a:rPr lang="en-US"/>
              <a:t>Two-step Autoregressive Model - Loc Nguyen</a:t>
            </a:r>
          </a:p>
        </p:txBody>
      </p:sp>
      <p:sp>
        <p:nvSpPr>
          <p:cNvPr id="6" name="Slide Number Placeholder 5"/>
          <p:cNvSpPr>
            <a:spLocks noGrp="1"/>
          </p:cNvSpPr>
          <p:nvPr>
            <p:ph type="sldNum" sz="quarter" idx="12"/>
          </p:nvPr>
        </p:nvSpPr>
        <p:spPr/>
        <p:txBody>
          <a:bodyPr/>
          <a:lstStyle/>
          <a:p>
            <a:fld id="{5DB5036F-1FF2-46C4-8D2B-59C7E3B91952}" type="slidenum">
              <a:rPr lang="en-US" smtClean="0"/>
              <a:pPr/>
              <a:t>20</a:t>
            </a:fld>
            <a:endParaRPr lang="en-US"/>
          </a:p>
        </p:txBody>
      </p:sp>
    </p:spTree>
    <p:extLst>
      <p:ext uri="{BB962C8B-B14F-4D97-AF65-F5344CB8AC3E}">
        <p14:creationId xmlns:p14="http://schemas.microsoft.com/office/powerpoint/2010/main" val="1065549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8159"/>
            <a:ext cx="10515600" cy="660486"/>
          </a:xfrm>
        </p:spPr>
        <p:txBody>
          <a:bodyPr>
            <a:noAutofit/>
          </a:bodyPr>
          <a:lstStyle/>
          <a:p>
            <a:pPr algn="ctr"/>
            <a:r>
              <a:rPr lang="en-US" sz="5000" dirty="0"/>
              <a:t>Thank you for listening</a:t>
            </a:r>
          </a:p>
        </p:txBody>
      </p:sp>
      <p:sp>
        <p:nvSpPr>
          <p:cNvPr id="4" name="Slide Number Placeholder 3"/>
          <p:cNvSpPr>
            <a:spLocks noGrp="1"/>
          </p:cNvSpPr>
          <p:nvPr>
            <p:ph type="sldNum" sz="quarter" idx="12"/>
          </p:nvPr>
        </p:nvSpPr>
        <p:spPr/>
        <p:txBody>
          <a:bodyPr/>
          <a:lstStyle/>
          <a:p>
            <a:fld id="{5DB5036F-1FF2-46C4-8D2B-59C7E3B91952}" type="slidenum">
              <a:rPr lang="en-US" smtClean="0"/>
              <a:pPr/>
              <a:t>21</a:t>
            </a:fld>
            <a:endParaRPr lang="en-US"/>
          </a:p>
        </p:txBody>
      </p:sp>
      <p:sp>
        <p:nvSpPr>
          <p:cNvPr id="3" name="Footer Placeholder 2"/>
          <p:cNvSpPr>
            <a:spLocks noGrp="1"/>
          </p:cNvSpPr>
          <p:nvPr>
            <p:ph type="ftr" sz="quarter" idx="11"/>
          </p:nvPr>
        </p:nvSpPr>
        <p:spPr/>
        <p:txBody>
          <a:bodyPr/>
          <a:lstStyle/>
          <a:p>
            <a:r>
              <a:rPr lang="en-US"/>
              <a:t>Two-step Autoregressive Model - Loc Nguyen</a:t>
            </a:r>
          </a:p>
        </p:txBody>
      </p:sp>
      <p:sp>
        <p:nvSpPr>
          <p:cNvPr id="5" name="Date Placeholder 4"/>
          <p:cNvSpPr>
            <a:spLocks noGrp="1"/>
          </p:cNvSpPr>
          <p:nvPr>
            <p:ph type="dt" sz="half" idx="10"/>
          </p:nvPr>
        </p:nvSpPr>
        <p:spPr/>
        <p:txBody>
          <a:bodyPr/>
          <a:lstStyle/>
          <a:p>
            <a:r>
              <a:rPr lang="en-US"/>
              <a:t>14/12/2022</a:t>
            </a:r>
          </a:p>
        </p:txBody>
      </p:sp>
    </p:spTree>
    <p:extLst>
      <p:ext uri="{BB962C8B-B14F-4D97-AF65-F5344CB8AC3E}">
        <p14:creationId xmlns:p14="http://schemas.microsoft.com/office/powerpoint/2010/main" val="1326608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1563</TotalTime>
  <Words>3086</Words>
  <Application>Microsoft Office PowerPoint</Application>
  <PresentationFormat>Widescreen</PresentationFormat>
  <Paragraphs>201</Paragraphs>
  <Slides>21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Times New Roman</vt:lpstr>
      <vt:lpstr>Office Theme</vt:lpstr>
      <vt:lpstr>A Proposal of Two-step Autoregressive Model</vt:lpstr>
      <vt:lpstr>Abstract</vt:lpstr>
      <vt:lpstr>Table of contents</vt:lpstr>
      <vt:lpstr>1. Two-step autoregressive model</vt:lpstr>
      <vt:lpstr>1. Two-step autoregressive model</vt:lpstr>
      <vt:lpstr>1. Two-step autoregressive model</vt:lpstr>
      <vt:lpstr>1. Two-step autoregressive model</vt:lpstr>
      <vt:lpstr>1. Two-step autoregressive model</vt:lpstr>
      <vt:lpstr>1. Two-step autoregressive model</vt:lpstr>
      <vt:lpstr>1. Two-step autoregressive model</vt:lpstr>
      <vt:lpstr>1. Two-step autoregressive model</vt:lpstr>
      <vt:lpstr>1. Two-step autoregressive model</vt:lpstr>
      <vt:lpstr>1. Two-step autoregressive model</vt:lpstr>
      <vt:lpstr>2. Integrated with logistic function</vt:lpstr>
      <vt:lpstr>2. Integrated with logistic function</vt:lpstr>
      <vt:lpstr>2. Integrated with logistic function</vt:lpstr>
      <vt:lpstr>2. Integrated with logistic function</vt:lpstr>
      <vt:lpstr>2. Integrated with logistic function</vt:lpstr>
      <vt:lpstr>3. Conclusions</vt:lpstr>
      <vt:lpstr>References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 Nguyen</dc:creator>
  <cp:lastModifiedBy>Loc Nguyen</cp:lastModifiedBy>
  <cp:revision>367</cp:revision>
  <dcterms:created xsi:type="dcterms:W3CDTF">2017-06-28T03:43:04Z</dcterms:created>
  <dcterms:modified xsi:type="dcterms:W3CDTF">2022-12-15T01:39:07Z</dcterms:modified>
</cp:coreProperties>
</file>